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02dca2727d4da4" /><Relationship Type="http://schemas.openxmlformats.org/officeDocument/2006/relationships/extended-properties" Target="/docProps/app.xml" Id="R75581ef1cfaf4e68" /><Relationship Type="http://schemas.openxmlformats.org/officeDocument/2006/relationships/officeDocument" Target="/ppt/presentation.xml" Id="Rc67541cb4e924b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b0737485d6495c"/>
  </p:sldMasterIdLst>
  <p:notesMasterIdLst>
    <p:notesMasterId xmlns:r="http://schemas.openxmlformats.org/officeDocument/2006/relationships" r:id="R444f5e79797a4e83"/>
  </p:notesMasterIdLst>
  <p:sldIdLst>
    <p:sldId xmlns:r="http://schemas.openxmlformats.org/officeDocument/2006/relationships" id="256" r:id="R377beea18f454b53"/>
    <p:sldId xmlns:r="http://schemas.openxmlformats.org/officeDocument/2006/relationships" id="257" r:id="Rae99ec518ead4a87"/>
    <p:sldId xmlns:r="http://schemas.openxmlformats.org/officeDocument/2006/relationships" id="258" r:id="Rcd791d63545845ed"/>
    <p:sldId xmlns:r="http://schemas.openxmlformats.org/officeDocument/2006/relationships" id="259" r:id="R531586422cec4983"/>
    <p:sldId xmlns:r="http://schemas.openxmlformats.org/officeDocument/2006/relationships" id="260" r:id="Rb35f22f42c6549be"/>
    <p:sldId xmlns:r="http://schemas.openxmlformats.org/officeDocument/2006/relationships" id="261" r:id="R6f4dae4a28714d70"/>
    <p:sldId xmlns:r="http://schemas.openxmlformats.org/officeDocument/2006/relationships" id="262" r:id="R48b923acd9ae42be"/>
    <p:sldId xmlns:r="http://schemas.openxmlformats.org/officeDocument/2006/relationships" id="263" r:id="R55e33c8d7dae43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8295d2331a4b0f" /><Relationship Type="http://schemas.openxmlformats.org/officeDocument/2006/relationships/slideMaster" Target="/ppt/slideMasters/slideMaster1.xml" Id="Rf0b0737485d6495c" /><Relationship Type="http://schemas.openxmlformats.org/officeDocument/2006/relationships/notesMaster" Target="/ppt/notesMasters/notesMaster1.xml" Id="R444f5e79797a4e83" /><Relationship Type="http://schemas.openxmlformats.org/officeDocument/2006/relationships/presProps" Target="/ppt/presProps.xml" Id="R0a442b4781184b05" /><Relationship Type="http://schemas.openxmlformats.org/officeDocument/2006/relationships/tableStyles" Target="/ppt/tableStyles.xml" Id="Rec86376474014f23" /><Relationship Type="http://schemas.openxmlformats.org/officeDocument/2006/relationships/slide" Target="/ppt/slides/slide1.xml" Id="R377beea18f454b53" /><Relationship Type="http://schemas.openxmlformats.org/officeDocument/2006/relationships/slide" Target="/ppt/slides/slide2.xml" Id="Rae99ec518ead4a87" /><Relationship Type="http://schemas.openxmlformats.org/officeDocument/2006/relationships/slide" Target="/ppt/slides/slide3.xml" Id="Rcd791d63545845ed" /><Relationship Type="http://schemas.openxmlformats.org/officeDocument/2006/relationships/slide" Target="/ppt/slides/slide4.xml" Id="R531586422cec4983" /><Relationship Type="http://schemas.openxmlformats.org/officeDocument/2006/relationships/slide" Target="/ppt/slides/slide5.xml" Id="Rb35f22f42c6549be" /><Relationship Type="http://schemas.openxmlformats.org/officeDocument/2006/relationships/slide" Target="/ppt/slides/slide6.xml" Id="R6f4dae4a28714d70" /><Relationship Type="http://schemas.openxmlformats.org/officeDocument/2006/relationships/slide" Target="/ppt/slides/slide7.xml" Id="R48b923acd9ae42be" /><Relationship Type="http://schemas.openxmlformats.org/officeDocument/2006/relationships/slide" Target="/ppt/slides/slide8.xml" Id="R55e33c8d7dae43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14f8f5faad4d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40470efe33463c" /><Relationship Type="http://schemas.openxmlformats.org/officeDocument/2006/relationships/notesMaster" Target="/ppt/notesMasters/notesMaster1.xml" Id="R1d5b9ae22ced48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9f5a164a604c45" /><Relationship Type="http://schemas.openxmlformats.org/officeDocument/2006/relationships/notesMaster" Target="/ppt/notesMasters/notesMaster1.xml" Id="R563975cedf7f45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4244dc87a74700" /><Relationship Type="http://schemas.openxmlformats.org/officeDocument/2006/relationships/notesMaster" Target="/ppt/notesMasters/notesMaster1.xml" Id="Rd7ae0d9728384b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1c2131aebc4704" /><Relationship Type="http://schemas.openxmlformats.org/officeDocument/2006/relationships/notesMaster" Target="/ppt/notesMasters/notesMaster1.xml" Id="R2a63ddb1f19245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71a985b75140b4" /><Relationship Type="http://schemas.openxmlformats.org/officeDocument/2006/relationships/notesMaster" Target="/ppt/notesMasters/notesMaster1.xml" Id="R99974783f7f24a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f580a89bb248b9" /><Relationship Type="http://schemas.openxmlformats.org/officeDocument/2006/relationships/notesMaster" Target="/ppt/notesMasters/notesMaster1.xml" Id="R67d48f0d871d41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1b1ba415d74bec" /><Relationship Type="http://schemas.openxmlformats.org/officeDocument/2006/relationships/notesMaster" Target="/ppt/notesMasters/notesMaster1.xml" Id="R5b5559466e6742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f47db5d2ac4cce" /><Relationship Type="http://schemas.openxmlformats.org/officeDocument/2006/relationships/notesMaster" Target="/ppt/notesMasters/notesMaster1.xml" Id="Rd5393d047c2449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title and author names</a:t>
            </a:r>
          </a:p>
          <a:p xmlns:a="http://schemas.openxmlformats.org/drawingml/2006/main">
            <a:r>
              <a:t>- /Users/gracefullight/workspace/pdf-injection/docs/prd.md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/Users/gracefullight/workspace/pdf-injection/docs/prd.md</a:t>
            </a:r>
          </a:p>
          <a:p xmlns:a="http://schemas.openxmlformats.org/drawingml/2006/main">
            <a:r>
              <a:t>- /Users/gracefullight/workspace/pdf-injection/docs/related-work.md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/Users/gracefullight/workspace/pdf-injection/docs/prd.md</a:t>
            </a:r>
          </a:p>
          <a:p xmlns:a="http://schemas.openxmlformats.org/drawingml/2006/main">
            <a:r>
              <a:t>- ISO 32000 PDF object model as summarized in the project review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/Users/gracefullight/workspace/pdf-injection/docs/prd.md</a:t>
            </a:r>
          </a:p>
          <a:p xmlns:a="http://schemas.openxmlformats.org/drawingml/2006/main">
            <a:r>
              <a:t>- User-provided correction: FreeText and AcroForm were readable in at least one tested 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/Users/gracefullight/workspace/pdf-injection/docs/prd.md</a:t>
            </a:r>
          </a:p>
          <a:p xmlns:a="http://schemas.openxmlformats.org/drawingml/2006/main">
            <a:r>
              <a:t>- User-provided correction: FreeText annotation also worked in the current ChatGPT 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measured results for ChatGPT, Claude, and Gemini</a:t>
            </a:r>
          </a:p>
          <a:p xmlns:a="http://schemas.openxmlformats.org/drawingml/2006/main">
            <a:r>
              <a:t>- /Users/gracefullight/workspace/pdf-injection/docs/research-protocol.md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experiment direction: text embedded as page pixels in an image-only PDF</a:t>
            </a:r>
          </a:p>
          <a:p xmlns:a="http://schemas.openxmlformats.org/drawingml/2006/main">
            <a:r>
              <a:t>- /Users/gracefullight/workspace/pdf-injection/docs/related-work.md</a:t>
            </a:r>
          </a:p>
          <a:p xmlns:a="http://schemas.openxmlformats.org/drawingml/2006/main">
            <a:r>
              <a:t>- /Users/gracefullight/workspace/pdf-injection/packages/robustness/src/ocr.ts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Rao et al. (2025): https://doi.org/10.1371/journal.pone.0331871</a:t>
            </a:r>
          </a:p>
          <a:p xmlns:a="http://schemas.openxmlformats.org/drawingml/2006/main">
            <a:r>
              <a:t>- Murray (2025): https://arxiv.org/abs/2508.17884</a:t>
            </a:r>
          </a:p>
          <a:p xmlns:a="http://schemas.openxmlformats.org/drawingml/2006/main">
            <a:r>
              <a:t>- Liu &amp; Ming (2026): https://arxiv.org/abs/2606.15020</a:t>
            </a:r>
          </a:p>
          <a:p xmlns:a="http://schemas.openxmlformats.org/drawingml/2006/main">
            <a:r>
              <a:t>- Thienpreecha &amp; Subramanian (2026): https://arxiv.org/abs/2607.19396</a:t>
            </a:r>
          </a:p>
          <a:p xmlns:a="http://schemas.openxmlformats.org/drawingml/2006/main">
            <a:r>
              <a:t>- /Users/gracefullight/workspace/pdf-injection/docs/related-work.md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173e5c05d940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d3b13d87fc4327" /><Relationship Type="http://schemas.openxmlformats.org/officeDocument/2006/relationships/slideLayout" Target="/ppt/slideLayouts/slideLayout1.xml" Id="Re9ce518adddb4b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ce518adddb4b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f30ddcfb84220" /><Relationship Type="http://schemas.openxmlformats.org/officeDocument/2006/relationships/notesSlide" Target="/ppt/notesSlides/notesSlide1.xml" Id="Rcac50df3aa7144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ff0e0d4aa641a9" /><Relationship Type="http://schemas.openxmlformats.org/officeDocument/2006/relationships/image" Target="/ppt/media/image.png" Id="R3c150486a15b4346" /><Relationship Type="http://schemas.openxmlformats.org/officeDocument/2006/relationships/notesSlide" Target="/ppt/notesSlides/notesSlide2.xml" Id="R7958d2803d7f4e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98ed2be364ab0" /><Relationship Type="http://schemas.openxmlformats.org/officeDocument/2006/relationships/notesSlide" Target="/ppt/notesSlides/notesSlide3.xml" Id="R8284f922084640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97f6fbce74275" /><Relationship Type="http://schemas.openxmlformats.org/officeDocument/2006/relationships/notesSlide" Target="/ppt/notesSlides/notesSlide4.xml" Id="Rdcad826fcbd443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6771785d948f1" /><Relationship Type="http://schemas.openxmlformats.org/officeDocument/2006/relationships/notesSlide" Target="/ppt/notesSlides/notesSlide5.xml" Id="R6e50c654ac9145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2e0b326114e33" /><Relationship Type="http://schemas.openxmlformats.org/officeDocument/2006/relationships/notesSlide" Target="/ppt/notesSlides/notesSlide6.xml" Id="R5f8fc69b957b4d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02cca4703473c" /><Relationship Type="http://schemas.openxmlformats.org/officeDocument/2006/relationships/notesSlide" Target="/ppt/notesSlides/notesSlide7.xml" Id="R8bfed0dad59545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970e459cc48f2" /><Relationship Type="http://schemas.openxmlformats.org/officeDocument/2006/relationships/notesSlide" Target="/ppt/notesSlides/notesSlide8.xml" Id="R0e0043deeb254b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BA84B-BD07-4F42-9B60-93CD5FD7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September 2026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CADEFBED-0352-44EA-8173-52534FA7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1714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438B7-67DF-4590-B272-E4FD20DA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AI-Resistant PDFs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 Academic Assessment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B5C5F-363D-4E7D-AB3F-B8D99DA6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Bo Zhao · Eunkwang Shin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7675A-18ED-4FAC-9EF7-55A4378A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76875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PDF semantics, cross-model measurements, and the OCR watermarking frontier</a:t>
            </a:r>
          </a:p>
        </p:txBody>
      </p:sp>
    </p:spTree>
    <p:extLst>
      <p:ext uri="{BB962C8B-B14F-4D97-AF65-F5344CB8AC3E}">
        <p14:creationId xmlns:p14="http://schemas.microsoft.com/office/powerpoint/2010/main" val="2126053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AB69B-0E80-4174-9940-296F2AA0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How an invisible PDF instruction reaches an AI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52D56-652E-49A8-B6E1-A64658FB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render-frame">
            <a:extLst xmlns:a="http://schemas.openxmlformats.org/drawingml/2006/main">
              <a:ext uri="{FF2B5EF4-FFF2-40B4-BE49-F238E27FC236}">
                <a16:creationId xmlns:a16="http://schemas.microsoft.com/office/drawing/2014/main" id="{2E3F354B-C17E-4226-B016-483D0ADA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37338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150486a15b4346"/>
          <a:stretch xmlns:a="http://schemas.openxmlformats.org/drawingml/2006/main"/>
        </p:blipFill>
        <p:spPr>
          <a:xfrm xmlns:a="http://schemas.openxmlformats.org/drawingml/2006/main">
            <a:off x="998826" y="1809750"/>
            <a:ext cx="2841048" cy="36766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E29DB-79A0-431A-B10F-06B3D52E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339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Human view</a:t>
            </a:r>
          </a:p>
        </p:txBody>
      </p:sp>
      <p:sp>
        <p:nvSpPr>
          <p:cNvPr id="7" name="view-arrow">
            <a:extLst xmlns:a="http://schemas.openxmlformats.org/drawingml/2006/main">
              <a:ext uri="{FF2B5EF4-FFF2-40B4-BE49-F238E27FC236}">
                <a16:creationId xmlns:a16="http://schemas.microsoft.com/office/drawing/2014/main" id="{FBA6464F-6A67-4B9F-ADD2-6C612608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81375"/>
            <a:ext cx="8953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semantic-frame">
            <a:extLst xmlns:a="http://schemas.openxmlformats.org/drawingml/2006/main">
              <a:ext uri="{FF2B5EF4-FFF2-40B4-BE49-F238E27FC236}">
                <a16:creationId xmlns:a16="http://schemas.microsoft.com/office/drawing/2014/main" id="{3F9FA892-1C58-420F-B718-F3B7F099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657350"/>
            <a:ext cx="59817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A75ED6-99B2-4664-8D36-F86C1132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52625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AI ingestion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C4560-0D64-45B2-9C49-DE16CFD9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717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TEXT OBJECTS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8B1EF-0E2A-43B5-B031-72AC25B4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67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EXTRACTOR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EA0EE-FCD0-4115-B38A-3F1451A8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86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MODEL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4D61A-83F5-4124-BE5A-C54E464C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336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Page text, forms, annotations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CBEF7-16B8-49B3-AC81-F17620AE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289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Decides which objects survive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D409EF-71E9-4AE3-A626-F3AFBC67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481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Extracted text enters the prompt</a:t>
            </a:r>
          </a:p>
        </p:txBody>
      </p:sp>
      <p:cxnSp>
        <p:nvCxnSpPr>
          <p:cNvPr id="98" name=""/>
          <p:cNvCxnSpPr/>
          <p:nvPr/>
        </p:nvCxnSpPr>
        <p:spPr>
          <a:xfrm xmlns:a="http://schemas.openxmlformats.org/drawingml/2006/main">
            <a:off x="5962650" y="3638550"/>
            <a:ext cx="5238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915510-EA83-4A52-9A31-8E5466FF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95825"/>
            <a:ext cx="523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model does not read the page like a human; it receives the extractor’s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162983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9EAE2-BEDB-411A-9DC0-213327CC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PDF structure exposes multiple semantic surfaces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10C00-116D-49D8-8A12-35C34953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6BC4A-4C19-4167-92C7-24E38323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Byte container</a:t>
            </a:r>
          </a:p>
        </p:txBody>
      </p:sp>
      <p:cxnSp>
        <p:nvCxnSpPr>
          <p:cNvPr id="158" name=""/>
          <p:cNvCxnSpPr/>
          <p:nvPr/>
        </p:nvCxnSpPr>
        <p:spPr>
          <a:xfrm xmlns:a="http://schemas.openxmlformats.org/drawingml/2006/main">
            <a:off x="400050" y="2019300"/>
            <a:ext cx="335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2146E-8DCD-4185-9119-5D1A9A58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19250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Object graph</a:t>
            </a:r>
          </a:p>
        </p:txBody>
      </p:sp>
      <p:cxnSp>
        <p:nvCxnSpPr>
          <p:cNvPr id="160" name=""/>
          <p:cNvCxnSpPr/>
          <p:nvPr/>
        </p:nvCxnSpPr>
        <p:spPr>
          <a:xfrm xmlns:a="http://schemas.openxmlformats.org/drawingml/2006/main">
            <a:off x="4248150" y="2019300"/>
            <a:ext cx="335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4F8A0-D26F-42D8-9AD9-B101CF5E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695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Model-facing views</a:t>
            </a:r>
          </a:p>
        </p:txBody>
      </p:sp>
      <p:cxnSp>
        <p:nvCxnSpPr>
          <p:cNvPr id="162" name=""/>
          <p:cNvCxnSpPr/>
          <p:nvPr/>
        </p:nvCxnSpPr>
        <p:spPr>
          <a:xfrm xmlns:a="http://schemas.openxmlformats.org/drawingml/2006/main">
            <a:off x="8096250" y="2019300"/>
            <a:ext cx="3695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B66656-2C21-42A3-B07A-A9BF1EDC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335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0F4972-63CA-459C-8E75-76A7B1CD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%PDF header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B72CD-F73D-4BFD-878F-DD6AA66A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3528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07E827-8B5E-43EE-9F5E-CF871966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30099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Body objects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1BDFD1-A0CF-4780-AEDF-B735393E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3352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AC2B39-B913-4B7D-B486-C456E237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xref / xref stream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55DA56-22A5-4773-8D03-14B4E3E3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3352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E94018-7211-4180-9A24-08701A19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Trailer + startxref</a:t>
            </a:r>
          </a:p>
        </p:txBody>
      </p:sp>
      <p:cxnSp>
        <p:nvCxnSpPr>
          <p:cNvPr id="171" name=""/>
          <p:cNvCxnSpPr/>
          <p:nvPr/>
        </p:nvCxnSpPr>
        <p:spPr>
          <a:xfrm xmlns:a="http://schemas.openxmlformats.org/drawingml/2006/main">
            <a:off x="5905500" y="257175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172" name=""/>
          <p:cNvCxnSpPr/>
          <p:nvPr/>
        </p:nvCxnSpPr>
        <p:spPr>
          <a:xfrm xmlns:a="http://schemas.openxmlformats.org/drawingml/2006/main">
            <a:off x="5905500" y="3324225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173" name=""/>
          <p:cNvCxnSpPr/>
          <p:nvPr/>
        </p:nvCxnSpPr>
        <p:spPr>
          <a:xfrm xmlns:a="http://schemas.openxmlformats.org/drawingml/2006/main">
            <a:off x="4695825" y="3781425"/>
            <a:ext cx="2428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174" name=""/>
          <p:cNvCxnSpPr/>
          <p:nvPr/>
        </p:nvCxnSpPr>
        <p:spPr>
          <a:xfrm xmlns:a="http://schemas.openxmlformats.org/drawingml/2006/main">
            <a:off x="4695825" y="3781425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175" name=""/>
          <p:cNvCxnSpPr/>
          <p:nvPr/>
        </p:nvCxnSpPr>
        <p:spPr>
          <a:xfrm xmlns:a="http://schemas.openxmlformats.org/drawingml/2006/main">
            <a:off x="5905500" y="3781425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176" name=""/>
          <p:cNvCxnSpPr/>
          <p:nvPr/>
        </p:nvCxnSpPr>
        <p:spPr>
          <a:xfrm xmlns:a="http://schemas.openxmlformats.org/drawingml/2006/main">
            <a:off x="7124700" y="3781425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177" name=""/>
          <p:cNvCxnSpPr/>
          <p:nvPr/>
        </p:nvCxnSpPr>
        <p:spPr>
          <a:xfrm xmlns:a="http://schemas.openxmlformats.org/drawingml/2006/main">
            <a:off x="6858000" y="24384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178" name=""/>
          <p:cNvCxnSpPr/>
          <p:nvPr/>
        </p:nvCxnSpPr>
        <p:spPr>
          <a:xfrm xmlns:a="http://schemas.openxmlformats.org/drawingml/2006/main">
            <a:off x="7620000" y="2438400"/>
            <a:ext cx="0" cy="3143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179" name=""/>
          <p:cNvCxnSpPr/>
          <p:nvPr/>
        </p:nvCxnSpPr>
        <p:spPr>
          <a:xfrm xmlns:a="http://schemas.openxmlformats.org/drawingml/2006/main">
            <a:off x="6419850" y="558165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A9DA1C-5784-4247-BDB2-858ADAF3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09800"/>
            <a:ext cx="1905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FDB84C-E690-4361-96DA-3FA28909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7647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Catalog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9C70FA-2E05-416C-9A2C-C01113EF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48000"/>
            <a:ext cx="1905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BAD057-BFBF-472E-8DC7-B30B2FE9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1467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Pages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BD756E-F557-43C2-A8F0-06A9AA3C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1905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9BBF08-B6FE-4BCA-BFA5-C56F652C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052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DC34E3-7B9E-4377-B292-07E5AF4E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71975"/>
            <a:ext cx="1047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743283-9276-42EA-8A00-147F028F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38650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/Contents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C1EE84-E8E6-4F04-936A-E1D5C8F6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371975"/>
            <a:ext cx="1047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2E29CC-82CC-4FA1-8FAA-FCB1EB36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438650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/Resources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84CC45-AA82-4959-888A-CDAF9B42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71975"/>
            <a:ext cx="1047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EA4933-E1CB-48D8-A851-BB935599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38650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/Annots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736C34-9642-4357-9AB9-5DF3EE76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143500"/>
            <a:ext cx="12001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003980-73DB-42EB-AB80-265A76CF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210175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49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Catalog-level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/AcroForm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/Metadata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8FBA89-FE5B-44A1-A582-B1585D0F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3695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1CE0EA-3259-4842-B2FE-3DE999CA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Rendered pixels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C479CC-C774-4436-A6FA-FB3A97D5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00325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What a human sees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F0959B-885B-4304-B163-7CEF8A8D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3695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440AF7-2182-4ED5-A59D-BC3F4470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19450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Extracted text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AB3904-C5AC-4BB8-AA6D-1A526B5F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95675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Contents, forms, annotations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D6110F-4C80-4B06-A839-AAB1520A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695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B39BC9F-035D-4D15-9C2B-65631F9A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14800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Document metadata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1BEC039-BC63-4FFB-A61A-0D7D2266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91025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XMP and Info dictionaries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8E46B99-3F40-40F9-9419-4124ED00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95850"/>
            <a:ext cx="3695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EB16D11-6E7D-4B82-AC92-B91DFB80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10150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Accessibility semantics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3757A4B-7BB8-43FB-BAD4-F537EDB5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86375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/ActualText and tags</a:t>
            </a:r>
          </a:p>
        </p:txBody>
      </p:sp>
    </p:spTree>
    <p:extLst>
      <p:ext uri="{BB962C8B-B14F-4D97-AF65-F5344CB8AC3E}">
        <p14:creationId xmlns:p14="http://schemas.microsoft.com/office/powerpoint/2010/main" val="441003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A3EE2-8AB6-4FA6-BDE0-E18EAEFE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Where can a parseable instruction live inside a PDF?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CDF1E-D1DF-4F90-A4FB-9DC33773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8B691-5190-4FA2-B02B-1D15ABCE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O = readable in at least one tested ingestion path. X = not exposed by a text-only parser.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00050" y="2095500"/>
          <a:ext xmlns:a="http://schemas.openxmlformats.org/drawingml/2006/main" cx="113919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2762250"/>
                <a:gridCol w="4095750"/>
                <a:gridCol w="2819400"/>
              </a:tblGrid>
              <a:tr h="579438">
                <a:tc>
                  <a:txBody>
                    <a:bodyPr/>
                    <a:lstStyle/>
                    <a:p>
                      <a:r>
                        <a:t>Surface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PDF location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Readable?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Why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t>Page text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/Page → /Contents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Standard text extraction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t>FreeText annotation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/Page → /Annots → /AP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Annotation-aware parser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t>AcroForm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/AcroForm + Widget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Form-aware ingestion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t>Metadata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/Metadata; trailer /Info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5D626B"/>
                          </a:solidFill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Outside normal page text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t>Raster image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Image XObject / pixels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5D626B"/>
                          </a:solidFill>
                        </a:rPr>
                        <a:t>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Requires OCR or vision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19EBA-3F2F-4E98-8B1E-B17ADC4D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0894B-BDB9-4590-83B4-B1EBCFA9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76925"/>
            <a:ext cx="1093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Content streams are the default path; annotations and forms depend on the provider, while images require OCR.</a:t>
            </a:r>
          </a:p>
        </p:txBody>
      </p:sp>
    </p:spTree>
    <p:extLst>
      <p:ext uri="{BB962C8B-B14F-4D97-AF65-F5344CB8AC3E}">
        <p14:creationId xmlns:p14="http://schemas.microsoft.com/office/powerpoint/2010/main" val="8076642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574DE-B86A-40BE-92D3-1ADCA674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Four working mechanisms use different PDF semantics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09C94-34D9-409C-BA13-A2BB0A33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3FBE4-9CF7-4A10-BA5A-6B09F31C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All four were readable in the current ChatGPT run, but not for the same reason.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240BB-5C9F-4948-9B13-D8C5011D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WHITE 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E71E0-222E-449A-AB23-2D986074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5747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Normal text painted white; invisible on a white page, but still extracted from /Contents.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5C3C5-577A-464E-83ED-F1E858E0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RENDER MODE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44BC1-3A91-4812-BD75-E8B7FE7C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5747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Text uses 3 Tr: glyphs are never painted, while the text remains in /Contents.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D11855-FF0E-4195-963B-1EB1502D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ACROFORM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07DF5-0AF3-4AB4-BB5D-7117FD6A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96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instruction sits in a field value or widget appearance; form-aware ingestion exposes it.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E0B494-481F-4BEF-B6A5-467FBB4D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FREETEXT ANNOTATION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B06658-1486-432B-A1E1-7C99F46B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96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instruction sits in an annotation appearance stream; annotation-aware ingestion exposes it.</a:t>
            </a:r>
          </a:p>
        </p:txBody>
      </p:sp>
    </p:spTree>
    <p:extLst>
      <p:ext uri="{BB962C8B-B14F-4D97-AF65-F5344CB8AC3E}">
        <p14:creationId xmlns:p14="http://schemas.microsoft.com/office/powerpoint/2010/main" val="3145887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0E3F7-40FE-42A3-8A16-F7AD56D2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837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Content-stream methods transfer most consistently across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45360-A24C-414C-A6B9-4DB3A9C7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B8242-BD53-4443-8CF1-55EFB54A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Measured project results. O = read; X = not read.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00050" y="2095500"/>
          <a:ext xmlns:a="http://schemas.openxmlformats.org/drawingml/2006/main" cx="113919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457450"/>
                <a:gridCol w="2457450"/>
                <a:gridCol w="2476500"/>
              </a:tblGrid>
              <a:tr h="78581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Mechanism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ChatGPT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Claude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Gemini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Page content  ·  white / 3 Tr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FreeText annotation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>
                    <a:solidFill>
                      <a:srgbClr val="EDF7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D626B"/>
                          </a:solidFill>
                        </a:rPr>
                        <a:t>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D626B"/>
                          </a:solidFill>
                        </a:rPr>
                        <a:t>X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AcroForm field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D626B"/>
                          </a:solidFill>
                        </a:rPr>
                        <a:t>X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F8E7F-436E-404E-AF44-3F1B651D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00700"/>
            <a:ext cx="1139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A3FF2-4847-443C-A52E-E4B1E438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All three read page-content methods; annotation and form semantics are provider-dependent.</a:t>
            </a:r>
          </a:p>
        </p:txBody>
      </p:sp>
    </p:spTree>
    <p:extLst>
      <p:ext uri="{BB962C8B-B14F-4D97-AF65-F5344CB8AC3E}">
        <p14:creationId xmlns:p14="http://schemas.microsoft.com/office/powerpoint/2010/main" val="20468003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92491-6BBA-4B5B-B6C5-5F0C898D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Next test: image-only PDFs that trigger OCR / vision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5DD88-D2D5-4D20-9E92-C8FB4B5D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D1470-15AD-4FB3-8F64-36EE267A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An image-only PDF stores page text as pixels—not selectable PDF text objects.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C23EA-1D2B-4AFC-B42F-BA6443A9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05175"/>
            <a:ext cx="7620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cxnSp>
        <p:nvCxnSpPr>
          <p:cNvPr id="73" name=""/>
          <p:cNvCxnSpPr/>
          <p:nvPr/>
        </p:nvCxnSpPr>
        <p:spPr>
          <a:xfrm xmlns:a="http://schemas.openxmlformats.org/drawingml/2006/main">
            <a:off x="4381500" y="2628900"/>
            <a:ext cx="0" cy="2333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74" name=""/>
          <p:cNvCxnSpPr/>
          <p:nvPr/>
        </p:nvCxnSpPr>
        <p:spPr>
          <a:xfrm xmlns:a="http://schemas.openxmlformats.org/drawingml/2006/main">
            <a:off x="4381500" y="26289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75" name=""/>
          <p:cNvCxnSpPr/>
          <p:nvPr/>
        </p:nvCxnSpPr>
        <p:spPr>
          <a:xfrm xmlns:a="http://schemas.openxmlformats.org/drawingml/2006/main">
            <a:off x="4381500" y="33718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76" name=""/>
          <p:cNvCxnSpPr/>
          <p:nvPr/>
        </p:nvCxnSpPr>
        <p:spPr>
          <a:xfrm xmlns:a="http://schemas.openxmlformats.org/drawingml/2006/main">
            <a:off x="4381500" y="41148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77" name=""/>
          <p:cNvCxnSpPr/>
          <p:nvPr/>
        </p:nvCxnSpPr>
        <p:spPr>
          <a:xfrm xmlns:a="http://schemas.openxmlformats.org/drawingml/2006/main">
            <a:off x="4381500" y="48577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E13C98-32DB-441C-8785-660B8794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05175"/>
            <a:ext cx="7429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9A8D69-686D-4C64-A439-0A99C19E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305175"/>
            <a:ext cx="666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F255D-47FC-4D43-9BEC-7CB712A8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1619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B5084B-C3AE-4804-83A4-2D09B9C0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1276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Image-only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PDF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AA18D0-1B97-4EFC-969C-8188B6F8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47900"/>
            <a:ext cx="1600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3D0EB8-337F-43BE-94C7-EDC54BA7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19450"/>
            <a:ext cx="1257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OCR / vision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extraction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3A91EA-3565-4983-B4BE-93016895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28850"/>
            <a:ext cx="2571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A99845-37E5-4791-8BE7-9B2346C7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431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Original rasterized page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571528-4913-49A2-A70E-329E40EB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71800"/>
            <a:ext cx="2571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121718-3598-4800-B04D-3B9AEFB6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861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Rasterized visible control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C5D67D-232C-45CA-93B9-B097BBD8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14750"/>
            <a:ext cx="2571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259F4C-B4B1-4D11-BCC6-61ED8868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8290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Rasterized instruction 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42DEB5-4314-4607-8640-6EC8A89F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57700"/>
            <a:ext cx="2571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51F5C2-B8EF-4CE4-BD47-DF331470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720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No-text image control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9BC1B5-29EA-4833-9CDA-00190AA9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38450"/>
            <a:ext cx="15049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91CE35-1686-4531-A3F1-CE07036D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24200"/>
            <a:ext cx="1123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ChatGPT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Claude · Gemini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07D6CA-B508-4A25-A93B-FF572090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38450"/>
            <a:ext cx="1104900" cy="12192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DF7FD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F4E4FA-0210-4C89-92F6-7DC8A441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152775"/>
            <a:ext cx="819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response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4E2C8D-7EE9-46DA-A398-31292BE8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467350"/>
            <a:ext cx="9010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2FACC0-91F8-45F6-A3D2-6E621877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619750"/>
            <a:ext cx="851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Measure whether each model extracts the image-borne text and uses it as document context.</a:t>
            </a:r>
          </a:p>
        </p:txBody>
      </p:sp>
    </p:spTree>
    <p:extLst>
      <p:ext uri="{BB962C8B-B14F-4D97-AF65-F5344CB8AC3E}">
        <p14:creationId xmlns:p14="http://schemas.microsoft.com/office/powerpoint/2010/main" val="16420216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574DE-B86A-40BE-92D3-1ADCA674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09C94-34D9-409C-BA13-A2BB0A33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3FBE4-9CF7-4A10-BA5A-6B09F31C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Selected work on academic assessment, hidden PDF prompts, detection, and ingestion integrity.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240BB-5C9F-4948-9B13-D8C5011D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RAO ET AL. ·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E71E0-222E-449A-AB23-2D986074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5747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Detecting LLM-Generated Peer Reviews. PLOS ONE 20(9), e0331871. DOI: 10.1371/journal.pone.0331871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5C3C5-577A-464E-83ED-F1E858E0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MURRAY · 2025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44BC1-3A91-4812-BD75-E8B7FE7C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5747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PhantomLint: Principled Detection of Hidden LLM Prompts in Structured Documents. arXiv:2508.17884.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D11855-FF0E-4195-963B-1EB1502D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LIU &amp; MING ·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07DF5-0AF3-4AB4-BB5D-7117FD6A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96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Semantic Integrity Failures in Document-to-LLM Supply Chains. arXiv:2606.15020.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E0B494-481F-4BEF-B6A5-467FBB4D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THIENPREECHA &amp; SUBRAMANIAN · 2026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B06658-1486-432B-A1E1-7C99F46B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96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CrackedPDFs: A Controlled Benchmark for Hidden Prompt Injection in PDFs. arXiv:2607.19396.</a:t>
            </a:r>
          </a:p>
        </p:txBody>
      </p:sp>
    </p:spTree>
    <p:extLst>
      <p:ext uri="{BB962C8B-B14F-4D97-AF65-F5344CB8AC3E}">
        <p14:creationId xmlns:p14="http://schemas.microsoft.com/office/powerpoint/2010/main" val="3145887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2026-09-01T12:57:17.1050000Z</dcterms:created>
  <dcterms:modified xsi:type="dcterms:W3CDTF">2026-09-01T12:57:17.1050000Z</dcterms:modified>
</coreProperties>
</file>