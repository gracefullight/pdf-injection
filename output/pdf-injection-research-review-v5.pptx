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01dc25e154b96" /><Relationship Type="http://schemas.openxmlformats.org/officeDocument/2006/relationships/extended-properties" Target="/docProps/app.xml" Id="Rd35b93b0b2964a96" /><Relationship Type="http://schemas.openxmlformats.org/officeDocument/2006/relationships/officeDocument" Target="/ppt/presentation.xml" Id="Rd5212a496d89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08c56b693746b1"/>
  </p:sldMasterIdLst>
  <p:notesMasterIdLst>
    <p:notesMasterId xmlns:r="http://schemas.openxmlformats.org/officeDocument/2006/relationships" r:id="R0d76c7a1a3df4969"/>
  </p:notesMasterIdLst>
  <p:sldIdLst>
    <p:sldId xmlns:r="http://schemas.openxmlformats.org/officeDocument/2006/relationships" id="256" r:id="R9fc77d8d6de24666"/>
    <p:sldId xmlns:r="http://schemas.openxmlformats.org/officeDocument/2006/relationships" id="257" r:id="Rd7755937b7b14940"/>
    <p:sldId xmlns:r="http://schemas.openxmlformats.org/officeDocument/2006/relationships" id="258" r:id="R1f3b4a4f742e459e"/>
    <p:sldId xmlns:r="http://schemas.openxmlformats.org/officeDocument/2006/relationships" id="259" r:id="R929bf826001c4a97"/>
    <p:sldId xmlns:r="http://schemas.openxmlformats.org/officeDocument/2006/relationships" id="260" r:id="Rb95befe64f6c4328"/>
    <p:sldId xmlns:r="http://schemas.openxmlformats.org/officeDocument/2006/relationships" id="261" r:id="R3c0acfc23c3943c5"/>
    <p:sldId xmlns:r="http://schemas.openxmlformats.org/officeDocument/2006/relationships" id="262" r:id="R0d4b3de5c75c49bb"/>
    <p:sldId xmlns:r="http://schemas.openxmlformats.org/officeDocument/2006/relationships" id="263" r:id="R79735ab807154336"/>
    <p:sldId xmlns:r="http://schemas.openxmlformats.org/officeDocument/2006/relationships" id="264" r:id="Ra3887a938a874f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77cf78ce34d3b" /><Relationship Type="http://schemas.openxmlformats.org/officeDocument/2006/relationships/slideMaster" Target="/ppt/slideMasters/slideMaster1.xml" Id="R3d08c56b693746b1" /><Relationship Type="http://schemas.openxmlformats.org/officeDocument/2006/relationships/notesMaster" Target="/ppt/notesMasters/notesMaster1.xml" Id="R0d76c7a1a3df4969" /><Relationship Type="http://schemas.openxmlformats.org/officeDocument/2006/relationships/presProps" Target="/ppt/presProps.xml" Id="R0c007859b56e4a37" /><Relationship Type="http://schemas.openxmlformats.org/officeDocument/2006/relationships/tableStyles" Target="/ppt/tableStyles.xml" Id="Rc1ba60029c08477e" /><Relationship Type="http://schemas.openxmlformats.org/officeDocument/2006/relationships/slide" Target="/ppt/slides/slide1.xml" Id="R9fc77d8d6de24666" /><Relationship Type="http://schemas.openxmlformats.org/officeDocument/2006/relationships/slide" Target="/ppt/slides/slide2.xml" Id="Rd7755937b7b14940" /><Relationship Type="http://schemas.openxmlformats.org/officeDocument/2006/relationships/slide" Target="/ppt/slides/slide3.xml" Id="R1f3b4a4f742e459e" /><Relationship Type="http://schemas.openxmlformats.org/officeDocument/2006/relationships/slide" Target="/ppt/slides/slide4.xml" Id="R929bf826001c4a97" /><Relationship Type="http://schemas.openxmlformats.org/officeDocument/2006/relationships/slide" Target="/ppt/slides/slide5.xml" Id="Rb95befe64f6c4328" /><Relationship Type="http://schemas.openxmlformats.org/officeDocument/2006/relationships/slide" Target="/ppt/slides/slide6.xml" Id="R3c0acfc23c3943c5" /><Relationship Type="http://schemas.openxmlformats.org/officeDocument/2006/relationships/slide" Target="/ppt/slides/slide7.xml" Id="R0d4b3de5c75c49bb" /><Relationship Type="http://schemas.openxmlformats.org/officeDocument/2006/relationships/slide" Target="/ppt/slides/slide8.xml" Id="R79735ab807154336" /><Relationship Type="http://schemas.openxmlformats.org/officeDocument/2006/relationships/slide" Target="/ppt/slides/slide9.xml" Id="Ra3887a938a874f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e8977328a842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f78faad1694031" /><Relationship Type="http://schemas.openxmlformats.org/officeDocument/2006/relationships/notesMaster" Target="/ppt/notesMasters/notesMaster1.xml" Id="R3e92287eabcd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2df3db70a44c5" /><Relationship Type="http://schemas.openxmlformats.org/officeDocument/2006/relationships/notesMaster" Target="/ppt/notesMasters/notesMaster1.xml" Id="R19bf77df3c56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6b6bf4d6f44d42" /><Relationship Type="http://schemas.openxmlformats.org/officeDocument/2006/relationships/notesMaster" Target="/ppt/notesMasters/notesMaster1.xml" Id="R93441372221e40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456bd1097e445f" /><Relationship Type="http://schemas.openxmlformats.org/officeDocument/2006/relationships/notesMaster" Target="/ppt/notesMasters/notesMaster1.xml" Id="R6c40c7b1ae1340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4a269bfc54dca" /><Relationship Type="http://schemas.openxmlformats.org/officeDocument/2006/relationships/notesMaster" Target="/ppt/notesMasters/notesMaster1.xml" Id="R97d863fe944541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863bf6e25c4319" /><Relationship Type="http://schemas.openxmlformats.org/officeDocument/2006/relationships/notesMaster" Target="/ppt/notesMasters/notesMaster1.xml" Id="Rccfdf2f2367f49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f8a74eb00a41c3" /><Relationship Type="http://schemas.openxmlformats.org/officeDocument/2006/relationships/notesMaster" Target="/ppt/notesMasters/notesMaster1.xml" Id="Re25a47a884b842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9ae4a56d2f4a3e" /><Relationship Type="http://schemas.openxmlformats.org/officeDocument/2006/relationships/notesMaster" Target="/ppt/notesMasters/notesMaster1.xml" Id="Rf98d48d015b847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df8372c11243ee" /><Relationship Type="http://schemas.openxmlformats.org/officeDocument/2006/relationships/notesMaster" Target="/ppt/notesMasters/notesMaster1.xml" Id="R883cf8417bc1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title and author names</a:t>
            </a:r>
          </a:p>
          <a:p xmlns:a="http://schemas.openxmlformats.org/drawingml/2006/main">
            <a:r>
              <a:t>- /Users/gracefullight/workspace/pdf-injection/docs/prd.md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ISO 32000 PDF object model as summarized in the project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and AcroForm were readable in at least one tested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annotation also worked in the current ChatGPT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measured results for ChatGPT, Claude, and Gemini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correction: OCR/vision is not a standalone pipeline layer; each provider controls whether and how it is invoked.</a:t>
            </a:r>
          </a:p>
          <a:p xmlns:a="http://schemas.openxmlformats.org/drawingml/2006/main">
            <a:r>
              <a:t>- User-provided experiment direction: text embedded as page pixels in an image-only PDF.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watermark decoders: https://openaccess.thecvf.com/content_ECCV_2018/html/Jiren_Zhu_HiDDeN_Hiding_Data_ECCV_2018_paper.html</a:t>
            </a:r>
          </a:p>
          <a:p xmlns:a="http://schemas.openxmlformats.org/drawingml/2006/main">
            <a:r>
              <a:t>- Frequency-space watermark precedent: https://proceedings.neurips.cc/paper_files/paper/2023/hash/b54d1757c190ba20dbc4f9e4a2f54149-Abstract-Conference.html</a:t>
            </a:r>
          </a:p>
          <a:p xmlns:a="http://schemas.openxmlformats.org/drawingml/2006/main">
            <a:r>
              <a:t>- Localized visual watermark extractor: https://openreview.net/pdf/50e8cb7b57f897cfc5da02c630d703dc3ebb37a0.pdf</a:t>
            </a:r>
          </a:p>
          <a:p xmlns:a="http://schemas.openxmlformats.org/drawingml/2006/main">
            <a:r>
              <a:t>- Token-probability detector: https://proceedings.mlr.press/v202/kirchenbauer23a.html</a:t>
            </a:r>
          </a:p>
          <a:p xmlns:a="http://schemas.openxmlformats.org/drawingml/2006/main">
            <a:r>
              <a:t>- PDF logical-structure ML precedent: https://link.springer.com/article/10.1186/s13635-016-0045-0</a:t>
            </a:r>
          </a:p>
          <a:p xmlns:a="http://schemas.openxmlformats.org/drawingml/2006/main">
            <a:r>
              <a:t>- The PDF object-slot watermark expert is a proposed adaptation, not a reported result in Hidost.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Rao et al. (2025): https://doi.org/10.1371/journal.pone.0331871</a:t>
            </a:r>
          </a:p>
          <a:p xmlns:a="http://schemas.openxmlformats.org/drawingml/2006/main">
            <a:r>
              <a:t>- Murray (2025): https://arxiv.org/abs/2508.17884</a:t>
            </a:r>
          </a:p>
          <a:p xmlns:a="http://schemas.openxmlformats.org/drawingml/2006/main">
            <a:r>
              <a:t>- Liu &amp; Ming (2026): https://arxiv.org/abs/2606.15020</a:t>
            </a:r>
          </a:p>
          <a:p xmlns:a="http://schemas.openxmlformats.org/drawingml/2006/main">
            <a:r>
              <a:t>- Thienpreecha &amp; Subramanian (2026): https://arxiv.org/abs/2607.19396</a:t>
            </a:r>
          </a:p>
          <a:p xmlns:a="http://schemas.openxmlformats.org/drawingml/2006/main">
            <a:r>
              <a:t>- Kirchenbauer et al. (2023): https://proceedings.mlr.press/v202/kirchenbauer23a.html</a:t>
            </a:r>
          </a:p>
          <a:p xmlns:a="http://schemas.openxmlformats.org/drawingml/2006/main">
            <a:r>
              <a:t>- Zhu et al. (2018), HiDDeN: https://openaccess.thecvf.com/content_ECCV_2018/html/Jiren_Zhu_HiDDeN_Hiding_Data_ECCV_2018_paper.html</a:t>
            </a:r>
          </a:p>
          <a:p xmlns:a="http://schemas.openxmlformats.org/drawingml/2006/main">
            <a:r>
              <a:t>- Wen et al. (2023), Tree-Rings: https://proceedings.neurips.cc/paper_files/paper/2023/hash/b54d1757c190ba20dbc4f9e4a2f54149-Abstract-Conference.html</a:t>
            </a:r>
          </a:p>
          <a:p xmlns:a="http://schemas.openxmlformats.org/drawingml/2006/main">
            <a:r>
              <a:t>- Sander et al. (2025), Watermark Anything: https://openreview.net/pdf/50e8cb7b57f897cfc5da02c630d703dc3ebb37a0.pdf</a:t>
            </a:r>
          </a:p>
          <a:p xmlns:a="http://schemas.openxmlformats.org/drawingml/2006/main">
            <a:r>
              <a:t>- Šrndić &amp; Laskov (2016), Hidost: https://link.springer.com/article/10.1186/s13635-016-0045-0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1efeca77944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36c21259c24989" /><Relationship Type="http://schemas.openxmlformats.org/officeDocument/2006/relationships/slideLayout" Target="/ppt/slideLayouts/slideLayout1.xml" Id="R3f3de527496648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3de527496648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ccd8c5c764a43" /><Relationship Type="http://schemas.openxmlformats.org/officeDocument/2006/relationships/notesSlide" Target="/ppt/notesSlides/notesSlide1.xml" Id="Rc32931e528df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d9c2e56ee4c68" /><Relationship Type="http://schemas.openxmlformats.org/officeDocument/2006/relationships/image" Target="/ppt/media/image.png" Id="R412944267dc84eaf" /><Relationship Type="http://schemas.openxmlformats.org/officeDocument/2006/relationships/notesSlide" Target="/ppt/notesSlides/notesSlide2.xml" Id="Rb57a46bbffba4e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fb378fe82464d" /><Relationship Type="http://schemas.openxmlformats.org/officeDocument/2006/relationships/notesSlide" Target="/ppt/notesSlides/notesSlide3.xml" Id="R21e8feaeb69643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440414f9b49ee" /><Relationship Type="http://schemas.openxmlformats.org/officeDocument/2006/relationships/notesSlide" Target="/ppt/notesSlides/notesSlide4.xml" Id="R20f717093084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ec3878ffc43f6" /><Relationship Type="http://schemas.openxmlformats.org/officeDocument/2006/relationships/notesSlide" Target="/ppt/notesSlides/notesSlide5.xml" Id="R83ba8d7bafa2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437b61be74dcb" /><Relationship Type="http://schemas.openxmlformats.org/officeDocument/2006/relationships/notesSlide" Target="/ppt/notesSlides/notesSlide6.xml" Id="Rb720f63ba70248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31acf64144c92" /><Relationship Type="http://schemas.openxmlformats.org/officeDocument/2006/relationships/notesSlide" Target="/ppt/notesSlides/notesSlide7.xml" Id="Rf1e06053567c47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96521ba104e6a" /><Relationship Type="http://schemas.openxmlformats.org/officeDocument/2006/relationships/notesSlide" Target="/ppt/notesSlides/notesSlide8.xml" Id="Rd0bc5b81ada54a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a2cd216b44412" /><Relationship Type="http://schemas.openxmlformats.org/officeDocument/2006/relationships/notesSlide" Target="/ppt/notesSlides/notesSlide9.xml" Id="Ra1733f8c1f37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A84B-BD07-4F42-9B60-93CD5FD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DEFBED-0352-44EA-8173-52534FA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38B7-67DF-4590-B272-E4FD20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AI-Resistant PDFs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Academic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5C5F-363D-4E7D-AB3F-B8D99DA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Bo Zhao · Eunkwang Shin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675A-18ED-4FAC-9EF7-55A4378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semantics, cross-model measurements, and the OCR watermarking frontier</a:t>
            </a:r>
          </a:p>
        </p:txBody>
      </p:sp>
    </p:spTree>
    <p:extLst>
      <p:ext uri="{BB962C8B-B14F-4D97-AF65-F5344CB8AC3E}">
        <p14:creationId xmlns:p14="http://schemas.microsoft.com/office/powerpoint/2010/main" val="2126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B69B-0E80-4174-9940-296F2AA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an invisible PDF instruction reaches an AI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2D56-652E-49A8-B6E1-A64658F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nder-frame">
            <a:extLst xmlns:a="http://schemas.openxmlformats.org/drawingml/2006/main">
              <a:ext uri="{FF2B5EF4-FFF2-40B4-BE49-F238E27FC236}">
                <a16:creationId xmlns:a16="http://schemas.microsoft.com/office/drawing/2014/main" id="{2E3F354B-C17E-4226-B016-483D0AD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33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944267dc84eaf"/>
          <a:stretch xmlns:a="http://schemas.openxmlformats.org/drawingml/2006/main"/>
        </p:blipFill>
        <p:spPr>
          <a:xfrm xmlns:a="http://schemas.openxmlformats.org/drawingml/2006/main">
            <a:off x="998826" y="1809750"/>
            <a:ext cx="2841048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29DB-79A0-431A-B10F-06B3D52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Human view</a:t>
            </a:r>
          </a:p>
        </p:txBody>
      </p:sp>
      <p:sp>
        <p:nvSpPr>
          <p:cNvPr id="7" name="view-arrow">
            <a:extLst xmlns:a="http://schemas.openxmlformats.org/drawingml/2006/main">
              <a:ext uri="{FF2B5EF4-FFF2-40B4-BE49-F238E27FC236}">
                <a16:creationId xmlns:a16="http://schemas.microsoft.com/office/drawing/2014/main" id="{FBA6464F-6A67-4B9F-ADD2-6C61260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mantic-frame">
            <a:extLst xmlns:a="http://schemas.openxmlformats.org/drawingml/2006/main">
              <a:ext uri="{FF2B5EF4-FFF2-40B4-BE49-F238E27FC236}">
                <a16:creationId xmlns:a16="http://schemas.microsoft.com/office/drawing/2014/main" id="{3F9FA892-1C58-420F-B718-F3B7F09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59817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5ED6-99B2-4664-8D36-F86C113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AI ingestion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4560-0D64-45B2-9C49-DE16CFD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TEXT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B1EF-0E2A-43B5-B031-72AC25B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EXTRACTOR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A0EE-FCD0-4115-B38A-3F1451A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61A-83F5-4124-BE5A-C54E46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 text, forms, annotations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BEF7-16B8-49B3-AC81-F17620A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Decides which objects survive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09EF-71E9-4AE3-A626-F3AFBC6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 enters the prompt</a:t>
            </a:r>
          </a:p>
        </p:txBody>
      </p:sp>
      <p:cxnSp>
        <p:nvCxnSpPr>
          <p:cNvPr id="162" name=""/>
          <p:cNvCxnSpPr/>
          <p:nvPr/>
        </p:nvCxnSpPr>
        <p:spPr>
          <a:xfrm xmlns:a="http://schemas.openxmlformats.org/drawingml/2006/main">
            <a:off x="5962650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5510-EA83-4A52-9A31-8E5466F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958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does not read the page like a human; it receives the extractor’s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298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EAE2-BEDB-411A-9DC0-213327C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structure exposes multiple semantic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0C00-116D-49D8-8A12-35C349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C4A-4C19-4167-92C7-24E3832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 container</a:t>
            </a:r>
          </a:p>
        </p:txBody>
      </p:sp>
      <p:cxnSp>
        <p:nvCxnSpPr>
          <p:cNvPr id="258" name=""/>
          <p:cNvCxnSpPr/>
          <p:nvPr/>
        </p:nvCxnSpPr>
        <p:spPr>
          <a:xfrm xmlns:a="http://schemas.openxmlformats.org/drawingml/2006/main">
            <a:off x="4000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146E-8DCD-4185-9119-5D1A9A5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graph</a:t>
            </a:r>
          </a:p>
        </p:txBody>
      </p:sp>
      <p:cxnSp>
        <p:nvCxnSpPr>
          <p:cNvPr id="260" name=""/>
          <p:cNvCxnSpPr/>
          <p:nvPr/>
        </p:nvCxnSpPr>
        <p:spPr>
          <a:xfrm xmlns:a="http://schemas.openxmlformats.org/drawingml/2006/main">
            <a:off x="42481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4F8A0-D26F-42D8-9AD9-B101CF5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Model-facing views</a:t>
            </a:r>
          </a:p>
        </p:txBody>
      </p:sp>
      <p:cxnSp>
        <p:nvCxnSpPr>
          <p:cNvPr id="262" name=""/>
          <p:cNvCxnSpPr/>
          <p:nvPr/>
        </p:nvCxnSpPr>
        <p:spPr>
          <a:xfrm xmlns:a="http://schemas.openxmlformats.org/drawingml/2006/main">
            <a:off x="8096250" y="2019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6656-2C21-42A3-B07A-A9BF1ED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5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4972-63CA-459C-8E75-76A7B1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%PDF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B72CD-F73D-4BFD-878F-DD6AA66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52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E827-8B5E-43EE-9F5E-CF8719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009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Body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BDFD1-A0CF-4780-AEDF-B735393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C2B39-B913-4B7D-B486-C456E2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xref / xref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DA56-22A5-4773-8D03-14B4E3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94018-7211-4180-9A24-08701A1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Trailer + startxref</a:t>
            </a:r>
          </a:p>
        </p:txBody>
      </p:sp>
      <p:cxnSp>
        <p:nvCxnSpPr>
          <p:cNvPr id="271" name=""/>
          <p:cNvCxnSpPr/>
          <p:nvPr/>
        </p:nvCxnSpPr>
        <p:spPr>
          <a:xfrm xmlns:a="http://schemas.openxmlformats.org/drawingml/2006/main">
            <a:off x="5905500" y="2571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2" name=""/>
          <p:cNvCxnSpPr/>
          <p:nvPr/>
        </p:nvCxnSpPr>
        <p:spPr>
          <a:xfrm xmlns:a="http://schemas.openxmlformats.org/drawingml/2006/main">
            <a:off x="5905500" y="33242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3" name=""/>
          <p:cNvCxnSpPr/>
          <p:nvPr/>
        </p:nvCxnSpPr>
        <p:spPr>
          <a:xfrm xmlns:a="http://schemas.openxmlformats.org/drawingml/2006/main">
            <a:off x="4695825" y="37814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4" name=""/>
          <p:cNvCxnSpPr/>
          <p:nvPr/>
        </p:nvCxnSpPr>
        <p:spPr>
          <a:xfrm xmlns:a="http://schemas.openxmlformats.org/drawingml/2006/main">
            <a:off x="4695825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5" name=""/>
          <p:cNvCxnSpPr/>
          <p:nvPr/>
        </p:nvCxnSpPr>
        <p:spPr>
          <a:xfrm xmlns:a="http://schemas.openxmlformats.org/drawingml/2006/main">
            <a:off x="59055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6" name=""/>
          <p:cNvCxnSpPr/>
          <p:nvPr/>
        </p:nvCxnSpPr>
        <p:spPr>
          <a:xfrm xmlns:a="http://schemas.openxmlformats.org/drawingml/2006/main">
            <a:off x="71247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7" name=""/>
          <p:cNvCxnSpPr/>
          <p:nvPr/>
        </p:nvCxnSpPr>
        <p:spPr>
          <a:xfrm xmlns:a="http://schemas.openxmlformats.org/drawingml/2006/main">
            <a:off x="6858000" y="2438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8" name=""/>
          <p:cNvCxnSpPr/>
          <p:nvPr/>
        </p:nvCxnSpPr>
        <p:spPr>
          <a:xfrm xmlns:a="http://schemas.openxmlformats.org/drawingml/2006/main">
            <a:off x="7620000" y="2438400"/>
            <a:ext cx="0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79" name=""/>
          <p:cNvCxnSpPr/>
          <p:nvPr/>
        </p:nvCxnSpPr>
        <p:spPr>
          <a:xfrm xmlns:a="http://schemas.openxmlformats.org/drawingml/2006/main">
            <a:off x="6419850" y="55816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9DA1C-5784-4247-BDB2-858ADAF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B84C-E690-4361-96DA-3FA2890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C70FA-2E05-416C-9A2C-C01113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AD057-BFBF-472E-8DC7-B30B2FE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D756E-F557-43C2-A8F0-06A9AA3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BF08-B6FE-4BCA-BFA5-C56F65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C34E3-7B9E-4377-B292-07E5AF4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43283-9276-42EA-8A00-147F028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/Contents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1EE84-E8E6-4F04-936A-E1D5C8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E29CC-82CC-4FA1-8FAA-FCB1EB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4CC45-AA82-4959-888A-CDAF9B4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A4933-E1CB-48D8-A851-BB9355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/Annots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36C34-9642-4357-9AB9-5DF3EE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120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03980-73DB-42EB-AB80-265A76C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Catalog-level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/AcroForm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FBA89-FE5B-44A1-A582-B1585D0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CE0EA-3259-4842-B2FE-3DE999C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pixels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C479CC-C774-4436-A6FA-FB3A97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a human sees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0959B-885B-4304-B163-7CEF8A8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440AF7-2182-4ED5-A59D-BC3F447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B3904-C5AC-4BB8-AA6D-1A526B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Contents, forms, annotations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6110F-4C80-4B06-A839-AAB152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BC9F-035D-4D15-9C2B-65631F9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 metadata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EC039-BC63-4FFB-A61A-0D7D226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XMP and Info dictionaries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46B99-3F40-40F9-9419-4124ED0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16D11-6E7D-4B82-AC92-B91DFB8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Accessibility semantics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57A4B-7BB8-43FB-BAD4-F537ED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/ActualText and tags</a:t>
            </a:r>
          </a:p>
        </p:txBody>
      </p:sp>
    </p:spTree>
    <p:extLst>
      <p:ext uri="{BB962C8B-B14F-4D97-AF65-F5344CB8AC3E}">
        <p14:creationId xmlns:p14="http://schemas.microsoft.com/office/powerpoint/2010/main" val="4410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3EE2-8AB6-4FA6-BDE0-E18EAE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can a parseable instruction live inside a PDF?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DF1E-D1DF-4F90-A4FB-9DC3377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B691-5190-4FA2-B02B-1D15ABC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 = readable in at least one tested ingestion path. X = not exposed by a text-only parser.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762250"/>
                <a:gridCol w="4095750"/>
                <a:gridCol w="2819400"/>
              </a:tblGrid>
              <a:tr h="579438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PDF 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Page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/Page → /Contents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Standard text extraction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FreeText annotation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/Page → /Annots → /AP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Annotation-aware parser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AcroForm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/AcroForm + Widget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Form-aware ingestion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Metadata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/Metadata; trailer /Info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Outside normal page text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Raster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XObject / pixels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Requires OCR or vision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9EBA-3F2F-4E98-8B1E-B17ADC4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894B-BDB9-4590-83B4-B1EBCF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Content streams are the default path; annotations and forms depend on the provider, while images require OCR.</a:t>
            </a:r>
          </a:p>
        </p:txBody>
      </p:sp>
    </p:spTree>
    <p:extLst>
      <p:ext uri="{BB962C8B-B14F-4D97-AF65-F5344CB8AC3E}">
        <p14:creationId xmlns:p14="http://schemas.microsoft.com/office/powerpoint/2010/main" val="80766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working mechanisms use different PDF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All four were readable in the current ChatGPT run, but not for the same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WHITE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 text painted white; invisible on a white page, but still extracted from /Contents.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RENDER MODE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uses 3 Tr: glyphs are never painted, while the text remains in /Contents.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ACROFORM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 field value or widget appearance; form-aware ingestion exposes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FREETEXT ANNOTATION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an annotation appearance stream; annotation-aware ingestion exposes it.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0E3F7-40FE-42A3-8A16-F7AD56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Content-stream methods transfer most consistently across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360-A24C-414C-A6B9-4DB3A9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8242-BD53-4443-8CF1-55EFB54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Measured project results. O = read; X = not read.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57450"/>
                <a:gridCol w="2457450"/>
                <a:gridCol w="2476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Gemini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Page content  ·  white / 3 Tr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FreeText annotation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AcroForm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8E7F-436E-404E-AF44-3F1B651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3FF2-4847-443C-A52E-E4B1E43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three read page-content methods; annotation and form semantics are provider-dependent.</a:t>
            </a:r>
          </a:p>
        </p:txBody>
      </p:sp>
    </p:spTree>
    <p:extLst>
      <p:ext uri="{BB962C8B-B14F-4D97-AF65-F5344CB8AC3E}">
        <p14:creationId xmlns:p14="http://schemas.microsoft.com/office/powerpoint/2010/main" val="204680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2491-6BBA-4B5B-B6C5-5F0C898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test: image-only PDFs under provider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DD88-D2D5-4D20-9E92-C8FB4B5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1470-15AD-4FB3-8F64-36EE26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PDF supplies only pixels; each provider decides whether and how to invoke OCR / 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23EA-1D2B-4AFC-B42F-BA6443A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0517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4381500" y="2628900"/>
            <a:ext cx="0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10" name=""/>
          <p:cNvCxnSpPr/>
          <p:nvPr/>
        </p:nvCxnSpPr>
        <p:spPr>
          <a:xfrm xmlns:a="http://schemas.openxmlformats.org/drawingml/2006/main">
            <a:off x="4381500" y="26289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11" name=""/>
          <p:cNvCxnSpPr/>
          <p:nvPr/>
        </p:nvCxnSpPr>
        <p:spPr>
          <a:xfrm xmlns:a="http://schemas.openxmlformats.org/drawingml/2006/main">
            <a:off x="4381500" y="33718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12" name=""/>
          <p:cNvCxnSpPr/>
          <p:nvPr/>
        </p:nvCxnSpPr>
        <p:spPr>
          <a:xfrm xmlns:a="http://schemas.openxmlformats.org/drawingml/2006/main">
            <a:off x="4381500" y="41148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113" name=""/>
          <p:cNvCxnSpPr/>
          <p:nvPr/>
        </p:nvCxnSpPr>
        <p:spPr>
          <a:xfrm xmlns:a="http://schemas.openxmlformats.org/drawingml/2006/main">
            <a:off x="4381500" y="48577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13C98-32DB-441C-8785-660B879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05175"/>
            <a:ext cx="742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A8D69-686D-4C64-A439-0A99C19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255D-47FC-4D43-9BEC-7CB71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5084B-C3AE-4804-83A4-2D09B9C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Image-only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A18D0-1B97-4EFC-969C-8188B6F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47900"/>
            <a:ext cx="160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D0EB8-337F-43BE-94C7-EDC54BA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Image test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variants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A91EA-3565-4983-B4BE-93016895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9845-37E5-4791-8BE7-9B2346C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 rasterized 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71528-4913-49A2-A70E-329E40EB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21718-3598-4800-B04D-3B9AEFB6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86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Rasterized visible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5D67D-232C-45CA-93B9-B097BBD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59F4C-B4B1-4D11-BCC6-61ED886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29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Rasterized instruction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2DEB5-4314-4607-8640-6EC8A89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1F5C2-B8EF-4CE4-BD47-DF33147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No-text image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C1B5-29EA-4833-9CDA-00190AA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04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CE35-1686-4531-A3F1-CE07036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352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 decides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OCR / vision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ChatGPT · Claude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D6CA-B508-4A25-A93B-FF57209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38450"/>
            <a:ext cx="1104900" cy="1219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E4FA-0210-4C89-92F6-7DC8A44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527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E2C8D-7EE9-46DA-A398-31292BE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901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FACC0-91F8-45F6-A3D2-6E62187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197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Measure whether each provider extracts the embedded text and uses it as document context.</a:t>
            </a:r>
          </a:p>
        </p:txBody>
      </p:sp>
    </p:spTree>
    <p:extLst>
      <p:ext uri="{BB962C8B-B14F-4D97-AF65-F5344CB8AC3E}">
        <p14:creationId xmlns:p14="http://schemas.microsoft.com/office/powerpoint/2010/main" val="164202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signal-specific experts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Fine-tune one open-source detector per signal family—not one general model for all three.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VISUAL WATERMARK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Signal: fixed pixel or frequency watermark.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Expert: fine-tuned open-source visual decoder.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Reads: payload, confidence, location.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TOKEN PROBABILITY / FREQUENCY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Signal: token-probability or frequency bias.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Expert: statistical detector or small sequence model.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Reads: score, p-value, attribution.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PDF OBJECT-SLOT PATTERN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Signal: fixed PDF object slots or paths.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Expert: structure-aware PDF model.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Reads: slot, object path, payload.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SHARED OUTPUT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 family · score · location · recovered payload → assessment layer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Selected work on PDF injection, watermark detection, visual decoding, and structure-aware experts.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PDF INJECTION &amp; INTEGRITY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Rao et al. (2025) · PLOS ONE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PhantomLint (2025) · arXiv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Liu &amp; Ming; CrackedPDFs (2026) · arXiv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TEXT WATERMARKS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Kirchenbauer et al. (2023) · ICML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Statistical token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VISUAL WATERMARKS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 (2018) · ECCV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Tree-Rings (2023) · NeurIPS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WAM (2025) · ICLR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PDF STRUCTURE EXPERT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Šrndić &amp; Laskov (2016) · EURASIP JIS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Hidost: structure-aware PDF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2026-09-01T13:29:07.6710000Z</dcterms:created>
  <dcterms:modified xsi:type="dcterms:W3CDTF">2026-09-01T13:29:07.6710000Z</dcterms:modified>
</coreProperties>
</file>