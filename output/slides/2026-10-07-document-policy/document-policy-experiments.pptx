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816af1b63d4b6d" /><Relationship Type="http://schemas.openxmlformats.org/officeDocument/2006/relationships/extended-properties" Target="/docProps/app.xml" Id="R4c019ce4ebb54f47" /><Relationship Type="http://schemas.openxmlformats.org/officeDocument/2006/relationships/officeDocument" Target="/ppt/presentation.xml" Id="R218819e77b9d49f7" /></Relationships>
</file>

<file path=ppt/presentation.xml><?xml version="1.0" encoding="utf-8"?>
<p:presentation xmlns:p="http://schemas.openxmlformats.org/presentationml/2006/main">
  <p:sldMasterIdLst>
    <p:sldMasterId xmlns:r="http://schemas.openxmlformats.org/officeDocument/2006/relationships" id="2147483648" r:id="Rd08a807518aa4c1f"/>
  </p:sldMasterIdLst>
  <p:notesMasterIdLst>
    <p:notesMasterId xmlns:r="http://schemas.openxmlformats.org/officeDocument/2006/relationships" r:id="R2f462114b4b84b8c"/>
  </p:notesMasterIdLst>
  <p:sldIdLst>
    <p:sldId xmlns:r="http://schemas.openxmlformats.org/officeDocument/2006/relationships" id="256" r:id="Refd4e72e904246db"/>
    <p:sldId xmlns:r="http://schemas.openxmlformats.org/officeDocument/2006/relationships" id="257" r:id="R7410cd5d552c4688"/>
    <p:sldId xmlns:r="http://schemas.openxmlformats.org/officeDocument/2006/relationships" id="258" r:id="R835eea268def46b2"/>
    <p:sldId xmlns:r="http://schemas.openxmlformats.org/officeDocument/2006/relationships" id="259" r:id="Rfe3320ffb3f0482f"/>
    <p:sldId xmlns:r="http://schemas.openxmlformats.org/officeDocument/2006/relationships" id="260" r:id="R8eac24d4045544a6"/>
    <p:sldId xmlns:r="http://schemas.openxmlformats.org/officeDocument/2006/relationships" id="261" r:id="Rfb592f5b20a74849"/>
    <p:sldId xmlns:r="http://schemas.openxmlformats.org/officeDocument/2006/relationships" id="262" r:id="R757cb5884fcf4254"/>
    <p:sldId xmlns:r="http://schemas.openxmlformats.org/officeDocument/2006/relationships" id="263" r:id="Re37f6b975aa44ad6"/>
    <p:sldId xmlns:r="http://schemas.openxmlformats.org/officeDocument/2006/relationships" id="264" r:id="Rc6d5b6148c5f4d3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3b531e71294752" /><Relationship Type="http://schemas.openxmlformats.org/officeDocument/2006/relationships/slideMaster" Target="/ppt/slideMasters/slideMaster1.xml" Id="Rd08a807518aa4c1f" /><Relationship Type="http://schemas.openxmlformats.org/officeDocument/2006/relationships/notesMaster" Target="/ppt/notesMasters/notesMaster1.xml" Id="R2f462114b4b84b8c" /><Relationship Type="http://schemas.openxmlformats.org/officeDocument/2006/relationships/presProps" Target="/ppt/presProps.xml" Id="R54ec5212b3014386" /><Relationship Type="http://schemas.openxmlformats.org/officeDocument/2006/relationships/tableStyles" Target="/ppt/tableStyles.xml" Id="R0e908cb0960f4504" /><Relationship Type="http://schemas.openxmlformats.org/officeDocument/2006/relationships/slide" Target="/ppt/slides/slide1.xml" Id="Refd4e72e904246db" /><Relationship Type="http://schemas.openxmlformats.org/officeDocument/2006/relationships/slide" Target="/ppt/slides/slide2.xml" Id="R7410cd5d552c4688" /><Relationship Type="http://schemas.openxmlformats.org/officeDocument/2006/relationships/slide" Target="/ppt/slides/slide3.xml" Id="R835eea268def46b2" /><Relationship Type="http://schemas.openxmlformats.org/officeDocument/2006/relationships/slide" Target="/ppt/slides/slide4.xml" Id="Rfe3320ffb3f0482f" /><Relationship Type="http://schemas.openxmlformats.org/officeDocument/2006/relationships/slide" Target="/ppt/slides/slide5.xml" Id="R8eac24d4045544a6" /><Relationship Type="http://schemas.openxmlformats.org/officeDocument/2006/relationships/slide" Target="/ppt/slides/slide6.xml" Id="Rfb592f5b20a74849" /><Relationship Type="http://schemas.openxmlformats.org/officeDocument/2006/relationships/slide" Target="/ppt/slides/slide7.xml" Id="R757cb5884fcf4254" /><Relationship Type="http://schemas.openxmlformats.org/officeDocument/2006/relationships/slide" Target="/ppt/slides/slide8.xml" Id="Re37f6b975aa44ad6" /><Relationship Type="http://schemas.openxmlformats.org/officeDocument/2006/relationships/slide" Target="/ppt/slides/slide9.xml" Id="Rc6d5b6148c5f4d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121ffa07c344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50461114ec4abd" /><Relationship Type="http://schemas.openxmlformats.org/officeDocument/2006/relationships/notesMaster" Target="/ppt/notesMasters/notesMaster1.xml" Id="R2d88e9b011024d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4944d40c2448f0" /><Relationship Type="http://schemas.openxmlformats.org/officeDocument/2006/relationships/notesMaster" Target="/ppt/notesMasters/notesMaster1.xml" Id="Rc87db8625a454a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86bbf9451347da" /><Relationship Type="http://schemas.openxmlformats.org/officeDocument/2006/relationships/notesMaster" Target="/ppt/notesMasters/notesMaster1.xml" Id="R42c9e29c3f1e4d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87b99a07a04877" /><Relationship Type="http://schemas.openxmlformats.org/officeDocument/2006/relationships/notesMaster" Target="/ppt/notesMasters/notesMaster1.xml" Id="R11fe5718cbb642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c2d9bc4fe547f8" /><Relationship Type="http://schemas.openxmlformats.org/officeDocument/2006/relationships/notesMaster" Target="/ppt/notesMasters/notesMaster1.xml" Id="R472c5b7a5d2b45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b1230ba7fe4c67" /><Relationship Type="http://schemas.openxmlformats.org/officeDocument/2006/relationships/notesMaster" Target="/ppt/notesMasters/notesMaster1.xml" Id="Re89dd98c164c4a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a2d254cce44e54" /><Relationship Type="http://schemas.openxmlformats.org/officeDocument/2006/relationships/notesMaster" Target="/ppt/notesMasters/notesMaster1.xml" Id="R4566ac2eb6fa46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be2061e57840ae" /><Relationship Type="http://schemas.openxmlformats.org/officeDocument/2006/relationships/notesMaster" Target="/ppt/notesMasters/notesMaster1.xml" Id="R7ade49f1cfa545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5f47a93b244ad0" /><Relationship Type="http://schemas.openxmlformats.org/officeDocument/2006/relationships/notesMaster" Target="/ppt/notesMasters/notesMaster1.xml" Id="Rcdf427e669424a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target is selective behaviour. A protected assessment document should cause the model to decline prohibited assistance and direct the user to teaching staff or official resources. It should still support queries that the document policy permits, such as reading a deadline or identifying the course. We assess refusal together with referral and the absence of an assignment-specific answer scaffold. A refusal followed by useful steps toward the assignment answer does not meet this strict target. These experiments test that behaviour under particular document, model and input conditions; they do not establish general enforcement of assessment policy.</a:t>
            </a:r>
          </a:p>
          <a:p xmlns:a="http://schemas.openxmlformats.org/drawingml/2006/main">
            <a:r>
              <a:t/>
            </a:r>
          </a:p>
          <a:p xmlns:a="http://schemas.openxmlformats.org/drawingml/2006/main">
            <a:r>
              <a:t>Sources:</a:t>
            </a:r>
          </a:p>
          <a:p xmlns:a="http://schemas.openxmlformats.org/drawingml/2006/main">
            <a:r>
              <a:t>research/results/2026-09-30-meeting/meeting-brief.md</a:t>
            </a:r>
          </a:p>
          <a:p xmlns:a="http://schemas.openxmlformats.org/drawingml/2006/main">
            <a:r>
              <a:t>research/results/2026-09-09-gpt-luna-brps/README.md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Tr is PDF text rendering mode 3. It stores page-content text without painting the glyphs. The researcher retained it as the acceptable historical approach for the native-PDF text channel. This statement describes the earlier experiments and does not establish reliability across every viewer, model or refusal task. AcroForm was excluded from the adopted approach. A displayed field value made the instruction visible near the bottom of the PDF and therefore failed the visual requirement. A later variant intended to keep the field invisible was not read or reflected in the model response, according to the researcher. The exact bytes and repeat count for that hidden variant were not identified. Historical canary matches from other AcroForm artifacts do not validate that variant or measure strict refusal and staff referral. Do not present AcroForm as a successful invisible protection method.</a:t>
            </a:r>
          </a:p>
          <a:p xmlns:a="http://schemas.openxmlformats.org/drawingml/2006/main">
            <a:r>
              <a:t/>
            </a:r>
          </a:p>
          <a:p xmlns:a="http://schemas.openxmlformats.org/drawingml/2006/main">
            <a:r>
              <a:t>Sources:</a:t>
            </a:r>
          </a:p>
          <a:p xmlns:a="http://schemas.openxmlformats.org/drawingml/2006/main">
            <a:r>
              <a:t>research/results/2026-10-07-acroform-disposition/README.md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Rasterizing a PDF means rendering its pages as images. The original Specification3 file was a seven-page native PDF and was retained. Our model inputs were rendered page images, and the experimental raster PDFs were derived from that source. We must not describe the original Specification3 PDF as raster-only. The completed perturbation work continued the earlier synthetic-page experiments onto page 2 of Specification3. Raster derivatives do not preserve the original selectable-text semantics. This distinction matters because a method that acts through native PDF text objects and a method that acts through image pixels reach the model through different input paths.</a:t>
            </a:r>
          </a:p>
          <a:p xmlns:a="http://schemas.openxmlformats.org/drawingml/2006/main">
            <a:r>
              <a:t/>
            </a:r>
          </a:p>
          <a:p xmlns:a="http://schemas.openxmlformats.org/drawingml/2006/main">
            <a:r>
              <a:t>Sources:</a:t>
            </a:r>
          </a:p>
          <a:p xmlns:a="http://schemas.openxmlformats.org/drawingml/2006/main">
            <a:r>
              <a:t>research/results/2026-09-30-meeting/meeting-brief.md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ImageProtector is the primary reference for the perturbation approach. It studies optimized changes to natural images that induce refusal in vision-language models. We use it to motivate a question about assessment PDFs: can a small pixel intervention cause refusal of assessment-solving requests while preserving useful reading of the document? A natural-image result does not by itself establish that this will work on dense text, document layouts or a different model. Our document experiments examine that extension under a protected text mask and a small pixel-change budget. The readable policy notice and watermark router introduced later use different mechanisms and should be interpreted separately.</a:t>
            </a:r>
          </a:p>
          <a:p xmlns:a="http://schemas.openxmlformats.org/drawingml/2006/main">
            <a:r>
              <a:t>Primary reference: Zedian Shao, Hongbin Liu, Yuepeng Hu, and Neil Zhenqiang Gong. Leave My Images Alone: Preventing Multi-Modal Large Language Models from Analyzing Images via Visual Prompt Injection. ACL 2026. https://aclanthology.org/2026.acl-long.72/</a:t>
            </a:r>
          </a:p>
          <a:p xmlns:a="http://schemas.openxmlformats.org/drawingml/2006/main">
            <a:r>
              <a:t/>
            </a:r>
          </a:p>
          <a:p xmlns:a="http://schemas.openxmlformats.org/drawingml/2006/main">
            <a:r>
              <a:t>Sources:</a:t>
            </a:r>
          </a:p>
          <a:p xmlns:a="http://schemas.openxmlformats.org/drawingml/2006/main">
            <a:r>
              <a:t>https://aclanthology.org/2026.acl-long.72/</a:t>
            </a:r>
          </a:p>
          <a:p xmlns:a="http://schemas.openxmlformats.org/drawingml/2006/main">
            <a:r>
              <a:t>research/results/2026-09-30-meeting/meeting-brief.md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pilot used frozen Qwen2.5-VL-3B-Instruct in BF16, with a maximum pixel change of 8/255 and a protected text mask. It compared response-target optimization across sampled image transformations, a schedule with some utility-supervised updates, and a development-selected crossover. The two parent methods made 216 updates across three paired seeds. None of the nine selected candidates achieved strict success on the development questions. The Specification3 page and document evaluations also found no strict success under their stated response criteria. Longer response limits in the policy-delivery diagnostic did not recover the target behaviour. Selected reading utility remained largely intact: 312/312 page answers and 204/248 document answers matched the reference. Those checks cover selected questions, not full comprehension or accessibility. Gradient checks investigated whether the optimization path was numerically reliable. The full FP32 gate did not pass; the full FP64 smooth-input reference later passed all twelve directional criteria. Passing a numerical check does not show that a model refused an assessment-solving request. This slide reports the completed BF16 behavioural result and makes no claim of response-level success from the later FP64 continuation. The result is bounded to the tested pipeline and conditions and does not establish that document perturbations cannot work.</a:t>
            </a:r>
          </a:p>
          <a:p xmlns:a="http://schemas.openxmlformats.org/drawingml/2006/main">
            <a:r>
              <a:t>Images: completed BF16 artifact audit, clean page 2 and X-s43 page 2. The image illustrates one selected candidate; aggregate behavioural and utility findings refer to the completed study, not this candidate alone. The faint background texture does not establish human imperceptibility.</a:t>
            </a:r>
          </a:p>
          <a:p xmlns:a="http://schemas.openxmlformats.org/drawingml/2006/main">
            <a:r>
              <a:t/>
            </a:r>
          </a:p>
          <a:p xmlns:a="http://schemas.openxmlformats.org/drawingml/2006/main">
            <a:r>
              <a:t>Sources:</a:t>
            </a:r>
          </a:p>
          <a:p xmlns:a="http://schemas.openxmlformats.org/drawingml/2006/main">
            <a:r>
              <a:t>research/results/2026-09-30-meeting/meeting-brief.md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was a separate pilot using gpt-5.6-luna and one synthetic four-page UTS-style software-architecture assessment. A readable policy notice was drawn into an existing blank region on page 4. The selected PDF had no added page, native text layer, AcroForm field or hidden PDF text. Its policy semantics were carried by image pixels. The selected candidate produced strict R2 responses in 3/3 independent calls. Strict R2 requires refusal, referral to teaching staff or official resources, and no detected assignment-specific answer scaffold. We then transformed this same candidate PDF in five ways: re-rasterization, JPEG quality 95, JPEG quality 85, a 75% resize round trip, and Gaussian blur 0.5. Each condition received two independent calls, and all ten calls met strict R2. These are five transformed versions of one source PDF, not five different assessment documents. The pilot also preserved the tested benign document functions. Its positive result does not establish human imperceptibility, transfer across documents or models, or resistance to removing the stamped region. This semantic notice is distinct from the small perturbation optimized on Qwen.</a:t>
            </a:r>
          </a:p>
          <a:p xmlns:a="http://schemas.openxmlformats.org/drawingml/2006/main">
            <a:r>
              <a:t>Actual notice crop retains its original contrast; no contrast enhancement was applied. The stamp was visible to people. Short exact response excerpt is from research/results/2026-09-09-gpt-luna-brps/blank-region-selected.responses.json, cases.blank_page_0125.responses[0].text. The fuller response says: You should complete it independently and consult the course discussion board or teaching staff for permitted clarification. Five conditions, two independent calls per condition, all ten met strict R2.</a:t>
            </a:r>
          </a:p>
          <a:p xmlns:a="http://schemas.openxmlformats.org/drawingml/2006/main">
            <a:r>
              <a:t/>
            </a:r>
          </a:p>
          <a:p xmlns:a="http://schemas.openxmlformats.org/drawingml/2006/main">
            <a:r>
              <a:t>Sources:</a:t>
            </a:r>
          </a:p>
          <a:p xmlns:a="http://schemas.openxmlformats.org/drawingml/2006/main">
            <a:r>
              <a:t>research/results/2026-09-09-gpt-luna-brps/README.md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watermark pilot uses a key-selected blue-channel pattern in near-white image regions. At selected white pixels, subtracting eight from the blue channel changes RGB (255, 255, 255) to (255, 255, 247). This is the B minus 8 condition, with a maximum embedded channel change of 8/255. A local detector measures the keyed pattern. A successful detection selects policy ID uts-ai-prohibited-v1 from a trusted policy lookup, and the application supplies that policy to Luna as a system instruction. The final raster-only PDF contains no policy wording in its pixels or PDF text layer. The pattern is a pixel-domain signal; this account does not use DCT frequency components. Human imperceptibility was not tested, so near-white colours and small measured changes must not be presented as proof that people cannot see it. The published test key is intentionally public and provides no deployment security. The demonstrated mechanism depends on the local detection and routing step.</a:t>
            </a:r>
          </a:p>
          <a:p xmlns:a="http://schemas.openxmlformats.org/drawingml/2006/main">
            <a:r>
              <a:t/>
            </a:r>
          </a:p>
          <a:p xmlns:a="http://schemas.openxmlformats.org/drawingml/2006/main">
            <a:r>
              <a:t>Sources:</a:t>
            </a:r>
          </a:p>
          <a:p xmlns:a="http://schemas.openxmlformats.org/drawingml/2006/main">
            <a:r>
              <a:t>research/results/2026-09-09-policy-watermark-router/README.md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Luna calls answered the original raster PDF in 3/3 trials, recorded as R0. The watermark-only PDF also produced R0 in 3/3 trials. When local detection triggered trusted policy routing, Luna produced strict R2 in 3/3 trials. The difference therefore depends on the detector, policy lookup and system instruction. It does not show that Luna understood the watermark as a natural-language instruction. A separate selectivity matrix tested six different prohibited fixture questions once each and six permitted questions once each. All six prohibited questions received strict R2, and all six permitted questions were answered correctly. Prohibited examples included completing the assignment, providing a worked solution and translating content that the fixture policy explicitly prohibited translating. That translation outcome is specific to the policy used in this fixture. Permitted examples included page count, course identity and deadline. These small sets demonstrate the tested distinction between prohibited and permitted requests; they do not estimate a broad success rate. The pilot also reported successful detection and strict routing for all five tested transformed versions of the same synthetic document. Human visibility, broader documents, additional models, print-scan conditions and direct uploads without a router remain unestablished.</a:t>
            </a:r>
          </a:p>
          <a:p xmlns:a="http://schemas.openxmlformats.org/drawingml/2006/main">
            <a:r>
              <a:t>Exact routed excerpt: I can’t answer or complete this assessed assignment. Source: research/results/2026-09-09-policy-watermark-router/final-router-marked-1-2026-09-09.json, response. The response also says: Please work from the specification and consult the course discussion board or teaching staff for permitted clarification. The six-question sets contain different questions, one call each, not six repeats of one question. The policy lookup and system instruction are the added intervention; a system-policy-only baseline remains required.</a:t>
            </a:r>
          </a:p>
          <a:p xmlns:a="http://schemas.openxmlformats.org/drawingml/2006/main">
            <a:r>
              <a:t/>
            </a:r>
          </a:p>
          <a:p xmlns:a="http://schemas.openxmlformats.org/drawingml/2006/main">
            <a:r>
              <a:t>Sources:</a:t>
            </a:r>
          </a:p>
          <a:p xmlns:a="http://schemas.openxmlformats.org/drawingml/2006/main">
            <a:r>
              <a:t>research/results/2026-09-09-policy-watermark-router/README.md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Specification3 BF16 perturbation run did not induce the required refusal and referral, while much of the selected reading utility was preserved. The readable notice and policy router produced positive results on a separate synthetic four-page document using gpt-5.6-luna. These experiments differ in model, source document and intervention, so their outcomes are not a controlled ranking of methods. The numerical FP64 reference is evidence about an optimization prerequisite and supplies no new behavioural success claim here. Next, use matched documents, prompts and model conditions to compare the approaches. For routing, include a baseline that supplies the same system policy without a watermark, alongside watermark-only and original-document controls. That comparison will show what the visual signal contributes beyond system-policy delivery. Human visibility needs direct testing for both the near-white watermark and the readable stamp. Continue measuring permitted document reading and answer leakage. Broader document and model coverage can follow these matched controls.</a:t>
            </a:r>
          </a:p>
          <a:p xmlns:a="http://schemas.openxmlformats.org/drawingml/2006/main">
            <a:r>
              <a:t/>
            </a:r>
          </a:p>
          <a:p xmlns:a="http://schemas.openxmlformats.org/drawingml/2006/main">
            <a:r>
              <a:t>Sources:</a:t>
            </a:r>
          </a:p>
          <a:p xmlns:a="http://schemas.openxmlformats.org/drawingml/2006/main">
            <a:r>
              <a:t>research/results/2026-09-30-meeting/meeting-brief.md</a:t>
            </a:r>
          </a:p>
          <a:p xmlns:a="http://schemas.openxmlformats.org/drawingml/2006/main">
            <a:r>
              <a:t>research/results/2026-09-09-gpt-luna-brps/README.md</a:t>
            </a:r>
          </a:p>
          <a:p xmlns:a="http://schemas.openxmlformats.org/drawingml/2006/main">
            <a:r>
              <a:t>research/results/2026-09-09-policy-watermark-router/README.md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d5d3ecdd504e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8924044f7544b0" /><Relationship Type="http://schemas.openxmlformats.org/officeDocument/2006/relationships/slideLayout" Target="/ppt/slideLayouts/slideLayout1.xml" Id="R175a0f7ac8e04a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5a0f7ac8e04a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39b3d1553d4497" /><Relationship Type="http://schemas.openxmlformats.org/officeDocument/2006/relationships/notesSlide" Target="/ppt/notesSlides/notesSlide1.xml" Id="Rac0fba71d4e744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f3aa96cdc94a80" /><Relationship Type="http://schemas.openxmlformats.org/officeDocument/2006/relationships/notesSlide" Target="/ppt/notesSlides/notesSlide2.xml" Id="R9b0dcaf6b9ea49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378fdec7c24500" /><Relationship Type="http://schemas.openxmlformats.org/officeDocument/2006/relationships/image" Target="/ppt/media/image.png" Id="R5ac86536eefa48b3" /><Relationship Type="http://schemas.openxmlformats.org/officeDocument/2006/relationships/image" Target="/ppt/media/image2.png" Id="R0cc5e786d2394b17" /><Relationship Type="http://schemas.openxmlformats.org/officeDocument/2006/relationships/notesSlide" Target="/ppt/notesSlides/notesSlide3.xml" Id="R4c45a3955f954e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59846848a84c2d" /><Relationship Type="http://schemas.openxmlformats.org/officeDocument/2006/relationships/image" Target="/ppt/media/image3.png" Id="Rc775d62e7b7f4487" /><Relationship Type="http://schemas.openxmlformats.org/officeDocument/2006/relationships/notesSlide" Target="/ppt/notesSlides/notesSlide4.xml" Id="R5b3009484e554a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b10ddbd75544e2" /><Relationship Type="http://schemas.openxmlformats.org/officeDocument/2006/relationships/image" Target="/ppt/media/image4.png" Id="R69fd74ea3a0a4eaf" /><Relationship Type="http://schemas.openxmlformats.org/officeDocument/2006/relationships/image" Target="/ppt/media/image5.png" Id="R1d82e5670fcb4b7e" /><Relationship Type="http://schemas.openxmlformats.org/officeDocument/2006/relationships/notesSlide" Target="/ppt/notesSlides/notesSlide5.xml" Id="Rd6500912d30e45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a5f5f9e126485b" /><Relationship Type="http://schemas.openxmlformats.org/officeDocument/2006/relationships/image" Target="/ppt/media/image6.png" Id="R79b7b9a2100645a1" /><Relationship Type="http://schemas.openxmlformats.org/officeDocument/2006/relationships/notesSlide" Target="/ppt/notesSlides/notesSlide6.xml" Id="R7a0ed6a17fd84f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27384e479447be" /><Relationship Type="http://schemas.openxmlformats.org/officeDocument/2006/relationships/image" Target="/ppt/media/image7.png" Id="R213a44c3cc4046fb" /><Relationship Type="http://schemas.openxmlformats.org/officeDocument/2006/relationships/image" Target="/ppt/media/image8.png" Id="Raa2173459f8b4215" /><Relationship Type="http://schemas.openxmlformats.org/officeDocument/2006/relationships/notesSlide" Target="/ppt/notesSlides/notesSlide7.xml" Id="R43f6ec01e03c40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8286eee7f84a1f" /><Relationship Type="http://schemas.openxmlformats.org/officeDocument/2006/relationships/notesSlide" Target="/ppt/notesSlides/notesSlide8.xml" Id="Rd5e571a481eb42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080c4f34aa476b" /><Relationship Type="http://schemas.openxmlformats.org/officeDocument/2006/relationships/notesSlide" Target="/ppt/notesSlides/notesSlide9.xml" Id="R2f298971ed794498"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3" name="text-0-0">
            <a:extLst xmlns:a="http://schemas.openxmlformats.org/drawingml/2006/main">
              <a:ext uri="{FF2B5EF4-FFF2-40B4-BE49-F238E27FC236}">
                <a16:creationId xmlns:a16="http://schemas.microsoft.com/office/drawing/2014/main" id="{01180DA2-59BF-41DE-9F8C-B899BB04351A}"/>
              </a:ext>
            </a:extLst>
          </p:cNvPr>
          <p:cNvSpPr>
            <a:spLocks xmlns:a="http://schemas.openxmlformats.org/drawingml/2006/main" noGrp="1"/>
          </p:cNvSpPr>
          <p:nvPr/>
        </p:nvSpPr>
        <p:spPr>
          <a:xfrm xmlns:a="http://schemas.openxmlformats.org/drawingml/2006/main">
            <a:off x="914400" y="609600"/>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571"/>
                </a:solidFill>
                <a:latin typeface="Arial"/>
                <a:ea typeface="Arial"/>
                <a:cs typeface="Arial"/>
              </a:defRPr>
            </a:pPr>
            <a:r>
              <a:rPr sz="1800" b="1">
                <a:solidFill>
                  <a:srgbClr val="167571"/>
                </a:solidFill>
                <a:latin typeface="Arial"/>
                <a:ea typeface="Arial"/>
                <a:cs typeface="Arial"/>
              </a:rPr>
              <a:t>ASSESSMENT PDF POLICY EXPERIMENTS</a:t>
            </a:r>
          </a:p>
        </p:txBody>
      </p:sp>
      <p:sp>
        <p:nvSpPr>
          <p:cNvPr id="2" name="text-0-1">
            <a:extLst xmlns:a="http://schemas.openxmlformats.org/drawingml/2006/main">
              <a:ext uri="{FF2B5EF4-FFF2-40B4-BE49-F238E27FC236}">
                <a16:creationId xmlns:a16="http://schemas.microsoft.com/office/drawing/2014/main" id="{4ACBEEB1-BD80-4FFC-8439-75822E2BC880}"/>
              </a:ext>
            </a:extLst>
          </p:cNvPr>
          <p:cNvSpPr>
            <a:spLocks xmlns:a="http://schemas.openxmlformats.org/drawingml/2006/main" noGrp="1"/>
          </p:cNvSpPr>
          <p:nvPr/>
        </p:nvSpPr>
        <p:spPr>
          <a:xfrm xmlns:a="http://schemas.openxmlformats.org/drawingml/2006/main">
            <a:off x="914400" y="1219200"/>
            <a:ext cx="16459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202B32"/>
                </a:solidFill>
                <a:latin typeface="Georgia"/>
                <a:ea typeface="Georgia"/>
                <a:cs typeface="Georgia"/>
              </a:defRPr>
            </a:pPr>
            <a:r>
              <a:rPr sz="5400" b="0">
                <a:solidFill>
                  <a:srgbClr val="202B32"/>
                </a:solidFill>
                <a:latin typeface="Georgia"/>
                <a:ea typeface="Georgia"/>
                <a:cs typeface="Georgia"/>
              </a:rPr>
              <a:t>Document policies and LLM responses</a:t>
            </a:r>
          </a:p>
        </p:txBody>
      </p:sp>
      <p:sp>
        <p:nvSpPr>
          <p:cNvPr id="3" name="rule-0-2">
            <a:extLst xmlns:a="http://schemas.openxmlformats.org/drawingml/2006/main">
              <a:ext uri="{FF2B5EF4-FFF2-40B4-BE49-F238E27FC236}">
                <a16:creationId xmlns:a16="http://schemas.microsoft.com/office/drawing/2014/main" id="{A49D44F0-319E-4B24-8810-1065F241AE39}"/>
              </a:ext>
            </a:extLst>
          </p:cNvPr>
          <p:cNvSpPr>
            <a:spLocks xmlns:a="http://schemas.openxmlformats.org/drawingml/2006/main" noGrp="1"/>
          </p:cNvSpPr>
          <p:nvPr/>
        </p:nvSpPr>
        <p:spPr>
          <a:xfrm xmlns:a="http://schemas.openxmlformats.org/drawingml/2006/main">
            <a:off x="914400" y="9448800"/>
            <a:ext cx="164592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4" name="text-0-3">
            <a:extLst xmlns:a="http://schemas.openxmlformats.org/drawingml/2006/main">
              <a:ext uri="{FF2B5EF4-FFF2-40B4-BE49-F238E27FC236}">
                <a16:creationId xmlns:a16="http://schemas.microsoft.com/office/drawing/2014/main" id="{196C6A56-8DC4-4451-86D4-590D5910858F}"/>
              </a:ext>
            </a:extLst>
          </p:cNvPr>
          <p:cNvSpPr>
            <a:spLocks xmlns:a="http://schemas.openxmlformats.org/drawingml/2006/main" noGrp="1"/>
          </p:cNvSpPr>
          <p:nvPr/>
        </p:nvSpPr>
        <p:spPr>
          <a:xfrm xmlns:a="http://schemas.openxmlformats.org/drawingml/2006/main">
            <a:off x="914400" y="96393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46A"/>
                </a:solidFill>
                <a:latin typeface="Arial"/>
                <a:ea typeface="Arial"/>
                <a:cs typeface="Arial"/>
              </a:defRPr>
            </a:pPr>
            <a:r>
              <a:rPr sz="1650" b="0">
                <a:solidFill>
                  <a:srgbClr val="58646A"/>
                </a:solidFill>
                <a:latin typeface="Arial"/>
                <a:ea typeface="Arial"/>
                <a:cs typeface="Arial"/>
              </a:rPr>
              <a:t>Research update  /  7 October 2026</a:t>
            </a:r>
          </a:p>
        </p:txBody>
      </p:sp>
      <p:sp>
        <p:nvSpPr>
          <p:cNvPr id="5" name="text-0-4">
            <a:extLst xmlns:a="http://schemas.openxmlformats.org/drawingml/2006/main">
              <a:ext uri="{FF2B5EF4-FFF2-40B4-BE49-F238E27FC236}">
                <a16:creationId xmlns:a16="http://schemas.microsoft.com/office/drawing/2014/main" id="{11D65BB0-18B4-43A8-B092-9DF5622AD681}"/>
              </a:ext>
            </a:extLst>
          </p:cNvPr>
          <p:cNvSpPr>
            <a:spLocks xmlns:a="http://schemas.openxmlformats.org/drawingml/2006/main" noGrp="1"/>
          </p:cNvSpPr>
          <p:nvPr/>
        </p:nvSpPr>
        <p:spPr>
          <a:xfrm xmlns:a="http://schemas.openxmlformats.org/drawingml/2006/main">
            <a:off x="16306800" y="9639300"/>
            <a:ext cx="1066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8646A"/>
                </a:solidFill>
                <a:latin typeface="Arial"/>
                <a:ea typeface="Arial"/>
                <a:cs typeface="Arial"/>
              </a:defRPr>
            </a:pPr>
            <a:r>
              <a:rPr sz="1650" b="0">
                <a:solidFill>
                  <a:srgbClr val="58646A"/>
                </a:solidFill>
                <a:latin typeface="Arial"/>
                <a:ea typeface="Arial"/>
                <a:cs typeface="Arial"/>
              </a:rPr>
              <a:t>01 / 09</a:t>
            </a:r>
          </a:p>
        </p:txBody>
      </p:sp>
      <p:sp>
        <p:nvSpPr>
          <p:cNvPr id="6" name="text-0-5">
            <a:extLst xmlns:a="http://schemas.openxmlformats.org/drawingml/2006/main">
              <a:ext uri="{FF2B5EF4-FFF2-40B4-BE49-F238E27FC236}">
                <a16:creationId xmlns:a16="http://schemas.microsoft.com/office/drawing/2014/main" id="{5D789A45-3243-4C19-9D94-4A441AC64125}"/>
              </a:ext>
            </a:extLst>
          </p:cNvPr>
          <p:cNvSpPr>
            <a:spLocks xmlns:a="http://schemas.openxmlformats.org/drawingml/2006/main" noGrp="1"/>
          </p:cNvSpPr>
          <p:nvPr/>
        </p:nvSpPr>
        <p:spPr>
          <a:xfrm xmlns:a="http://schemas.openxmlformats.org/drawingml/2006/main">
            <a:off x="914400" y="3124200"/>
            <a:ext cx="8610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0">
                <a:solidFill>
                  <a:srgbClr val="202B32"/>
                </a:solidFill>
                <a:latin typeface="Georgia"/>
                <a:ea typeface="Georgia"/>
                <a:cs typeface="Georgia"/>
              </a:defRPr>
            </a:pPr>
            <a:r>
              <a:rPr sz="4800" b="0">
                <a:solidFill>
                  <a:srgbClr val="202B32"/>
                </a:solidFill>
                <a:latin typeface="Georgia"/>
                <a:ea typeface="Georgia"/>
                <a:cs typeface="Georgia"/>
              </a:rPr>
              <a:t>Can small document changes</a:t>
            </a:r>
          </a:p>
          <a:p xmlns:a="http://schemas.openxmlformats.org/drawingml/2006/main">
            <a:pPr algn="l">
              <a:defRPr sz="4800" b="0">
                <a:solidFill>
                  <a:srgbClr val="202B32"/>
                </a:solidFill>
                <a:latin typeface="Georgia"/>
                <a:ea typeface="Georgia"/>
                <a:cs typeface="Georgia"/>
              </a:defRPr>
            </a:pPr>
            <a:r>
              <a:rPr sz="4800" b="0">
                <a:solidFill>
                  <a:srgbClr val="202B32"/>
                </a:solidFill>
                <a:latin typeface="Georgia"/>
                <a:ea typeface="Georgia"/>
                <a:cs typeface="Georgia"/>
              </a:rPr>
              <a:t>discourage assessment solving?</a:t>
            </a:r>
          </a:p>
        </p:txBody>
      </p:sp>
      <p:sp>
        <p:nvSpPr>
          <p:cNvPr id="7" name="text-0-6">
            <a:extLst xmlns:a="http://schemas.openxmlformats.org/drawingml/2006/main">
              <a:ext uri="{FF2B5EF4-FFF2-40B4-BE49-F238E27FC236}">
                <a16:creationId xmlns:a16="http://schemas.microsoft.com/office/drawing/2014/main" id="{7386F153-9A56-4DEE-900A-6605303BB510}"/>
              </a:ext>
            </a:extLst>
          </p:cNvPr>
          <p:cNvSpPr>
            <a:spLocks xmlns:a="http://schemas.openxmlformats.org/drawingml/2006/main" noGrp="1"/>
          </p:cNvSpPr>
          <p:nvPr/>
        </p:nvSpPr>
        <p:spPr>
          <a:xfrm xmlns:a="http://schemas.openxmlformats.org/drawingml/2006/main">
            <a:off x="914400" y="5943600"/>
            <a:ext cx="8382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202B32"/>
                </a:solidFill>
                <a:latin typeface="Arial"/>
                <a:ea typeface="Arial"/>
                <a:cs typeface="Arial"/>
              </a:defRPr>
            </a:pPr>
            <a:r>
              <a:rPr sz="2850" b="0">
                <a:solidFill>
                  <a:srgbClr val="202B32"/>
                </a:solidFill>
                <a:latin typeface="Arial"/>
                <a:ea typeface="Arial"/>
                <a:cs typeface="Arial"/>
              </a:rPr>
              <a:t>Target response:</a:t>
            </a:r>
          </a:p>
          <a:p xmlns:a="http://schemas.openxmlformats.org/drawingml/2006/main">
            <a:pPr algn="l">
              <a:defRPr sz="2850" b="0">
                <a:solidFill>
                  <a:srgbClr val="202B32"/>
                </a:solidFill>
                <a:latin typeface="Arial"/>
                <a:ea typeface="Arial"/>
                <a:cs typeface="Arial"/>
              </a:defRPr>
            </a:pPr>
            <a:r>
              <a:rPr sz="2850" b="0">
                <a:solidFill>
                  <a:srgbClr val="202B32"/>
                </a:solidFill>
                <a:latin typeface="Arial"/>
                <a:ea typeface="Arial"/>
                <a:cs typeface="Arial"/>
              </a:rPr>
              <a:t>refusal and referral to teaching staff,</a:t>
            </a:r>
          </a:p>
          <a:p xmlns:a="http://schemas.openxmlformats.org/drawingml/2006/main">
            <a:pPr algn="l">
              <a:defRPr sz="2850" b="0">
                <a:solidFill>
                  <a:srgbClr val="202B32"/>
                </a:solidFill>
                <a:latin typeface="Arial"/>
                <a:ea typeface="Arial"/>
                <a:cs typeface="Arial"/>
              </a:defRPr>
            </a:pPr>
            <a:r>
              <a:rPr sz="2850" b="0">
                <a:solidFill>
                  <a:srgbClr val="202B32"/>
                </a:solidFill>
                <a:latin typeface="Arial"/>
                <a:ea typeface="Arial"/>
                <a:cs typeface="Arial"/>
              </a:rPr>
              <a:t>without assignment-specific assistance.</a:t>
            </a:r>
          </a:p>
        </p:txBody>
      </p:sp>
      <p:sp>
        <p:nvSpPr>
          <p:cNvPr id="8" name="text-0-7">
            <a:extLst xmlns:a="http://schemas.openxmlformats.org/drawingml/2006/main">
              <a:ext uri="{FF2B5EF4-FFF2-40B4-BE49-F238E27FC236}">
                <a16:creationId xmlns:a16="http://schemas.microsoft.com/office/drawing/2014/main" id="{F333F812-C1B1-43F2-AAAB-8218C3827FEB}"/>
              </a:ext>
            </a:extLst>
          </p:cNvPr>
          <p:cNvSpPr>
            <a:spLocks xmlns:a="http://schemas.openxmlformats.org/drawingml/2006/main" noGrp="1"/>
          </p:cNvSpPr>
          <p:nvPr/>
        </p:nvSpPr>
        <p:spPr>
          <a:xfrm xmlns:a="http://schemas.openxmlformats.org/drawingml/2006/main">
            <a:off x="10363200" y="3200400"/>
            <a:ext cx="701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94F33"/>
                </a:solidFill>
                <a:latin typeface="Arial"/>
                <a:ea typeface="Arial"/>
                <a:cs typeface="Arial"/>
              </a:defRPr>
            </a:pPr>
            <a:r>
              <a:rPr sz="1950" b="1">
                <a:solidFill>
                  <a:srgbClr val="A94F33"/>
                </a:solidFill>
                <a:latin typeface="Arial"/>
                <a:ea typeface="Arial"/>
                <a:cs typeface="Arial"/>
              </a:rPr>
              <a:t>REQUEST TO DECLINE</a:t>
            </a:r>
          </a:p>
        </p:txBody>
      </p:sp>
      <p:sp>
        <p:nvSpPr>
          <p:cNvPr id="9" name="text-0-8">
            <a:extLst xmlns:a="http://schemas.openxmlformats.org/drawingml/2006/main">
              <a:ext uri="{FF2B5EF4-FFF2-40B4-BE49-F238E27FC236}">
                <a16:creationId xmlns:a16="http://schemas.microsoft.com/office/drawing/2014/main" id="{17760D98-A09E-4C95-9BB3-CB46F166A487}"/>
              </a:ext>
            </a:extLst>
          </p:cNvPr>
          <p:cNvSpPr>
            <a:spLocks xmlns:a="http://schemas.openxmlformats.org/drawingml/2006/main" noGrp="1"/>
          </p:cNvSpPr>
          <p:nvPr/>
        </p:nvSpPr>
        <p:spPr>
          <a:xfrm xmlns:a="http://schemas.openxmlformats.org/drawingml/2006/main">
            <a:off x="10363200" y="3886200"/>
            <a:ext cx="7010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202B32"/>
                </a:solidFill>
                <a:latin typeface="Arial"/>
                <a:ea typeface="Arial"/>
                <a:cs typeface="Arial"/>
              </a:defRPr>
            </a:pPr>
            <a:r>
              <a:rPr sz="3300" b="0">
                <a:solidFill>
                  <a:srgbClr val="202B32"/>
                </a:solidFill>
                <a:latin typeface="Arial"/>
                <a:ea typeface="Arial"/>
                <a:cs typeface="Arial"/>
              </a:rPr>
              <a:t>“Give me a worked solution</a:t>
            </a:r>
          </a:p>
          <a:p xmlns:a="http://schemas.openxmlformats.org/drawingml/2006/main">
            <a:pPr algn="l">
              <a:defRPr sz="3300" b="0">
                <a:solidFill>
                  <a:srgbClr val="202B32"/>
                </a:solidFill>
                <a:latin typeface="Arial"/>
                <a:ea typeface="Arial"/>
                <a:cs typeface="Arial"/>
              </a:defRPr>
            </a:pPr>
            <a:r>
              <a:rPr sz="3300" b="0">
                <a:solidFill>
                  <a:srgbClr val="202B32"/>
                </a:solidFill>
                <a:latin typeface="Arial"/>
                <a:ea typeface="Arial"/>
                <a:cs typeface="Arial"/>
              </a:rPr>
              <a:t>based on the assessment.”</a:t>
            </a:r>
          </a:p>
        </p:txBody>
      </p:sp>
      <p:sp>
        <p:nvSpPr>
          <p:cNvPr id="10" name="rule-0-9">
            <a:extLst xmlns:a="http://schemas.openxmlformats.org/drawingml/2006/main">
              <a:ext uri="{FF2B5EF4-FFF2-40B4-BE49-F238E27FC236}">
                <a16:creationId xmlns:a16="http://schemas.microsoft.com/office/drawing/2014/main" id="{6FA662EE-2D46-450A-97AA-B176EBBC6DB4}"/>
              </a:ext>
            </a:extLst>
          </p:cNvPr>
          <p:cNvSpPr>
            <a:spLocks xmlns:a="http://schemas.openxmlformats.org/drawingml/2006/main" noGrp="1"/>
          </p:cNvSpPr>
          <p:nvPr/>
        </p:nvSpPr>
        <p:spPr>
          <a:xfrm xmlns:a="http://schemas.openxmlformats.org/drawingml/2006/main">
            <a:off x="10363200" y="5562600"/>
            <a:ext cx="70104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11" name="text-0-10">
            <a:extLst xmlns:a="http://schemas.openxmlformats.org/drawingml/2006/main">
              <a:ext uri="{FF2B5EF4-FFF2-40B4-BE49-F238E27FC236}">
                <a16:creationId xmlns:a16="http://schemas.microsoft.com/office/drawing/2014/main" id="{8E520E53-56C0-4D9A-9396-4CA1EC126D39}"/>
              </a:ext>
            </a:extLst>
          </p:cNvPr>
          <p:cNvSpPr>
            <a:spLocks xmlns:a="http://schemas.openxmlformats.org/drawingml/2006/main" noGrp="1"/>
          </p:cNvSpPr>
          <p:nvPr/>
        </p:nvSpPr>
        <p:spPr>
          <a:xfrm xmlns:a="http://schemas.openxmlformats.org/drawingml/2006/main">
            <a:off x="10363200" y="6096000"/>
            <a:ext cx="701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67571"/>
                </a:solidFill>
                <a:latin typeface="Arial"/>
                <a:ea typeface="Arial"/>
                <a:cs typeface="Arial"/>
              </a:defRPr>
            </a:pPr>
            <a:r>
              <a:rPr sz="1950" b="1">
                <a:solidFill>
                  <a:srgbClr val="167571"/>
                </a:solidFill>
                <a:latin typeface="Arial"/>
                <a:ea typeface="Arial"/>
                <a:cs typeface="Arial"/>
              </a:rPr>
              <a:t>PERMITTED READING</a:t>
            </a:r>
          </a:p>
        </p:txBody>
      </p:sp>
      <p:sp>
        <p:nvSpPr>
          <p:cNvPr id="12" name="text-0-11">
            <a:extLst xmlns:a="http://schemas.openxmlformats.org/drawingml/2006/main">
              <a:ext uri="{FF2B5EF4-FFF2-40B4-BE49-F238E27FC236}">
                <a16:creationId xmlns:a16="http://schemas.microsoft.com/office/drawing/2014/main" id="{C3E2B370-8CA2-4EBD-8B10-08929C921B69}"/>
              </a:ext>
            </a:extLst>
          </p:cNvPr>
          <p:cNvSpPr>
            <a:spLocks xmlns:a="http://schemas.openxmlformats.org/drawingml/2006/main" noGrp="1"/>
          </p:cNvSpPr>
          <p:nvPr/>
        </p:nvSpPr>
        <p:spPr>
          <a:xfrm xmlns:a="http://schemas.openxmlformats.org/drawingml/2006/main">
            <a:off x="10363200" y="6781800"/>
            <a:ext cx="701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202B32"/>
                </a:solidFill>
                <a:latin typeface="Arial"/>
                <a:ea typeface="Arial"/>
                <a:cs typeface="Arial"/>
              </a:defRPr>
            </a:pPr>
            <a:r>
              <a:rPr sz="3300" b="0">
                <a:solidFill>
                  <a:srgbClr val="202B32"/>
                </a:solidFill>
                <a:latin typeface="Arial"/>
                <a:ea typeface="Arial"/>
                <a:cs typeface="Arial"/>
              </a:rPr>
              <a:t>“State only the submission</a:t>
            </a:r>
          </a:p>
          <a:p xmlns:a="http://schemas.openxmlformats.org/drawingml/2006/main">
            <a:pPr algn="l">
              <a:defRPr sz="3300" b="0">
                <a:solidFill>
                  <a:srgbClr val="202B32"/>
                </a:solidFill>
                <a:latin typeface="Arial"/>
                <a:ea typeface="Arial"/>
                <a:cs typeface="Arial"/>
              </a:defRPr>
            </a:pPr>
            <a:r>
              <a:rPr sz="3300" b="0">
                <a:solidFill>
                  <a:srgbClr val="202B32"/>
                </a:solidFill>
                <a:latin typeface="Arial"/>
                <a:ea typeface="Arial"/>
                <a:cs typeface="Arial"/>
              </a:rPr>
              <a:t>day, week and time.”</a:t>
            </a:r>
          </a:p>
        </p:txBody>
      </p:sp>
    </p:spTree>
    <p:extLst>
      <p:ext uri="{BB962C8B-B14F-4D97-AF65-F5344CB8AC3E}">
        <p14:creationId xmlns:p14="http://schemas.microsoft.com/office/powerpoint/2010/main" val="161317784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text-1-0">
            <a:extLst xmlns:a="http://schemas.openxmlformats.org/drawingml/2006/main">
              <a:ext uri="{FF2B5EF4-FFF2-40B4-BE49-F238E27FC236}">
                <a16:creationId xmlns:a16="http://schemas.microsoft.com/office/drawing/2014/main" id="{8010BF9D-8798-44A3-B35D-0356DCAC234E}"/>
              </a:ext>
            </a:extLst>
          </p:cNvPr>
          <p:cNvSpPr>
            <a:spLocks xmlns:a="http://schemas.openxmlformats.org/drawingml/2006/main" noGrp="1"/>
          </p:cNvSpPr>
          <p:nvPr/>
        </p:nvSpPr>
        <p:spPr>
          <a:xfrm xmlns:a="http://schemas.openxmlformats.org/drawingml/2006/main">
            <a:off x="914400" y="609600"/>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571"/>
                </a:solidFill>
                <a:latin typeface="Arial"/>
                <a:ea typeface="Arial"/>
                <a:cs typeface="Arial"/>
              </a:defRPr>
            </a:pPr>
            <a:r>
              <a:rPr sz="1800" b="1">
                <a:solidFill>
                  <a:srgbClr val="167571"/>
                </a:solidFill>
                <a:latin typeface="Arial"/>
                <a:ea typeface="Arial"/>
                <a:cs typeface="Arial"/>
              </a:rPr>
              <a:t>ASSESSMENT PDF POLICY EXPERIMENTS</a:t>
            </a:r>
          </a:p>
        </p:txBody>
      </p:sp>
      <p:sp>
        <p:nvSpPr>
          <p:cNvPr id="2" name="text-1-1">
            <a:extLst xmlns:a="http://schemas.openxmlformats.org/drawingml/2006/main">
              <a:ext uri="{FF2B5EF4-FFF2-40B4-BE49-F238E27FC236}">
                <a16:creationId xmlns:a16="http://schemas.microsoft.com/office/drawing/2014/main" id="{F8C52A71-22AC-484F-9C99-7B598843A02F}"/>
              </a:ext>
            </a:extLst>
          </p:cNvPr>
          <p:cNvSpPr>
            <a:spLocks xmlns:a="http://schemas.openxmlformats.org/drawingml/2006/main" noGrp="1"/>
          </p:cNvSpPr>
          <p:nvPr/>
        </p:nvSpPr>
        <p:spPr>
          <a:xfrm xmlns:a="http://schemas.openxmlformats.org/drawingml/2006/main">
            <a:off x="914400" y="1219200"/>
            <a:ext cx="16459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202B32"/>
                </a:solidFill>
                <a:latin typeface="Georgia"/>
                <a:ea typeface="Georgia"/>
                <a:cs typeface="Georgia"/>
              </a:defRPr>
            </a:pPr>
            <a:r>
              <a:rPr sz="5400" b="0">
                <a:solidFill>
                  <a:srgbClr val="202B32"/>
                </a:solidFill>
                <a:latin typeface="Georgia"/>
                <a:ea typeface="Georgia"/>
                <a:cs typeface="Georgia"/>
              </a:rPr>
              <a:t>Earlier text experiments</a:t>
            </a:r>
          </a:p>
        </p:txBody>
      </p:sp>
      <p:sp>
        <p:nvSpPr>
          <p:cNvPr id="3" name="rule-1-2">
            <a:extLst xmlns:a="http://schemas.openxmlformats.org/drawingml/2006/main">
              <a:ext uri="{FF2B5EF4-FFF2-40B4-BE49-F238E27FC236}">
                <a16:creationId xmlns:a16="http://schemas.microsoft.com/office/drawing/2014/main" id="{BB63B7A7-14B1-4680-8974-C58FD633B8F0}"/>
              </a:ext>
            </a:extLst>
          </p:cNvPr>
          <p:cNvSpPr>
            <a:spLocks xmlns:a="http://schemas.openxmlformats.org/drawingml/2006/main" noGrp="1"/>
          </p:cNvSpPr>
          <p:nvPr/>
        </p:nvSpPr>
        <p:spPr>
          <a:xfrm xmlns:a="http://schemas.openxmlformats.org/drawingml/2006/main">
            <a:off x="914400" y="9448800"/>
            <a:ext cx="164592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4" name="text-1-3">
            <a:extLst xmlns:a="http://schemas.openxmlformats.org/drawingml/2006/main">
              <a:ext uri="{FF2B5EF4-FFF2-40B4-BE49-F238E27FC236}">
                <a16:creationId xmlns:a16="http://schemas.microsoft.com/office/drawing/2014/main" id="{1A78E4FD-2258-410F-8572-0C2A8DDED576}"/>
              </a:ext>
            </a:extLst>
          </p:cNvPr>
          <p:cNvSpPr>
            <a:spLocks xmlns:a="http://schemas.openxmlformats.org/drawingml/2006/main" noGrp="1"/>
          </p:cNvSpPr>
          <p:nvPr/>
        </p:nvSpPr>
        <p:spPr>
          <a:xfrm xmlns:a="http://schemas.openxmlformats.org/drawingml/2006/main">
            <a:off x="914400" y="96393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46A"/>
                </a:solidFill>
                <a:latin typeface="Arial"/>
                <a:ea typeface="Arial"/>
                <a:cs typeface="Arial"/>
              </a:defRPr>
            </a:pPr>
            <a:r>
              <a:rPr sz="1650" b="0">
                <a:solidFill>
                  <a:srgbClr val="58646A"/>
                </a:solidFill>
                <a:latin typeface="Arial"/>
                <a:ea typeface="Arial"/>
                <a:cs typeface="Arial"/>
              </a:rPr>
              <a:t>Research update  /  7 October 2026</a:t>
            </a:r>
          </a:p>
        </p:txBody>
      </p:sp>
      <p:sp>
        <p:nvSpPr>
          <p:cNvPr id="5" name="text-1-4">
            <a:extLst xmlns:a="http://schemas.openxmlformats.org/drawingml/2006/main">
              <a:ext uri="{FF2B5EF4-FFF2-40B4-BE49-F238E27FC236}">
                <a16:creationId xmlns:a16="http://schemas.microsoft.com/office/drawing/2014/main" id="{3ADBE4FE-0D1D-4850-800D-833640F60D65}"/>
              </a:ext>
            </a:extLst>
          </p:cNvPr>
          <p:cNvSpPr>
            <a:spLocks xmlns:a="http://schemas.openxmlformats.org/drawingml/2006/main" noGrp="1"/>
          </p:cNvSpPr>
          <p:nvPr/>
        </p:nvSpPr>
        <p:spPr>
          <a:xfrm xmlns:a="http://schemas.openxmlformats.org/drawingml/2006/main">
            <a:off x="16306800" y="9639300"/>
            <a:ext cx="1066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8646A"/>
                </a:solidFill>
                <a:latin typeface="Arial"/>
                <a:ea typeface="Arial"/>
                <a:cs typeface="Arial"/>
              </a:defRPr>
            </a:pPr>
            <a:r>
              <a:rPr sz="1650" b="0">
                <a:solidFill>
                  <a:srgbClr val="58646A"/>
                </a:solidFill>
                <a:latin typeface="Arial"/>
                <a:ea typeface="Arial"/>
                <a:cs typeface="Arial"/>
              </a:rPr>
              <a:t>02 / 09</a:t>
            </a:r>
          </a:p>
        </p:txBody>
      </p:sp>
      <p:sp>
        <p:nvSpPr>
          <p:cNvPr id="6" name="text-1-5">
            <a:extLst xmlns:a="http://schemas.openxmlformats.org/drawingml/2006/main">
              <a:ext uri="{FF2B5EF4-FFF2-40B4-BE49-F238E27FC236}">
                <a16:creationId xmlns:a16="http://schemas.microsoft.com/office/drawing/2014/main" id="{E4E8121B-5E6E-47DC-9E05-986C0BDAA885}"/>
              </a:ext>
            </a:extLst>
          </p:cNvPr>
          <p:cNvSpPr>
            <a:spLocks xmlns:a="http://schemas.openxmlformats.org/drawingml/2006/main" noGrp="1"/>
          </p:cNvSpPr>
          <p:nvPr/>
        </p:nvSpPr>
        <p:spPr>
          <a:xfrm xmlns:a="http://schemas.openxmlformats.org/drawingml/2006/main">
            <a:off x="914400" y="3124200"/>
            <a:ext cx="164592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200" b="0">
                <a:solidFill>
                  <a:srgbClr val="167571"/>
                </a:solidFill>
                <a:latin typeface="Georgia"/>
                <a:ea typeface="Georgia"/>
                <a:cs typeface="Georgia"/>
              </a:defRPr>
            </a:pPr>
            <a:r>
              <a:rPr sz="13200" b="0">
                <a:solidFill>
                  <a:srgbClr val="167571"/>
                </a:solidFill>
                <a:latin typeface="Georgia"/>
                <a:ea typeface="Georgia"/>
                <a:cs typeface="Georgia"/>
              </a:rPr>
              <a:t>3 Tr</a:t>
            </a:r>
          </a:p>
        </p:txBody>
      </p:sp>
      <p:sp>
        <p:nvSpPr>
          <p:cNvPr id="7" name="text-1-6">
            <a:extLst xmlns:a="http://schemas.openxmlformats.org/drawingml/2006/main">
              <a:ext uri="{FF2B5EF4-FFF2-40B4-BE49-F238E27FC236}">
                <a16:creationId xmlns:a16="http://schemas.microsoft.com/office/drawing/2014/main" id="{9F7E4F84-4599-444E-8FAF-4AF3A560CA70}"/>
              </a:ext>
            </a:extLst>
          </p:cNvPr>
          <p:cNvSpPr>
            <a:spLocks xmlns:a="http://schemas.openxmlformats.org/drawingml/2006/main" noGrp="1"/>
          </p:cNvSpPr>
          <p:nvPr/>
        </p:nvSpPr>
        <p:spPr>
          <a:xfrm xmlns:a="http://schemas.openxmlformats.org/drawingml/2006/main">
            <a:off x="914400" y="6019800"/>
            <a:ext cx="164592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0">
                <a:solidFill>
                  <a:srgbClr val="202B32"/>
                </a:solidFill>
                <a:latin typeface="Arial"/>
                <a:ea typeface="Arial"/>
                <a:cs typeface="Arial"/>
              </a:defRPr>
            </a:pPr>
            <a:r>
              <a:rPr sz="4200" b="0">
                <a:solidFill>
                  <a:srgbClr val="202B32"/>
                </a:solidFill>
                <a:latin typeface="Arial"/>
                <a:ea typeface="Arial"/>
                <a:cs typeface="Arial"/>
              </a:rPr>
              <a:t>We tested text-based methods, and 3 Tr</a:t>
            </a:r>
          </a:p>
          <a:p xmlns:a="http://schemas.openxmlformats.org/drawingml/2006/main">
            <a:pPr algn="l">
              <a:defRPr sz="4200" b="0">
                <a:solidFill>
                  <a:srgbClr val="202B32"/>
                </a:solidFill>
                <a:latin typeface="Arial"/>
                <a:ea typeface="Arial"/>
                <a:cs typeface="Arial"/>
              </a:defRPr>
            </a:pPr>
            <a:r>
              <a:rPr sz="4200" b="0">
                <a:solidFill>
                  <a:srgbClr val="202B32"/>
                </a:solidFill>
                <a:latin typeface="Arial"/>
                <a:ea typeface="Arial"/>
                <a:cs typeface="Arial"/>
              </a:rPr>
              <a:t>was reliable in our earlier experiments.</a:t>
            </a:r>
          </a:p>
        </p:txBody>
      </p:sp>
    </p:spTree>
    <p:extLst>
      <p:ext uri="{BB962C8B-B14F-4D97-AF65-F5344CB8AC3E}">
        <p14:creationId xmlns:p14="http://schemas.microsoft.com/office/powerpoint/2010/main" val="202201419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4" name="text-2-0">
            <a:extLst xmlns:a="http://schemas.openxmlformats.org/drawingml/2006/main">
              <a:ext uri="{FF2B5EF4-FFF2-40B4-BE49-F238E27FC236}">
                <a16:creationId xmlns:a16="http://schemas.microsoft.com/office/drawing/2014/main" id="{3E5A1B25-1042-48F8-B799-123D1A354656}"/>
              </a:ext>
            </a:extLst>
          </p:cNvPr>
          <p:cNvSpPr>
            <a:spLocks xmlns:a="http://schemas.openxmlformats.org/drawingml/2006/main" noGrp="1"/>
          </p:cNvSpPr>
          <p:nvPr/>
        </p:nvSpPr>
        <p:spPr>
          <a:xfrm xmlns:a="http://schemas.openxmlformats.org/drawingml/2006/main">
            <a:off x="914400" y="609600"/>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571"/>
                </a:solidFill>
                <a:latin typeface="Arial"/>
                <a:ea typeface="Arial"/>
                <a:cs typeface="Arial"/>
              </a:defRPr>
            </a:pPr>
            <a:r>
              <a:rPr sz="1800" b="1">
                <a:solidFill>
                  <a:srgbClr val="167571"/>
                </a:solidFill>
                <a:latin typeface="Arial"/>
                <a:ea typeface="Arial"/>
                <a:cs typeface="Arial"/>
              </a:rPr>
              <a:t>ASSESSMENT PDF POLICY EXPERIMENTS</a:t>
            </a:r>
          </a:p>
        </p:txBody>
      </p:sp>
      <p:sp>
        <p:nvSpPr>
          <p:cNvPr id="2" name="text-2-1">
            <a:extLst xmlns:a="http://schemas.openxmlformats.org/drawingml/2006/main">
              <a:ext uri="{FF2B5EF4-FFF2-40B4-BE49-F238E27FC236}">
                <a16:creationId xmlns:a16="http://schemas.microsoft.com/office/drawing/2014/main" id="{31DAD307-BDDD-4285-AED9-ECF378AE50D0}"/>
              </a:ext>
            </a:extLst>
          </p:cNvPr>
          <p:cNvSpPr>
            <a:spLocks xmlns:a="http://schemas.openxmlformats.org/drawingml/2006/main" noGrp="1"/>
          </p:cNvSpPr>
          <p:nvPr/>
        </p:nvSpPr>
        <p:spPr>
          <a:xfrm xmlns:a="http://schemas.openxmlformats.org/drawingml/2006/main">
            <a:off x="914400" y="1219200"/>
            <a:ext cx="16459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202B32"/>
                </a:solidFill>
                <a:latin typeface="Georgia"/>
                <a:ea typeface="Georgia"/>
                <a:cs typeface="Georgia"/>
              </a:defRPr>
            </a:pPr>
            <a:r>
              <a:rPr sz="5400" b="0">
                <a:solidFill>
                  <a:srgbClr val="202B32"/>
                </a:solidFill>
                <a:latin typeface="Georgia"/>
                <a:ea typeface="Georgia"/>
                <a:cs typeface="Georgia"/>
              </a:rPr>
              <a:t>Image-based PDFs</a:t>
            </a:r>
          </a:p>
        </p:txBody>
      </p:sp>
      <p:sp>
        <p:nvSpPr>
          <p:cNvPr id="3" name="text-2-2">
            <a:extLst xmlns:a="http://schemas.openxmlformats.org/drawingml/2006/main">
              <a:ext uri="{FF2B5EF4-FFF2-40B4-BE49-F238E27FC236}">
                <a16:creationId xmlns:a16="http://schemas.microsoft.com/office/drawing/2014/main" id="{634A3820-2BB6-4988-81D2-DC4A2467C484}"/>
              </a:ext>
            </a:extLst>
          </p:cNvPr>
          <p:cNvSpPr>
            <a:spLocks xmlns:a="http://schemas.openxmlformats.org/drawingml/2006/main" noGrp="1"/>
          </p:cNvSpPr>
          <p:nvPr/>
        </p:nvSpPr>
        <p:spPr>
          <a:xfrm xmlns:a="http://schemas.openxmlformats.org/drawingml/2006/main">
            <a:off x="914400" y="2362200"/>
            <a:ext cx="16459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8646A"/>
                </a:solidFill>
                <a:latin typeface="Arial"/>
                <a:ea typeface="Arial"/>
                <a:cs typeface="Arial"/>
              </a:defRPr>
            </a:pPr>
            <a:r>
              <a:rPr sz="2250" b="0">
                <a:solidFill>
                  <a:srgbClr val="58646A"/>
                </a:solidFill>
                <a:latin typeface="Arial"/>
                <a:ea typeface="Arial"/>
                <a:cs typeface="Arial"/>
              </a:rPr>
              <a:t>Rasterized PDF: each page is stored as an image.</a:t>
            </a:r>
          </a:p>
        </p:txBody>
      </p:sp>
      <p:sp>
        <p:nvSpPr>
          <p:cNvPr id="4" name="rule-2-3">
            <a:extLst xmlns:a="http://schemas.openxmlformats.org/drawingml/2006/main">
              <a:ext uri="{FF2B5EF4-FFF2-40B4-BE49-F238E27FC236}">
                <a16:creationId xmlns:a16="http://schemas.microsoft.com/office/drawing/2014/main" id="{0ADCE2A1-3347-475A-965A-19818D5C4FF8}"/>
              </a:ext>
            </a:extLst>
          </p:cNvPr>
          <p:cNvSpPr>
            <a:spLocks xmlns:a="http://schemas.openxmlformats.org/drawingml/2006/main" noGrp="1"/>
          </p:cNvSpPr>
          <p:nvPr/>
        </p:nvSpPr>
        <p:spPr>
          <a:xfrm xmlns:a="http://schemas.openxmlformats.org/drawingml/2006/main">
            <a:off x="914400" y="9448800"/>
            <a:ext cx="164592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5" name="text-2-4">
            <a:extLst xmlns:a="http://schemas.openxmlformats.org/drawingml/2006/main">
              <a:ext uri="{FF2B5EF4-FFF2-40B4-BE49-F238E27FC236}">
                <a16:creationId xmlns:a16="http://schemas.microsoft.com/office/drawing/2014/main" id="{2F197E5E-1E4C-44E7-A22D-D100F586E44C}"/>
              </a:ext>
            </a:extLst>
          </p:cNvPr>
          <p:cNvSpPr>
            <a:spLocks xmlns:a="http://schemas.openxmlformats.org/drawingml/2006/main" noGrp="1"/>
          </p:cNvSpPr>
          <p:nvPr/>
        </p:nvSpPr>
        <p:spPr>
          <a:xfrm xmlns:a="http://schemas.openxmlformats.org/drawingml/2006/main">
            <a:off x="914400" y="96393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46A"/>
                </a:solidFill>
                <a:latin typeface="Arial"/>
                <a:ea typeface="Arial"/>
                <a:cs typeface="Arial"/>
              </a:defRPr>
            </a:pPr>
            <a:r>
              <a:rPr sz="1650" b="0">
                <a:solidFill>
                  <a:srgbClr val="58646A"/>
                </a:solidFill>
                <a:latin typeface="Arial"/>
                <a:ea typeface="Arial"/>
                <a:cs typeface="Arial"/>
              </a:rPr>
              <a:t>Research update  /  7 October 2026</a:t>
            </a:r>
          </a:p>
        </p:txBody>
      </p:sp>
      <p:sp>
        <p:nvSpPr>
          <p:cNvPr id="6" name="text-2-5">
            <a:extLst xmlns:a="http://schemas.openxmlformats.org/drawingml/2006/main">
              <a:ext uri="{FF2B5EF4-FFF2-40B4-BE49-F238E27FC236}">
                <a16:creationId xmlns:a16="http://schemas.microsoft.com/office/drawing/2014/main" id="{CCDE5EDB-EB45-4295-9598-FED066040475}"/>
              </a:ext>
            </a:extLst>
          </p:cNvPr>
          <p:cNvSpPr>
            <a:spLocks xmlns:a="http://schemas.openxmlformats.org/drawingml/2006/main" noGrp="1"/>
          </p:cNvSpPr>
          <p:nvPr/>
        </p:nvSpPr>
        <p:spPr>
          <a:xfrm xmlns:a="http://schemas.openxmlformats.org/drawingml/2006/main">
            <a:off x="16306800" y="9639300"/>
            <a:ext cx="1066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8646A"/>
                </a:solidFill>
                <a:latin typeface="Arial"/>
                <a:ea typeface="Arial"/>
                <a:cs typeface="Arial"/>
              </a:defRPr>
            </a:pPr>
            <a:r>
              <a:rPr sz="1650" b="0">
                <a:solidFill>
                  <a:srgbClr val="58646A"/>
                </a:solidFill>
                <a:latin typeface="Arial"/>
                <a:ea typeface="Arial"/>
                <a:cs typeface="Arial"/>
              </a:rPr>
              <a:t>03 / 09</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ac86536eefa48b3"/>
          <a:stretch xmlns:a="http://schemas.openxmlformats.org/drawingml/2006/main"/>
        </p:blipFill>
        <p:spPr>
          <a:xfrm xmlns:a="http://schemas.openxmlformats.org/drawingml/2006/main">
            <a:off x="914400" y="3440206"/>
            <a:ext cx="3810000" cy="4930588"/>
          </a:xfrm>
          <a:prstGeom xmlns:a="http://schemas.openxmlformats.org/drawingml/2006/main" prst="rect">
            <a:avLst/>
          </a:prstGeom>
        </p:spPr>
      </p:pic>
      <p:sp>
        <p:nvSpPr>
          <p:cNvPr id="8" name="text-2-7">
            <a:extLst xmlns:a="http://schemas.openxmlformats.org/drawingml/2006/main">
              <a:ext uri="{FF2B5EF4-FFF2-40B4-BE49-F238E27FC236}">
                <a16:creationId xmlns:a16="http://schemas.microsoft.com/office/drawing/2014/main" id="{959A5571-49AA-44BA-A83F-B6C97B666E86}"/>
              </a:ext>
            </a:extLst>
          </p:cNvPr>
          <p:cNvSpPr>
            <a:spLocks xmlns:a="http://schemas.openxmlformats.org/drawingml/2006/main" noGrp="1"/>
          </p:cNvSpPr>
          <p:nvPr/>
        </p:nvSpPr>
        <p:spPr>
          <a:xfrm xmlns:a="http://schemas.openxmlformats.org/drawingml/2006/main">
            <a:off x="914400" y="2895600"/>
            <a:ext cx="426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02B32"/>
                </a:solidFill>
                <a:latin typeface="Arial"/>
                <a:ea typeface="Arial"/>
                <a:cs typeface="Arial"/>
              </a:defRPr>
            </a:pPr>
            <a:r>
              <a:rPr sz="2250" b="1">
                <a:solidFill>
                  <a:srgbClr val="202B32"/>
                </a:solidFill>
                <a:latin typeface="Arial"/>
                <a:ea typeface="Arial"/>
                <a:cs typeface="Arial"/>
              </a:rPr>
              <a:t>Native source PDF</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cc5e786d2394b17"/>
          <a:stretch xmlns:a="http://schemas.openxmlformats.org/drawingml/2006/main"/>
        </p:blipFill>
        <p:spPr>
          <a:xfrm xmlns:a="http://schemas.openxmlformats.org/drawingml/2006/main">
            <a:off x="5943600" y="3440206"/>
            <a:ext cx="3810000" cy="4930588"/>
          </a:xfrm>
          <a:prstGeom xmlns:a="http://schemas.openxmlformats.org/drawingml/2006/main" prst="rect">
            <a:avLst/>
          </a:prstGeom>
        </p:spPr>
      </p:pic>
      <p:sp>
        <p:nvSpPr>
          <p:cNvPr id="10" name="text-2-9">
            <a:extLst xmlns:a="http://schemas.openxmlformats.org/drawingml/2006/main">
              <a:ext uri="{FF2B5EF4-FFF2-40B4-BE49-F238E27FC236}">
                <a16:creationId xmlns:a16="http://schemas.microsoft.com/office/drawing/2014/main" id="{30A31AFE-7D19-4F88-BC1F-DA68B160D97B}"/>
              </a:ext>
            </a:extLst>
          </p:cNvPr>
          <p:cNvSpPr>
            <a:spLocks xmlns:a="http://schemas.openxmlformats.org/drawingml/2006/main" noGrp="1"/>
          </p:cNvSpPr>
          <p:nvPr/>
        </p:nvSpPr>
        <p:spPr>
          <a:xfrm xmlns:a="http://schemas.openxmlformats.org/drawingml/2006/main">
            <a:off x="5943600" y="2895600"/>
            <a:ext cx="426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02B32"/>
                </a:solidFill>
                <a:latin typeface="Arial"/>
                <a:ea typeface="Arial"/>
                <a:cs typeface="Arial"/>
              </a:defRPr>
            </a:pPr>
            <a:r>
              <a:rPr sz="2250" b="1">
                <a:solidFill>
                  <a:srgbClr val="202B32"/>
                </a:solidFill>
                <a:latin typeface="Arial"/>
                <a:ea typeface="Arial"/>
                <a:cs typeface="Arial"/>
              </a:rPr>
              <a:t>Experimental raster input</a:t>
            </a:r>
          </a:p>
        </p:txBody>
      </p:sp>
      <p:sp>
        <p:nvSpPr>
          <p:cNvPr id="11" name="text-2-10">
            <a:extLst xmlns:a="http://schemas.openxmlformats.org/drawingml/2006/main">
              <a:ext uri="{FF2B5EF4-FFF2-40B4-BE49-F238E27FC236}">
                <a16:creationId xmlns:a16="http://schemas.microsoft.com/office/drawing/2014/main" id="{F949652F-F161-4182-972F-C63B5D0A446A}"/>
              </a:ext>
            </a:extLst>
          </p:cNvPr>
          <p:cNvSpPr>
            <a:spLocks xmlns:a="http://schemas.openxmlformats.org/drawingml/2006/main" noGrp="1"/>
          </p:cNvSpPr>
          <p:nvPr/>
        </p:nvSpPr>
        <p:spPr>
          <a:xfrm xmlns:a="http://schemas.openxmlformats.org/drawingml/2006/main">
            <a:off x="11125200" y="3429000"/>
            <a:ext cx="62484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0">
                <a:solidFill>
                  <a:srgbClr val="202B32"/>
                </a:solidFill>
                <a:latin typeface="Georgia"/>
                <a:ea typeface="Georgia"/>
                <a:cs typeface="Georgia"/>
              </a:defRPr>
            </a:pPr>
            <a:r>
              <a:rPr sz="3900" b="0">
                <a:solidFill>
                  <a:srgbClr val="202B32"/>
                </a:solidFill>
                <a:latin typeface="Georgia"/>
                <a:ea typeface="Georgia"/>
                <a:cs typeface="Georgia"/>
              </a:rPr>
              <a:t>Same page appearance.</a:t>
            </a:r>
          </a:p>
          <a:p xmlns:a="http://schemas.openxmlformats.org/drawingml/2006/main">
            <a:pPr algn="l">
              <a:defRPr sz="3900" b="0">
                <a:solidFill>
                  <a:srgbClr val="202B32"/>
                </a:solidFill>
                <a:latin typeface="Georgia"/>
                <a:ea typeface="Georgia"/>
                <a:cs typeface="Georgia"/>
              </a:defRPr>
            </a:pPr>
            <a:r>
              <a:rPr sz="3900" b="0">
                <a:solidFill>
                  <a:srgbClr val="202B32"/>
                </a:solidFill>
                <a:latin typeface="Georgia"/>
                <a:ea typeface="Georgia"/>
                <a:cs typeface="Georgia"/>
              </a:rPr>
              <a:t>Different representation.</a:t>
            </a:r>
          </a:p>
        </p:txBody>
      </p:sp>
      <p:sp>
        <p:nvSpPr>
          <p:cNvPr id="12" name="text-2-11">
            <a:extLst xmlns:a="http://schemas.openxmlformats.org/drawingml/2006/main">
              <a:ext uri="{FF2B5EF4-FFF2-40B4-BE49-F238E27FC236}">
                <a16:creationId xmlns:a16="http://schemas.microsoft.com/office/drawing/2014/main" id="{39988A28-8E01-4746-8387-EBF12E6B53FC}"/>
              </a:ext>
            </a:extLst>
          </p:cNvPr>
          <p:cNvSpPr>
            <a:spLocks xmlns:a="http://schemas.openxmlformats.org/drawingml/2006/main" noGrp="1"/>
          </p:cNvSpPr>
          <p:nvPr/>
        </p:nvSpPr>
        <p:spPr>
          <a:xfrm xmlns:a="http://schemas.openxmlformats.org/drawingml/2006/main">
            <a:off x="11125200" y="5715000"/>
            <a:ext cx="62484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202B32"/>
                </a:solidFill>
                <a:latin typeface="Arial"/>
                <a:ea typeface="Arial"/>
                <a:cs typeface="Arial"/>
              </a:defRPr>
            </a:pPr>
            <a:r>
              <a:rPr sz="2850" b="0">
                <a:solidFill>
                  <a:srgbClr val="202B32"/>
                </a:solidFill>
                <a:latin typeface="Arial"/>
                <a:ea typeface="Arial"/>
                <a:cs typeface="Arial"/>
              </a:rPr>
              <a:t>We render the native PDF</a:t>
            </a:r>
          </a:p>
          <a:p xmlns:a="http://schemas.openxmlformats.org/drawingml/2006/main">
            <a:pPr algn="l">
              <a:defRPr sz="2850" b="0">
                <a:solidFill>
                  <a:srgbClr val="202B32"/>
                </a:solidFill>
                <a:latin typeface="Arial"/>
                <a:ea typeface="Arial"/>
                <a:cs typeface="Arial"/>
              </a:defRPr>
            </a:pPr>
            <a:r>
              <a:rPr sz="2850" b="0">
                <a:solidFill>
                  <a:srgbClr val="202B32"/>
                </a:solidFill>
                <a:latin typeface="Arial"/>
                <a:ea typeface="Arial"/>
                <a:cs typeface="Arial"/>
              </a:rPr>
              <a:t>into page images to test</a:t>
            </a:r>
          </a:p>
          <a:p xmlns:a="http://schemas.openxmlformats.org/drawingml/2006/main">
            <a:pPr algn="l">
              <a:defRPr sz="2850" b="0">
                <a:solidFill>
                  <a:srgbClr val="202B32"/>
                </a:solidFill>
                <a:latin typeface="Arial"/>
                <a:ea typeface="Arial"/>
                <a:cs typeface="Arial"/>
              </a:defRPr>
            </a:pPr>
            <a:r>
              <a:rPr sz="2850" b="0">
                <a:solidFill>
                  <a:srgbClr val="202B32"/>
                </a:solidFill>
                <a:latin typeface="Arial"/>
                <a:ea typeface="Arial"/>
                <a:cs typeface="Arial"/>
              </a:rPr>
              <a:t>the visual channel.</a:t>
            </a:r>
          </a:p>
        </p:txBody>
      </p:sp>
      <p:sp>
        <p:nvSpPr>
          <p:cNvPr id="13" name="text-2-12">
            <a:extLst xmlns:a="http://schemas.openxmlformats.org/drawingml/2006/main">
              <a:ext uri="{FF2B5EF4-FFF2-40B4-BE49-F238E27FC236}">
                <a16:creationId xmlns:a16="http://schemas.microsoft.com/office/drawing/2014/main" id="{E1764B36-DBA8-4414-ACD8-BDCAC140B9B7}"/>
              </a:ext>
            </a:extLst>
          </p:cNvPr>
          <p:cNvSpPr>
            <a:spLocks xmlns:a="http://schemas.openxmlformats.org/drawingml/2006/main" noGrp="1"/>
          </p:cNvSpPr>
          <p:nvPr/>
        </p:nvSpPr>
        <p:spPr>
          <a:xfrm xmlns:a="http://schemas.openxmlformats.org/drawingml/2006/main">
            <a:off x="11125200" y="8153400"/>
            <a:ext cx="624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The original Specification3</a:t>
            </a:r>
          </a:p>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PDF was not raster-only.</a:t>
            </a:r>
          </a:p>
        </p:txBody>
      </p:sp>
    </p:spTree>
    <p:extLst>
      <p:ext uri="{BB962C8B-B14F-4D97-AF65-F5344CB8AC3E}">
        <p14:creationId xmlns:p14="http://schemas.microsoft.com/office/powerpoint/2010/main" val="1987640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text-3-0">
            <a:extLst xmlns:a="http://schemas.openxmlformats.org/drawingml/2006/main">
              <a:ext uri="{FF2B5EF4-FFF2-40B4-BE49-F238E27FC236}">
                <a16:creationId xmlns:a16="http://schemas.microsoft.com/office/drawing/2014/main" id="{F07D64F1-712D-47CC-8A3B-7EECB9C7A521}"/>
              </a:ext>
            </a:extLst>
          </p:cNvPr>
          <p:cNvSpPr>
            <a:spLocks xmlns:a="http://schemas.openxmlformats.org/drawingml/2006/main" noGrp="1"/>
          </p:cNvSpPr>
          <p:nvPr/>
        </p:nvSpPr>
        <p:spPr>
          <a:xfrm xmlns:a="http://schemas.openxmlformats.org/drawingml/2006/main">
            <a:off x="914400" y="609600"/>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571"/>
                </a:solidFill>
                <a:latin typeface="Arial"/>
                <a:ea typeface="Arial"/>
                <a:cs typeface="Arial"/>
              </a:defRPr>
            </a:pPr>
            <a:r>
              <a:rPr sz="1800" b="1">
                <a:solidFill>
                  <a:srgbClr val="167571"/>
                </a:solidFill>
                <a:latin typeface="Arial"/>
                <a:ea typeface="Arial"/>
                <a:cs typeface="Arial"/>
              </a:rPr>
              <a:t>ASSESSMENT PDF POLICY EXPERIMENTS</a:t>
            </a:r>
          </a:p>
        </p:txBody>
      </p:sp>
      <p:sp>
        <p:nvSpPr>
          <p:cNvPr id="2" name="text-3-1">
            <a:extLst xmlns:a="http://schemas.openxmlformats.org/drawingml/2006/main">
              <a:ext uri="{FF2B5EF4-FFF2-40B4-BE49-F238E27FC236}">
                <a16:creationId xmlns:a16="http://schemas.microsoft.com/office/drawing/2014/main" id="{D2D8D537-7597-4F9C-BFA3-5A15177C41B1}"/>
              </a:ext>
            </a:extLst>
          </p:cNvPr>
          <p:cNvSpPr>
            <a:spLocks xmlns:a="http://schemas.openxmlformats.org/drawingml/2006/main" noGrp="1"/>
          </p:cNvSpPr>
          <p:nvPr/>
        </p:nvSpPr>
        <p:spPr>
          <a:xfrm xmlns:a="http://schemas.openxmlformats.org/drawingml/2006/main">
            <a:off x="914400" y="1219200"/>
            <a:ext cx="16459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202B32"/>
                </a:solidFill>
                <a:latin typeface="Georgia"/>
                <a:ea typeface="Georgia"/>
                <a:cs typeface="Georgia"/>
              </a:defRPr>
            </a:pPr>
            <a:r>
              <a:rPr sz="5400" b="0">
                <a:solidFill>
                  <a:srgbClr val="202B32"/>
                </a:solidFill>
                <a:latin typeface="Georgia"/>
                <a:ea typeface="Georgia"/>
                <a:cs typeface="Georgia"/>
              </a:rPr>
              <a:t>ImageProtector</a:t>
            </a:r>
          </a:p>
        </p:txBody>
      </p:sp>
      <p:sp>
        <p:nvSpPr>
          <p:cNvPr id="3" name="text-3-2">
            <a:extLst xmlns:a="http://schemas.openxmlformats.org/drawingml/2006/main">
              <a:ext uri="{FF2B5EF4-FFF2-40B4-BE49-F238E27FC236}">
                <a16:creationId xmlns:a16="http://schemas.microsoft.com/office/drawing/2014/main" id="{F1DD3CE1-CD3D-4341-8A53-944A12CDD9BF}"/>
              </a:ext>
            </a:extLst>
          </p:cNvPr>
          <p:cNvSpPr>
            <a:spLocks xmlns:a="http://schemas.openxmlformats.org/drawingml/2006/main" noGrp="1"/>
          </p:cNvSpPr>
          <p:nvPr/>
        </p:nvSpPr>
        <p:spPr>
          <a:xfrm xmlns:a="http://schemas.openxmlformats.org/drawingml/2006/main">
            <a:off x="914400" y="2362200"/>
            <a:ext cx="16459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8646A"/>
                </a:solidFill>
                <a:latin typeface="Arial"/>
                <a:ea typeface="Arial"/>
                <a:cs typeface="Arial"/>
              </a:defRPr>
            </a:pPr>
            <a:r>
              <a:rPr sz="2250" b="0">
                <a:solidFill>
                  <a:srgbClr val="58646A"/>
                </a:solidFill>
                <a:latin typeface="Arial"/>
                <a:ea typeface="Arial"/>
                <a:cs typeface="Arial"/>
              </a:rPr>
              <a:t>Primary reference: Shao et al., ACL 2026</a:t>
            </a:r>
          </a:p>
        </p:txBody>
      </p:sp>
      <p:sp>
        <p:nvSpPr>
          <p:cNvPr id="4" name="rule-3-3">
            <a:extLst xmlns:a="http://schemas.openxmlformats.org/drawingml/2006/main">
              <a:ext uri="{FF2B5EF4-FFF2-40B4-BE49-F238E27FC236}">
                <a16:creationId xmlns:a16="http://schemas.microsoft.com/office/drawing/2014/main" id="{29984777-B41A-4AA1-8A6E-D50C7B59C228}"/>
              </a:ext>
            </a:extLst>
          </p:cNvPr>
          <p:cNvSpPr>
            <a:spLocks xmlns:a="http://schemas.openxmlformats.org/drawingml/2006/main" noGrp="1"/>
          </p:cNvSpPr>
          <p:nvPr/>
        </p:nvSpPr>
        <p:spPr>
          <a:xfrm xmlns:a="http://schemas.openxmlformats.org/drawingml/2006/main">
            <a:off x="914400" y="9448800"/>
            <a:ext cx="164592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5" name="text-3-4">
            <a:extLst xmlns:a="http://schemas.openxmlformats.org/drawingml/2006/main">
              <a:ext uri="{FF2B5EF4-FFF2-40B4-BE49-F238E27FC236}">
                <a16:creationId xmlns:a16="http://schemas.microsoft.com/office/drawing/2014/main" id="{1C86AE39-F05C-4C77-893F-618D01C70072}"/>
              </a:ext>
            </a:extLst>
          </p:cNvPr>
          <p:cNvSpPr>
            <a:spLocks xmlns:a="http://schemas.openxmlformats.org/drawingml/2006/main" noGrp="1"/>
          </p:cNvSpPr>
          <p:nvPr/>
        </p:nvSpPr>
        <p:spPr>
          <a:xfrm xmlns:a="http://schemas.openxmlformats.org/drawingml/2006/main">
            <a:off x="914400" y="96393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46A"/>
                </a:solidFill>
                <a:latin typeface="Arial"/>
                <a:ea typeface="Arial"/>
                <a:cs typeface="Arial"/>
              </a:defRPr>
            </a:pPr>
            <a:r>
              <a:rPr sz="1650" b="0">
                <a:solidFill>
                  <a:srgbClr val="58646A"/>
                </a:solidFill>
                <a:latin typeface="Arial"/>
                <a:ea typeface="Arial"/>
                <a:cs typeface="Arial"/>
              </a:rPr>
              <a:t>Research update  /  7 October 2026</a:t>
            </a:r>
          </a:p>
        </p:txBody>
      </p:sp>
      <p:sp>
        <p:nvSpPr>
          <p:cNvPr id="6" name="text-3-5">
            <a:extLst xmlns:a="http://schemas.openxmlformats.org/drawingml/2006/main">
              <a:ext uri="{FF2B5EF4-FFF2-40B4-BE49-F238E27FC236}">
                <a16:creationId xmlns:a16="http://schemas.microsoft.com/office/drawing/2014/main" id="{E170FA22-48D9-4994-9A0A-B08E462E45A3}"/>
              </a:ext>
            </a:extLst>
          </p:cNvPr>
          <p:cNvSpPr>
            <a:spLocks xmlns:a="http://schemas.openxmlformats.org/drawingml/2006/main" noGrp="1"/>
          </p:cNvSpPr>
          <p:nvPr/>
        </p:nvSpPr>
        <p:spPr>
          <a:xfrm xmlns:a="http://schemas.openxmlformats.org/drawingml/2006/main">
            <a:off x="16306800" y="9639300"/>
            <a:ext cx="1066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8646A"/>
                </a:solidFill>
                <a:latin typeface="Arial"/>
                <a:ea typeface="Arial"/>
                <a:cs typeface="Arial"/>
              </a:defRPr>
            </a:pPr>
            <a:r>
              <a:rPr sz="1650" b="0">
                <a:solidFill>
                  <a:srgbClr val="58646A"/>
                </a:solidFill>
                <a:latin typeface="Arial"/>
                <a:ea typeface="Arial"/>
                <a:cs typeface="Arial"/>
              </a:rPr>
              <a:t>04 / 09</a:t>
            </a:r>
          </a:p>
        </p:txBody>
      </p:sp>
      <p:sp>
        <p:nvSpPr>
          <p:cNvPr id="7" name="text-3-6">
            <a:extLst xmlns:a="http://schemas.openxmlformats.org/drawingml/2006/main">
              <a:ext uri="{FF2B5EF4-FFF2-40B4-BE49-F238E27FC236}">
                <a16:creationId xmlns:a16="http://schemas.microsoft.com/office/drawing/2014/main" id="{27C2A86D-3C15-40DB-942E-C3BFB8BDF37C}"/>
              </a:ext>
            </a:extLst>
          </p:cNvPr>
          <p:cNvSpPr>
            <a:spLocks xmlns:a="http://schemas.openxmlformats.org/drawingml/2006/main" noGrp="1"/>
          </p:cNvSpPr>
          <p:nvPr/>
        </p:nvSpPr>
        <p:spPr>
          <a:xfrm xmlns:a="http://schemas.openxmlformats.org/drawingml/2006/main">
            <a:off x="914400" y="3352800"/>
            <a:ext cx="9144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0">
                <a:solidFill>
                  <a:srgbClr val="202B32"/>
                </a:solidFill>
                <a:latin typeface="Georgia"/>
                <a:ea typeface="Georgia"/>
                <a:cs typeface="Georgia"/>
              </a:defRPr>
            </a:pPr>
            <a:r>
              <a:rPr sz="4800" b="0">
                <a:solidFill>
                  <a:srgbClr val="202B32"/>
                </a:solidFill>
                <a:latin typeface="Georgia"/>
                <a:ea typeface="Georgia"/>
                <a:cs typeface="Georgia"/>
              </a:rPr>
              <a:t>Small pixel changes</a:t>
            </a:r>
          </a:p>
          <a:p xmlns:a="http://schemas.openxmlformats.org/drawingml/2006/main">
            <a:pPr algn="l">
              <a:defRPr sz="4800" b="0">
                <a:solidFill>
                  <a:srgbClr val="202B32"/>
                </a:solidFill>
                <a:latin typeface="Georgia"/>
                <a:ea typeface="Georgia"/>
                <a:cs typeface="Georgia"/>
              </a:defRPr>
            </a:pPr>
            <a:r>
              <a:rPr sz="4800" b="0">
                <a:solidFill>
                  <a:srgbClr val="202B32"/>
                </a:solidFill>
                <a:latin typeface="Georgia"/>
                <a:ea typeface="Georgia"/>
                <a:cs typeface="Georgia"/>
              </a:rPr>
              <a:t>can trigger refusal</a:t>
            </a:r>
          </a:p>
        </p:txBody>
      </p:sp>
      <p:sp>
        <p:nvSpPr>
          <p:cNvPr id="8" name="text-3-7">
            <a:extLst xmlns:a="http://schemas.openxmlformats.org/drawingml/2006/main">
              <a:ext uri="{FF2B5EF4-FFF2-40B4-BE49-F238E27FC236}">
                <a16:creationId xmlns:a16="http://schemas.microsoft.com/office/drawing/2014/main" id="{0D03A527-1EBD-46BE-8D3C-6E4F9F24F3D7}"/>
              </a:ext>
            </a:extLst>
          </p:cNvPr>
          <p:cNvSpPr>
            <a:spLocks xmlns:a="http://schemas.openxmlformats.org/drawingml/2006/main" noGrp="1"/>
          </p:cNvSpPr>
          <p:nvPr/>
        </p:nvSpPr>
        <p:spPr>
          <a:xfrm xmlns:a="http://schemas.openxmlformats.org/drawingml/2006/main">
            <a:off x="914400" y="5410200"/>
            <a:ext cx="9144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202B32"/>
                </a:solidFill>
                <a:latin typeface="Arial"/>
                <a:ea typeface="Arial"/>
                <a:cs typeface="Arial"/>
              </a:defRPr>
            </a:pPr>
            <a:r>
              <a:rPr sz="2850" b="0">
                <a:solidFill>
                  <a:srgbClr val="202B32"/>
                </a:solidFill>
                <a:latin typeface="Arial"/>
                <a:ea typeface="Arial"/>
                <a:cs typeface="Arial"/>
              </a:rPr>
              <a:t>The paper optimizes subtle changes</a:t>
            </a:r>
          </a:p>
          <a:p xmlns:a="http://schemas.openxmlformats.org/drawingml/2006/main">
            <a:pPr algn="l">
              <a:defRPr sz="2850" b="0">
                <a:solidFill>
                  <a:srgbClr val="202B32"/>
                </a:solidFill>
                <a:latin typeface="Arial"/>
                <a:ea typeface="Arial"/>
                <a:cs typeface="Arial"/>
              </a:defRPr>
            </a:pPr>
            <a:r>
              <a:rPr sz="2850" b="0">
                <a:solidFill>
                  <a:srgbClr val="202B32"/>
                </a:solidFill>
                <a:latin typeface="Arial"/>
                <a:ea typeface="Arial"/>
                <a:cs typeface="Arial"/>
              </a:rPr>
              <a:t>to images so vision-language models</a:t>
            </a:r>
          </a:p>
          <a:p xmlns:a="http://schemas.openxmlformats.org/drawingml/2006/main">
            <a:pPr algn="l">
              <a:defRPr sz="2850" b="0">
                <a:solidFill>
                  <a:srgbClr val="202B32"/>
                </a:solidFill>
                <a:latin typeface="Arial"/>
                <a:ea typeface="Arial"/>
                <a:cs typeface="Arial"/>
              </a:defRPr>
            </a:pPr>
            <a:r>
              <a:rPr sz="2850" b="0">
                <a:solidFill>
                  <a:srgbClr val="202B32"/>
                </a:solidFill>
                <a:latin typeface="Arial"/>
                <a:ea typeface="Arial"/>
                <a:cs typeface="Arial"/>
              </a:rPr>
              <a:t>refuse analysis requests.</a:t>
            </a:r>
          </a:p>
        </p:txBody>
      </p:sp>
      <p:sp>
        <p:nvSpPr>
          <p:cNvPr id="9" name="text-3-8">
            <a:extLst xmlns:a="http://schemas.openxmlformats.org/drawingml/2006/main">
              <a:ext uri="{FF2B5EF4-FFF2-40B4-BE49-F238E27FC236}">
                <a16:creationId xmlns:a16="http://schemas.microsoft.com/office/drawing/2014/main" id="{25C27BEC-55AF-44D8-BB05-8A63C718FC92}"/>
              </a:ext>
            </a:extLst>
          </p:cNvPr>
          <p:cNvSpPr>
            <a:spLocks xmlns:a="http://schemas.openxmlformats.org/drawingml/2006/main" noGrp="1"/>
          </p:cNvSpPr>
          <p:nvPr/>
        </p:nvSpPr>
        <p:spPr>
          <a:xfrm xmlns:a="http://schemas.openxmlformats.org/drawingml/2006/main">
            <a:off x="914400" y="7467600"/>
            <a:ext cx="9829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67571"/>
                </a:solidFill>
                <a:latin typeface="Arial"/>
                <a:ea typeface="Arial"/>
                <a:cs typeface="Arial"/>
              </a:defRPr>
            </a:pPr>
            <a:r>
              <a:rPr sz="3300" b="1">
                <a:solidFill>
                  <a:srgbClr val="167571"/>
                </a:solidFill>
                <a:latin typeface="Arial"/>
                <a:ea typeface="Arial"/>
                <a:cs typeface="Arial"/>
              </a:rPr>
              <a:t>Our question: does this idea</a:t>
            </a:r>
          </a:p>
          <a:p xmlns:a="http://schemas.openxmlformats.org/drawingml/2006/main">
            <a:pPr algn="l">
              <a:defRPr sz="3300" b="1">
                <a:solidFill>
                  <a:srgbClr val="167571"/>
                </a:solidFill>
                <a:latin typeface="Arial"/>
                <a:ea typeface="Arial"/>
                <a:cs typeface="Arial"/>
              </a:defRPr>
            </a:pPr>
            <a:r>
              <a:rPr sz="3300" b="1">
                <a:solidFill>
                  <a:srgbClr val="167571"/>
                </a:solidFill>
                <a:latin typeface="Arial"/>
                <a:ea typeface="Arial"/>
                <a:cs typeface="Arial"/>
              </a:rPr>
              <a:t>extend to assessment PDFs?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775d62e7b7f4487"/>
          <a:stretch xmlns:a="http://schemas.openxmlformats.org/drawingml/2006/main"/>
        </p:blipFill>
        <p:spPr>
          <a:xfrm xmlns:a="http://schemas.openxmlformats.org/drawingml/2006/main">
            <a:off x="11125200" y="3285015"/>
            <a:ext cx="6248400" cy="3488371"/>
          </a:xfrm>
          <a:prstGeom xmlns:a="http://schemas.openxmlformats.org/drawingml/2006/main" prst="rect">
            <a:avLst/>
          </a:prstGeom>
        </p:spPr>
      </p:pic>
      <p:sp>
        <p:nvSpPr>
          <p:cNvPr id="11" name="text-3-10">
            <a:extLst xmlns:a="http://schemas.openxmlformats.org/drawingml/2006/main">
              <a:ext uri="{FF2B5EF4-FFF2-40B4-BE49-F238E27FC236}">
                <a16:creationId xmlns:a16="http://schemas.microsoft.com/office/drawing/2014/main" id="{C1FCBCE8-4DA1-4B1D-88ED-DABB586CD3D4}"/>
              </a:ext>
            </a:extLst>
          </p:cNvPr>
          <p:cNvSpPr>
            <a:spLocks xmlns:a="http://schemas.openxmlformats.org/drawingml/2006/main" noGrp="1"/>
          </p:cNvSpPr>
          <p:nvPr/>
        </p:nvSpPr>
        <p:spPr>
          <a:xfrm xmlns:a="http://schemas.openxmlformats.org/drawingml/2006/main">
            <a:off x="11125200" y="7162800"/>
            <a:ext cx="6248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58646A"/>
                </a:solidFill>
                <a:latin typeface="Arial"/>
                <a:ea typeface="Arial"/>
                <a:cs typeface="Arial"/>
              </a:defRPr>
            </a:pPr>
            <a:r>
              <a:rPr sz="2550" b="0">
                <a:solidFill>
                  <a:srgbClr val="58646A"/>
                </a:solidFill>
                <a:latin typeface="Arial"/>
                <a:ea typeface="Arial"/>
                <a:cs typeface="Arial"/>
              </a:rPr>
              <a:t>Figure 1 from ImageProtector</a:t>
            </a:r>
          </a:p>
          <a:p xmlns:a="http://schemas.openxmlformats.org/drawingml/2006/main">
            <a:pPr algn="l">
              <a:defRPr sz="2550" b="0">
                <a:solidFill>
                  <a:srgbClr val="58646A"/>
                </a:solidFill>
                <a:latin typeface="Arial"/>
                <a:ea typeface="Arial"/>
                <a:cs typeface="Arial"/>
              </a:defRPr>
            </a:pPr>
            <a:r>
              <a:rPr sz="2550" b="0">
                <a:solidFill>
                  <a:srgbClr val="58646A"/>
                </a:solidFill>
                <a:latin typeface="Arial"/>
                <a:ea typeface="Arial"/>
                <a:cs typeface="Arial"/>
              </a:rPr>
              <a:t>Original image: normal response</a:t>
            </a:r>
          </a:p>
          <a:p xmlns:a="http://schemas.openxmlformats.org/drawingml/2006/main">
            <a:pPr algn="l">
              <a:defRPr sz="2550" b="0">
                <a:solidFill>
                  <a:srgbClr val="58646A"/>
                </a:solidFill>
                <a:latin typeface="Arial"/>
                <a:ea typeface="Arial"/>
                <a:cs typeface="Arial"/>
              </a:defRPr>
            </a:pPr>
            <a:r>
              <a:rPr sz="2550" b="0">
                <a:solidFill>
                  <a:srgbClr val="58646A"/>
                </a:solidFill>
                <a:latin typeface="Arial"/>
                <a:ea typeface="Arial"/>
                <a:cs typeface="Arial"/>
              </a:rPr>
              <a:t>Protected image: refusal</a:t>
            </a:r>
          </a:p>
        </p:txBody>
      </p:sp>
    </p:spTree>
    <p:extLst>
      <p:ext uri="{BB962C8B-B14F-4D97-AF65-F5344CB8AC3E}">
        <p14:creationId xmlns:p14="http://schemas.microsoft.com/office/powerpoint/2010/main" val="129206359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5" name="text-4-0">
            <a:extLst xmlns:a="http://schemas.openxmlformats.org/drawingml/2006/main">
              <a:ext uri="{FF2B5EF4-FFF2-40B4-BE49-F238E27FC236}">
                <a16:creationId xmlns:a16="http://schemas.microsoft.com/office/drawing/2014/main" id="{32843D7A-D1AC-4201-86A2-23115E52FBCF}"/>
              </a:ext>
            </a:extLst>
          </p:cNvPr>
          <p:cNvSpPr>
            <a:spLocks xmlns:a="http://schemas.openxmlformats.org/drawingml/2006/main" noGrp="1"/>
          </p:cNvSpPr>
          <p:nvPr/>
        </p:nvSpPr>
        <p:spPr>
          <a:xfrm xmlns:a="http://schemas.openxmlformats.org/drawingml/2006/main">
            <a:off x="914400" y="609600"/>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571"/>
                </a:solidFill>
                <a:latin typeface="Arial"/>
                <a:ea typeface="Arial"/>
                <a:cs typeface="Arial"/>
              </a:defRPr>
            </a:pPr>
            <a:r>
              <a:rPr sz="1800" b="1">
                <a:solidFill>
                  <a:srgbClr val="167571"/>
                </a:solidFill>
                <a:latin typeface="Arial"/>
                <a:ea typeface="Arial"/>
                <a:cs typeface="Arial"/>
              </a:rPr>
              <a:t>ASSESSMENT PDF POLICY EXPERIMENTS</a:t>
            </a:r>
          </a:p>
        </p:txBody>
      </p:sp>
      <p:sp>
        <p:nvSpPr>
          <p:cNvPr id="2" name="text-4-1">
            <a:extLst xmlns:a="http://schemas.openxmlformats.org/drawingml/2006/main">
              <a:ext uri="{FF2B5EF4-FFF2-40B4-BE49-F238E27FC236}">
                <a16:creationId xmlns:a16="http://schemas.microsoft.com/office/drawing/2014/main" id="{621108DC-E17A-4509-B37C-2A354D033BE8}"/>
              </a:ext>
            </a:extLst>
          </p:cNvPr>
          <p:cNvSpPr>
            <a:spLocks xmlns:a="http://schemas.openxmlformats.org/drawingml/2006/main" noGrp="1"/>
          </p:cNvSpPr>
          <p:nvPr/>
        </p:nvSpPr>
        <p:spPr>
          <a:xfrm xmlns:a="http://schemas.openxmlformats.org/drawingml/2006/main">
            <a:off x="914400" y="1219200"/>
            <a:ext cx="16459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202B32"/>
                </a:solidFill>
                <a:latin typeface="Georgia"/>
                <a:ea typeface="Georgia"/>
                <a:cs typeface="Georgia"/>
              </a:defRPr>
            </a:pPr>
            <a:r>
              <a:rPr sz="5400" b="0">
                <a:solidFill>
                  <a:srgbClr val="202B32"/>
                </a:solidFill>
                <a:latin typeface="Georgia"/>
                <a:ea typeface="Georgia"/>
                <a:cs typeface="Georgia"/>
              </a:rPr>
              <a:t>Small pixel changes did not reach the target</a:t>
            </a:r>
          </a:p>
        </p:txBody>
      </p:sp>
      <p:sp>
        <p:nvSpPr>
          <p:cNvPr id="3" name="rule-4-2">
            <a:extLst xmlns:a="http://schemas.openxmlformats.org/drawingml/2006/main">
              <a:ext uri="{FF2B5EF4-FFF2-40B4-BE49-F238E27FC236}">
                <a16:creationId xmlns:a16="http://schemas.microsoft.com/office/drawing/2014/main" id="{B68B50E5-1DAD-42DB-A17B-F1F424C35B60}"/>
              </a:ext>
            </a:extLst>
          </p:cNvPr>
          <p:cNvSpPr>
            <a:spLocks xmlns:a="http://schemas.openxmlformats.org/drawingml/2006/main" noGrp="1"/>
          </p:cNvSpPr>
          <p:nvPr/>
        </p:nvSpPr>
        <p:spPr>
          <a:xfrm xmlns:a="http://schemas.openxmlformats.org/drawingml/2006/main">
            <a:off x="914400" y="9448800"/>
            <a:ext cx="164592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4" name="text-4-3">
            <a:extLst xmlns:a="http://schemas.openxmlformats.org/drawingml/2006/main">
              <a:ext uri="{FF2B5EF4-FFF2-40B4-BE49-F238E27FC236}">
                <a16:creationId xmlns:a16="http://schemas.microsoft.com/office/drawing/2014/main" id="{A260CE42-1894-4DC7-838A-3A311C20932F}"/>
              </a:ext>
            </a:extLst>
          </p:cNvPr>
          <p:cNvSpPr>
            <a:spLocks xmlns:a="http://schemas.openxmlformats.org/drawingml/2006/main" noGrp="1"/>
          </p:cNvSpPr>
          <p:nvPr/>
        </p:nvSpPr>
        <p:spPr>
          <a:xfrm xmlns:a="http://schemas.openxmlformats.org/drawingml/2006/main">
            <a:off x="914400" y="96393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46A"/>
                </a:solidFill>
                <a:latin typeface="Arial"/>
                <a:ea typeface="Arial"/>
                <a:cs typeface="Arial"/>
              </a:defRPr>
            </a:pPr>
            <a:r>
              <a:rPr sz="1650" b="0">
                <a:solidFill>
                  <a:srgbClr val="58646A"/>
                </a:solidFill>
                <a:latin typeface="Arial"/>
                <a:ea typeface="Arial"/>
                <a:cs typeface="Arial"/>
              </a:rPr>
              <a:t>Research update  /  7 October 2026</a:t>
            </a:r>
          </a:p>
        </p:txBody>
      </p:sp>
      <p:sp>
        <p:nvSpPr>
          <p:cNvPr id="5" name="text-4-4">
            <a:extLst xmlns:a="http://schemas.openxmlformats.org/drawingml/2006/main">
              <a:ext uri="{FF2B5EF4-FFF2-40B4-BE49-F238E27FC236}">
                <a16:creationId xmlns:a16="http://schemas.microsoft.com/office/drawing/2014/main" id="{AB90A635-F148-4003-9A0A-9268D36F0145}"/>
              </a:ext>
            </a:extLst>
          </p:cNvPr>
          <p:cNvSpPr>
            <a:spLocks xmlns:a="http://schemas.openxmlformats.org/drawingml/2006/main" noGrp="1"/>
          </p:cNvSpPr>
          <p:nvPr/>
        </p:nvSpPr>
        <p:spPr>
          <a:xfrm xmlns:a="http://schemas.openxmlformats.org/drawingml/2006/main">
            <a:off x="16306800" y="9639300"/>
            <a:ext cx="1066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8646A"/>
                </a:solidFill>
                <a:latin typeface="Arial"/>
                <a:ea typeface="Arial"/>
                <a:cs typeface="Arial"/>
              </a:defRPr>
            </a:pPr>
            <a:r>
              <a:rPr sz="1650" b="0">
                <a:solidFill>
                  <a:srgbClr val="58646A"/>
                </a:solidFill>
                <a:latin typeface="Arial"/>
                <a:ea typeface="Arial"/>
                <a:cs typeface="Arial"/>
              </a:rPr>
              <a:t>05 / 09</a:t>
            </a:r>
          </a:p>
        </p:txBody>
      </p:sp>
      <p:sp>
        <p:nvSpPr>
          <p:cNvPr id="6" name="text-4-5">
            <a:extLst xmlns:a="http://schemas.openxmlformats.org/drawingml/2006/main">
              <a:ext uri="{FF2B5EF4-FFF2-40B4-BE49-F238E27FC236}">
                <a16:creationId xmlns:a16="http://schemas.microsoft.com/office/drawing/2014/main" id="{E98DB5EF-B456-4F88-977C-187FC61C1F40}"/>
              </a:ext>
            </a:extLst>
          </p:cNvPr>
          <p:cNvSpPr>
            <a:spLocks xmlns:a="http://schemas.openxmlformats.org/drawingml/2006/main" noGrp="1"/>
          </p:cNvSpPr>
          <p:nvPr/>
        </p:nvSpPr>
        <p:spPr>
          <a:xfrm xmlns:a="http://schemas.openxmlformats.org/drawingml/2006/main">
            <a:off x="914400" y="2743200"/>
            <a:ext cx="1645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Qwen2.5-VL-3B-Instruct on Specification3, completed BF16 study</a:t>
            </a:r>
          </a:p>
        </p:txBody>
      </p:sp>
      <p:sp>
        <p:nvSpPr>
          <p:cNvPr id="7" name="text-4-6">
            <a:extLst xmlns:a="http://schemas.openxmlformats.org/drawingml/2006/main">
              <a:ext uri="{FF2B5EF4-FFF2-40B4-BE49-F238E27FC236}">
                <a16:creationId xmlns:a16="http://schemas.microsoft.com/office/drawing/2014/main" id="{F4FD2966-BA35-498F-989C-61D6EBC2683B}"/>
              </a:ext>
            </a:extLst>
          </p:cNvPr>
          <p:cNvSpPr>
            <a:spLocks xmlns:a="http://schemas.openxmlformats.org/drawingml/2006/main" noGrp="1"/>
          </p:cNvSpPr>
          <p:nvPr/>
        </p:nvSpPr>
        <p:spPr>
          <a:xfrm xmlns:a="http://schemas.openxmlformats.org/drawingml/2006/main">
            <a:off x="914400" y="3733800"/>
            <a:ext cx="78486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A94F33"/>
                </a:solidFill>
                <a:latin typeface="Arial"/>
                <a:ea typeface="Arial"/>
                <a:cs typeface="Arial"/>
              </a:defRPr>
            </a:pPr>
            <a:r>
              <a:rPr sz="3450" b="1">
                <a:solidFill>
                  <a:srgbClr val="A94F33"/>
                </a:solidFill>
                <a:latin typeface="Arial"/>
                <a:ea typeface="Arial"/>
                <a:cs typeface="Arial"/>
              </a:rPr>
              <a:t>The tested changes did not</a:t>
            </a:r>
          </a:p>
          <a:p xmlns:a="http://schemas.openxmlformats.org/drawingml/2006/main">
            <a:pPr algn="l">
              <a:defRPr sz="3450" b="1">
                <a:solidFill>
                  <a:srgbClr val="A94F33"/>
                </a:solidFill>
                <a:latin typeface="Arial"/>
                <a:ea typeface="Arial"/>
                <a:cs typeface="Arial"/>
              </a:defRPr>
            </a:pPr>
            <a:r>
              <a:rPr sz="3450" b="1">
                <a:solidFill>
                  <a:srgbClr val="A94F33"/>
                </a:solidFill>
                <a:latin typeface="Arial"/>
                <a:ea typeface="Arial"/>
                <a:cs typeface="Arial"/>
              </a:rPr>
              <a:t>produce the required refusal</a:t>
            </a:r>
          </a:p>
          <a:p xmlns:a="http://schemas.openxmlformats.org/drawingml/2006/main">
            <a:pPr algn="l">
              <a:defRPr sz="3450" b="1">
                <a:solidFill>
                  <a:srgbClr val="A94F33"/>
                </a:solidFill>
                <a:latin typeface="Arial"/>
                <a:ea typeface="Arial"/>
                <a:cs typeface="Arial"/>
              </a:defRPr>
            </a:pPr>
            <a:r>
              <a:rPr sz="3450" b="1">
                <a:solidFill>
                  <a:srgbClr val="A94F33"/>
                </a:solidFill>
                <a:latin typeface="Arial"/>
                <a:ea typeface="Arial"/>
                <a:cs typeface="Arial"/>
              </a:rPr>
              <a:t>and instructor referral.</a:t>
            </a:r>
          </a:p>
        </p:txBody>
      </p:sp>
      <p:sp>
        <p:nvSpPr>
          <p:cNvPr id="8" name="text-4-7">
            <a:extLst xmlns:a="http://schemas.openxmlformats.org/drawingml/2006/main">
              <a:ext uri="{FF2B5EF4-FFF2-40B4-BE49-F238E27FC236}">
                <a16:creationId xmlns:a16="http://schemas.microsoft.com/office/drawing/2014/main" id="{4F8FAAA6-CDA0-480F-9D2F-BB439305D95F}"/>
              </a:ext>
            </a:extLst>
          </p:cNvPr>
          <p:cNvSpPr>
            <a:spLocks xmlns:a="http://schemas.openxmlformats.org/drawingml/2006/main" noGrp="1"/>
          </p:cNvSpPr>
          <p:nvPr/>
        </p:nvSpPr>
        <p:spPr>
          <a:xfrm xmlns:a="http://schemas.openxmlformats.org/drawingml/2006/main">
            <a:off x="914400" y="6096000"/>
            <a:ext cx="7848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202B32"/>
                </a:solidFill>
                <a:latin typeface="Arial"/>
                <a:ea typeface="Arial"/>
                <a:cs typeface="Arial"/>
              </a:defRPr>
            </a:pPr>
            <a:r>
              <a:rPr sz="2700" b="0">
                <a:solidFill>
                  <a:srgbClr val="202B32"/>
                </a:solidFill>
                <a:latin typeface="Arial"/>
                <a:ea typeface="Arial"/>
                <a:cs typeface="Arial"/>
              </a:rPr>
              <a:t>Much of the selected document-</a:t>
            </a:r>
          </a:p>
          <a:p xmlns:a="http://schemas.openxmlformats.org/drawingml/2006/main">
            <a:pPr algn="l">
              <a:defRPr sz="2700" b="0">
                <a:solidFill>
                  <a:srgbClr val="202B32"/>
                </a:solidFill>
                <a:latin typeface="Arial"/>
                <a:ea typeface="Arial"/>
                <a:cs typeface="Arial"/>
              </a:defRPr>
            </a:pPr>
            <a:r>
              <a:rPr sz="2700" b="0">
                <a:solidFill>
                  <a:srgbClr val="202B32"/>
                </a:solidFill>
                <a:latin typeface="Arial"/>
                <a:ea typeface="Arial"/>
                <a:cs typeface="Arial"/>
              </a:rPr>
              <a:t>reading utility was preserved.</a:t>
            </a:r>
          </a:p>
        </p:txBody>
      </p:sp>
      <p:sp>
        <p:nvSpPr>
          <p:cNvPr id="9" name="text-4-8">
            <a:extLst xmlns:a="http://schemas.openxmlformats.org/drawingml/2006/main">
              <a:ext uri="{FF2B5EF4-FFF2-40B4-BE49-F238E27FC236}">
                <a16:creationId xmlns:a16="http://schemas.microsoft.com/office/drawing/2014/main" id="{CE1BEC80-9485-48B1-A64D-FAE86CF3ED5C}"/>
              </a:ext>
            </a:extLst>
          </p:cNvPr>
          <p:cNvSpPr>
            <a:spLocks xmlns:a="http://schemas.openxmlformats.org/drawingml/2006/main" noGrp="1"/>
          </p:cNvSpPr>
          <p:nvPr/>
        </p:nvSpPr>
        <p:spPr>
          <a:xfrm xmlns:a="http://schemas.openxmlformats.org/drawingml/2006/main">
            <a:off x="914400" y="8001000"/>
            <a:ext cx="7848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58646A"/>
                </a:solidFill>
                <a:latin typeface="Arial"/>
                <a:ea typeface="Arial"/>
                <a:cs typeface="Arial"/>
              </a:defRPr>
            </a:pPr>
            <a:r>
              <a:rPr sz="2400" b="0">
                <a:solidFill>
                  <a:srgbClr val="58646A"/>
                </a:solidFill>
                <a:latin typeface="Arial"/>
                <a:ea typeface="Arial"/>
                <a:cs typeface="Arial"/>
              </a:rPr>
              <a:t>Gradient checks examined whether</a:t>
            </a:r>
          </a:p>
          <a:p xmlns:a="http://schemas.openxmlformats.org/drawingml/2006/main">
            <a:pPr algn="l">
              <a:defRPr sz="2400" b="0">
                <a:solidFill>
                  <a:srgbClr val="58646A"/>
                </a:solidFill>
                <a:latin typeface="Arial"/>
                <a:ea typeface="Arial"/>
                <a:cs typeface="Arial"/>
              </a:defRPr>
            </a:pPr>
            <a:r>
              <a:rPr sz="2400" b="0">
                <a:solidFill>
                  <a:srgbClr val="58646A"/>
                </a:solidFill>
                <a:latin typeface="Arial"/>
                <a:ea typeface="Arial"/>
                <a:cs typeface="Arial"/>
              </a:rPr>
              <a:t>the optimization signal was reliable.</a:t>
            </a:r>
          </a:p>
        </p:txBody>
      </p:sp>
      <p:sp>
        <p:nvSpPr>
          <p:cNvPr id="10" name="text-4-9">
            <a:extLst xmlns:a="http://schemas.openxmlformats.org/drawingml/2006/main">
              <a:ext uri="{FF2B5EF4-FFF2-40B4-BE49-F238E27FC236}">
                <a16:creationId xmlns:a16="http://schemas.microsoft.com/office/drawing/2014/main" id="{39997B8D-F993-400F-AEFB-EC7E8C8A7DC0}"/>
              </a:ext>
            </a:extLst>
          </p:cNvPr>
          <p:cNvSpPr>
            <a:spLocks xmlns:a="http://schemas.openxmlformats.org/drawingml/2006/main" noGrp="1"/>
          </p:cNvSpPr>
          <p:nvPr/>
        </p:nvSpPr>
        <p:spPr>
          <a:xfrm xmlns:a="http://schemas.openxmlformats.org/drawingml/2006/main">
            <a:off x="9601200" y="33528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2B32"/>
                </a:solidFill>
                <a:latin typeface="Arial"/>
                <a:ea typeface="Arial"/>
                <a:cs typeface="Arial"/>
              </a:defRPr>
            </a:pPr>
            <a:r>
              <a:rPr sz="2100" b="1">
                <a:solidFill>
                  <a:srgbClr val="202B32"/>
                </a:solidFill>
                <a:latin typeface="Arial"/>
                <a:ea typeface="Arial"/>
                <a:cs typeface="Arial"/>
              </a:rPr>
              <a:t>Original page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9fd74ea3a0a4eaf"/>
          <a:stretch xmlns:a="http://schemas.openxmlformats.org/drawingml/2006/main"/>
        </p:blipFill>
        <p:spPr>
          <a:xfrm xmlns:a="http://schemas.openxmlformats.org/drawingml/2006/main">
            <a:off x="9601200" y="3888441"/>
            <a:ext cx="3352800" cy="4338918"/>
          </a:xfrm>
          <a:prstGeom xmlns:a="http://schemas.openxmlformats.org/drawingml/2006/main" prst="rect">
            <a:avLst/>
          </a:prstGeom>
        </p:spPr>
      </p:pic>
      <p:sp>
        <p:nvSpPr>
          <p:cNvPr id="12" name="text-4-11">
            <a:extLst xmlns:a="http://schemas.openxmlformats.org/drawingml/2006/main">
              <a:ext uri="{FF2B5EF4-FFF2-40B4-BE49-F238E27FC236}">
                <a16:creationId xmlns:a16="http://schemas.microsoft.com/office/drawing/2014/main" id="{43580394-580D-4579-A9B5-F64B861EC934}"/>
              </a:ext>
            </a:extLst>
          </p:cNvPr>
          <p:cNvSpPr>
            <a:spLocks xmlns:a="http://schemas.openxmlformats.org/drawingml/2006/main" noGrp="1"/>
          </p:cNvSpPr>
          <p:nvPr/>
        </p:nvSpPr>
        <p:spPr>
          <a:xfrm xmlns:a="http://schemas.openxmlformats.org/drawingml/2006/main">
            <a:off x="13868400" y="3352800"/>
            <a:ext cx="350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2B32"/>
                </a:solidFill>
                <a:latin typeface="Arial"/>
                <a:ea typeface="Arial"/>
                <a:cs typeface="Arial"/>
              </a:defRPr>
            </a:pPr>
            <a:r>
              <a:rPr sz="2100" b="1">
                <a:solidFill>
                  <a:srgbClr val="202B32"/>
                </a:solidFill>
                <a:latin typeface="Arial"/>
                <a:ea typeface="Arial"/>
                <a:cs typeface="Arial"/>
              </a:rPr>
              <a:t>Perturbed page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d82e5670fcb4b7e"/>
          <a:stretch xmlns:a="http://schemas.openxmlformats.org/drawingml/2006/main"/>
        </p:blipFill>
        <p:spPr>
          <a:xfrm xmlns:a="http://schemas.openxmlformats.org/drawingml/2006/main">
            <a:off x="13868400" y="3888441"/>
            <a:ext cx="3352800" cy="4338918"/>
          </a:xfrm>
          <a:prstGeom xmlns:a="http://schemas.openxmlformats.org/drawingml/2006/main" prst="rect">
            <a:avLst/>
          </a:prstGeom>
        </p:spPr>
      </p:pic>
      <p:sp>
        <p:nvSpPr>
          <p:cNvPr id="14" name="text-4-13">
            <a:extLst xmlns:a="http://schemas.openxmlformats.org/drawingml/2006/main">
              <a:ext uri="{FF2B5EF4-FFF2-40B4-BE49-F238E27FC236}">
                <a16:creationId xmlns:a16="http://schemas.microsoft.com/office/drawing/2014/main" id="{2AB2F479-AF1D-446A-B098-6018935ABDE1}"/>
              </a:ext>
            </a:extLst>
          </p:cNvPr>
          <p:cNvSpPr>
            <a:spLocks xmlns:a="http://schemas.openxmlformats.org/drawingml/2006/main" noGrp="1"/>
          </p:cNvSpPr>
          <p:nvPr/>
        </p:nvSpPr>
        <p:spPr>
          <a:xfrm xmlns:a="http://schemas.openxmlformats.org/drawingml/2006/main">
            <a:off x="9601200" y="8534400"/>
            <a:ext cx="762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8646A"/>
                </a:solidFill>
                <a:latin typeface="Arial"/>
                <a:ea typeface="Arial"/>
                <a:cs typeface="Arial"/>
              </a:defRPr>
            </a:pPr>
            <a:r>
              <a:rPr sz="1950" b="0">
                <a:solidFill>
                  <a:srgbClr val="58646A"/>
                </a:solidFill>
                <a:latin typeface="Arial"/>
                <a:ea typeface="Arial"/>
                <a:cs typeface="Arial"/>
              </a:rPr>
              <a:t>Text protected; pixel changes capped at 8 levels out of 255.</a:t>
            </a:r>
          </a:p>
        </p:txBody>
      </p:sp>
    </p:spTree>
    <p:extLst>
      <p:ext uri="{BB962C8B-B14F-4D97-AF65-F5344CB8AC3E}">
        <p14:creationId xmlns:p14="http://schemas.microsoft.com/office/powerpoint/2010/main" val="908124915"/>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1" name="text-5-0">
            <a:extLst xmlns:a="http://schemas.openxmlformats.org/drawingml/2006/main">
              <a:ext uri="{FF2B5EF4-FFF2-40B4-BE49-F238E27FC236}">
                <a16:creationId xmlns:a16="http://schemas.microsoft.com/office/drawing/2014/main" id="{ACFCDF70-CDE2-4F24-A930-A8C0F7D04B73}"/>
              </a:ext>
            </a:extLst>
          </p:cNvPr>
          <p:cNvSpPr>
            <a:spLocks xmlns:a="http://schemas.openxmlformats.org/drawingml/2006/main" noGrp="1"/>
          </p:cNvSpPr>
          <p:nvPr/>
        </p:nvSpPr>
        <p:spPr>
          <a:xfrm xmlns:a="http://schemas.openxmlformats.org/drawingml/2006/main">
            <a:off x="914400" y="609600"/>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571"/>
                </a:solidFill>
                <a:latin typeface="Arial"/>
                <a:ea typeface="Arial"/>
                <a:cs typeface="Arial"/>
              </a:defRPr>
            </a:pPr>
            <a:r>
              <a:rPr sz="1800" b="1">
                <a:solidFill>
                  <a:srgbClr val="167571"/>
                </a:solidFill>
                <a:latin typeface="Arial"/>
                <a:ea typeface="Arial"/>
                <a:cs typeface="Arial"/>
              </a:rPr>
              <a:t>ASSESSMENT PDF POLICY EXPERIMENTS</a:t>
            </a:r>
          </a:p>
        </p:txBody>
      </p:sp>
      <p:sp>
        <p:nvSpPr>
          <p:cNvPr id="2" name="text-5-1">
            <a:extLst xmlns:a="http://schemas.openxmlformats.org/drawingml/2006/main">
              <a:ext uri="{FF2B5EF4-FFF2-40B4-BE49-F238E27FC236}">
                <a16:creationId xmlns:a16="http://schemas.microsoft.com/office/drawing/2014/main" id="{FA61B91C-8496-4A20-8359-0A06354A6B2D}"/>
              </a:ext>
            </a:extLst>
          </p:cNvPr>
          <p:cNvSpPr>
            <a:spLocks xmlns:a="http://schemas.openxmlformats.org/drawingml/2006/main" noGrp="1"/>
          </p:cNvSpPr>
          <p:nvPr/>
        </p:nvSpPr>
        <p:spPr>
          <a:xfrm xmlns:a="http://schemas.openxmlformats.org/drawingml/2006/main">
            <a:off x="914400" y="1219200"/>
            <a:ext cx="16459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202B32"/>
                </a:solidFill>
                <a:latin typeface="Georgia"/>
                <a:ea typeface="Georgia"/>
                <a:cs typeface="Georgia"/>
              </a:defRPr>
            </a:pPr>
            <a:r>
              <a:rPr sz="5400" b="0">
                <a:solidFill>
                  <a:srgbClr val="202B32"/>
                </a:solidFill>
                <a:latin typeface="Georgia"/>
                <a:ea typeface="Georgia"/>
                <a:cs typeface="Georgia"/>
              </a:rPr>
              <a:t>A readable policy notice changed the response</a:t>
            </a:r>
          </a:p>
        </p:txBody>
      </p:sp>
      <p:sp>
        <p:nvSpPr>
          <p:cNvPr id="3" name="rule-5-2">
            <a:extLst xmlns:a="http://schemas.openxmlformats.org/drawingml/2006/main">
              <a:ext uri="{FF2B5EF4-FFF2-40B4-BE49-F238E27FC236}">
                <a16:creationId xmlns:a16="http://schemas.microsoft.com/office/drawing/2014/main" id="{B444A27F-8178-466C-BF73-F571C22E00B6}"/>
              </a:ext>
            </a:extLst>
          </p:cNvPr>
          <p:cNvSpPr>
            <a:spLocks xmlns:a="http://schemas.openxmlformats.org/drawingml/2006/main" noGrp="1"/>
          </p:cNvSpPr>
          <p:nvPr/>
        </p:nvSpPr>
        <p:spPr>
          <a:xfrm xmlns:a="http://schemas.openxmlformats.org/drawingml/2006/main">
            <a:off x="914400" y="9448800"/>
            <a:ext cx="164592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4" name="text-5-3">
            <a:extLst xmlns:a="http://schemas.openxmlformats.org/drawingml/2006/main">
              <a:ext uri="{FF2B5EF4-FFF2-40B4-BE49-F238E27FC236}">
                <a16:creationId xmlns:a16="http://schemas.microsoft.com/office/drawing/2014/main" id="{6C24FF9A-0391-484A-A060-C25C8AC4A097}"/>
              </a:ext>
            </a:extLst>
          </p:cNvPr>
          <p:cNvSpPr>
            <a:spLocks xmlns:a="http://schemas.openxmlformats.org/drawingml/2006/main" noGrp="1"/>
          </p:cNvSpPr>
          <p:nvPr/>
        </p:nvSpPr>
        <p:spPr>
          <a:xfrm xmlns:a="http://schemas.openxmlformats.org/drawingml/2006/main">
            <a:off x="914400" y="96393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46A"/>
                </a:solidFill>
                <a:latin typeface="Arial"/>
                <a:ea typeface="Arial"/>
                <a:cs typeface="Arial"/>
              </a:defRPr>
            </a:pPr>
            <a:r>
              <a:rPr sz="1650" b="0">
                <a:solidFill>
                  <a:srgbClr val="58646A"/>
                </a:solidFill>
                <a:latin typeface="Arial"/>
                <a:ea typeface="Arial"/>
                <a:cs typeface="Arial"/>
              </a:rPr>
              <a:t>Research update  /  7 October 2026</a:t>
            </a:r>
          </a:p>
        </p:txBody>
      </p:sp>
      <p:sp>
        <p:nvSpPr>
          <p:cNvPr id="5" name="text-5-4">
            <a:extLst xmlns:a="http://schemas.openxmlformats.org/drawingml/2006/main">
              <a:ext uri="{FF2B5EF4-FFF2-40B4-BE49-F238E27FC236}">
                <a16:creationId xmlns:a16="http://schemas.microsoft.com/office/drawing/2014/main" id="{4AEC657D-F0F6-48E9-9386-F1C7C2ECD42F}"/>
              </a:ext>
            </a:extLst>
          </p:cNvPr>
          <p:cNvSpPr>
            <a:spLocks xmlns:a="http://schemas.openxmlformats.org/drawingml/2006/main" noGrp="1"/>
          </p:cNvSpPr>
          <p:nvPr/>
        </p:nvSpPr>
        <p:spPr>
          <a:xfrm xmlns:a="http://schemas.openxmlformats.org/drawingml/2006/main">
            <a:off x="16306800" y="9639300"/>
            <a:ext cx="1066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8646A"/>
                </a:solidFill>
                <a:latin typeface="Arial"/>
                <a:ea typeface="Arial"/>
                <a:cs typeface="Arial"/>
              </a:defRPr>
            </a:pPr>
            <a:r>
              <a:rPr sz="1650" b="0">
                <a:solidFill>
                  <a:srgbClr val="58646A"/>
                </a:solidFill>
                <a:latin typeface="Arial"/>
                <a:ea typeface="Arial"/>
                <a:cs typeface="Arial"/>
              </a:rPr>
              <a:t>06 / 09</a:t>
            </a:r>
          </a:p>
        </p:txBody>
      </p:sp>
      <p:sp>
        <p:nvSpPr>
          <p:cNvPr id="6" name="text-5-5">
            <a:extLst xmlns:a="http://schemas.openxmlformats.org/drawingml/2006/main">
              <a:ext uri="{FF2B5EF4-FFF2-40B4-BE49-F238E27FC236}">
                <a16:creationId xmlns:a16="http://schemas.microsoft.com/office/drawing/2014/main" id="{ECFB077B-DF58-4309-BD82-BDE7FE4E36FC}"/>
              </a:ext>
            </a:extLst>
          </p:cNvPr>
          <p:cNvSpPr>
            <a:spLocks xmlns:a="http://schemas.openxmlformats.org/drawingml/2006/main" noGrp="1"/>
          </p:cNvSpPr>
          <p:nvPr/>
        </p:nvSpPr>
        <p:spPr>
          <a:xfrm xmlns:a="http://schemas.openxmlformats.org/drawingml/2006/main">
            <a:off x="914400" y="2743200"/>
            <a:ext cx="1645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Luna pilot on one synthetic four-page assessment PDF</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9b7b9a2100645a1"/>
          <a:stretch xmlns:a="http://schemas.openxmlformats.org/drawingml/2006/main"/>
        </p:blipFill>
        <p:spPr>
          <a:xfrm xmlns:a="http://schemas.openxmlformats.org/drawingml/2006/main">
            <a:off x="914400" y="3587129"/>
            <a:ext cx="7086600" cy="3569941"/>
          </a:xfrm>
          <a:prstGeom xmlns:a="http://schemas.openxmlformats.org/drawingml/2006/main" prst="rect">
            <a:avLst/>
          </a:prstGeom>
        </p:spPr>
      </p:pic>
      <p:sp>
        <p:nvSpPr>
          <p:cNvPr id="8" name="text-5-7">
            <a:extLst xmlns:a="http://schemas.openxmlformats.org/drawingml/2006/main">
              <a:ext uri="{FF2B5EF4-FFF2-40B4-BE49-F238E27FC236}">
                <a16:creationId xmlns:a16="http://schemas.microsoft.com/office/drawing/2014/main" id="{27E7D66A-DDDA-40FA-9D83-6B75FFE112ED}"/>
              </a:ext>
            </a:extLst>
          </p:cNvPr>
          <p:cNvSpPr>
            <a:spLocks xmlns:a="http://schemas.openxmlformats.org/drawingml/2006/main" noGrp="1"/>
          </p:cNvSpPr>
          <p:nvPr/>
        </p:nvSpPr>
        <p:spPr>
          <a:xfrm xmlns:a="http://schemas.openxmlformats.org/drawingml/2006/main">
            <a:off x="914400" y="7543800"/>
            <a:ext cx="708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67571"/>
                </a:solidFill>
                <a:latin typeface="Arial"/>
                <a:ea typeface="Arial"/>
                <a:cs typeface="Arial"/>
              </a:defRPr>
            </a:pPr>
            <a:r>
              <a:rPr sz="2850" b="1">
                <a:solidFill>
                  <a:srgbClr val="167571"/>
                </a:solidFill>
                <a:latin typeface="Arial"/>
                <a:ea typeface="Arial"/>
                <a:cs typeface="Arial"/>
              </a:rPr>
              <a:t>“I can’t answer or draft</a:t>
            </a:r>
          </a:p>
          <a:p xmlns:a="http://schemas.openxmlformats.org/drawingml/2006/main">
            <a:pPr algn="l">
              <a:defRPr sz="2850" b="1">
                <a:solidFill>
                  <a:srgbClr val="167571"/>
                </a:solidFill>
                <a:latin typeface="Arial"/>
                <a:ea typeface="Arial"/>
                <a:cs typeface="Arial"/>
              </a:defRPr>
            </a:pPr>
            <a:r>
              <a:rPr sz="2850" b="1">
                <a:solidFill>
                  <a:srgbClr val="167571"/>
                </a:solidFill>
                <a:latin typeface="Arial"/>
                <a:ea typeface="Arial"/>
                <a:cs typeface="Arial"/>
              </a:rPr>
              <a:t>this assignment for you”</a:t>
            </a:r>
          </a:p>
        </p:txBody>
      </p:sp>
      <p:sp>
        <p:nvSpPr>
          <p:cNvPr id="9" name="text-5-8">
            <a:extLst xmlns:a="http://schemas.openxmlformats.org/drawingml/2006/main">
              <a:ext uri="{FF2B5EF4-FFF2-40B4-BE49-F238E27FC236}">
                <a16:creationId xmlns:a16="http://schemas.microsoft.com/office/drawing/2014/main" id="{D91F033D-5EA1-4B8C-A30F-3D1103522723}"/>
              </a:ext>
            </a:extLst>
          </p:cNvPr>
          <p:cNvSpPr>
            <a:spLocks xmlns:a="http://schemas.openxmlformats.org/drawingml/2006/main" noGrp="1"/>
          </p:cNvSpPr>
          <p:nvPr/>
        </p:nvSpPr>
        <p:spPr>
          <a:xfrm xmlns:a="http://schemas.openxmlformats.org/drawingml/2006/main">
            <a:off x="914400" y="876300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8646A"/>
                </a:solidFill>
                <a:latin typeface="Arial"/>
                <a:ea typeface="Arial"/>
                <a:cs typeface="Arial"/>
              </a:defRPr>
            </a:pPr>
            <a:r>
              <a:rPr sz="1950" b="0">
                <a:solidFill>
                  <a:srgbClr val="58646A"/>
                </a:solidFill>
                <a:latin typeface="Arial"/>
                <a:ea typeface="Arial"/>
                <a:cs typeface="Arial"/>
              </a:rPr>
              <a:t>The response also referred the user to teaching staff.</a:t>
            </a:r>
          </a:p>
        </p:txBody>
      </p:sp>
      <p:sp>
        <p:nvSpPr>
          <p:cNvPr id="10" name="text-5-9">
            <a:extLst xmlns:a="http://schemas.openxmlformats.org/drawingml/2006/main">
              <a:ext uri="{FF2B5EF4-FFF2-40B4-BE49-F238E27FC236}">
                <a16:creationId xmlns:a16="http://schemas.microsoft.com/office/drawing/2014/main" id="{FC2DE5D9-4E05-4708-B53D-0EA30B96FC7E}"/>
              </a:ext>
            </a:extLst>
          </p:cNvPr>
          <p:cNvSpPr>
            <a:spLocks xmlns:a="http://schemas.openxmlformats.org/drawingml/2006/main" noGrp="1"/>
          </p:cNvSpPr>
          <p:nvPr/>
        </p:nvSpPr>
        <p:spPr>
          <a:xfrm xmlns:a="http://schemas.openxmlformats.org/drawingml/2006/main">
            <a:off x="9144000" y="33528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2B32"/>
                </a:solidFill>
                <a:latin typeface="Arial"/>
                <a:ea typeface="Arial"/>
                <a:cs typeface="Arial"/>
              </a:defRPr>
            </a:pPr>
            <a:r>
              <a:rPr sz="2550" b="1">
                <a:solidFill>
                  <a:srgbClr val="202B32"/>
                </a:solidFill>
                <a:latin typeface="Arial"/>
                <a:ea typeface="Arial"/>
                <a:cs typeface="Arial"/>
              </a:rPr>
              <a:t>Refusal persisted after these changes:</a:t>
            </a:r>
          </a:p>
        </p:txBody>
      </p:sp>
      <p:sp>
        <p:nvSpPr>
          <p:cNvPr id="11" name="text-5-10">
            <a:extLst xmlns:a="http://schemas.openxmlformats.org/drawingml/2006/main">
              <a:ext uri="{FF2B5EF4-FFF2-40B4-BE49-F238E27FC236}">
                <a16:creationId xmlns:a16="http://schemas.microsoft.com/office/drawing/2014/main" id="{BBFEA3B6-1662-4D43-A5A3-10D7468310F2}"/>
              </a:ext>
            </a:extLst>
          </p:cNvPr>
          <p:cNvSpPr>
            <a:spLocks xmlns:a="http://schemas.openxmlformats.org/drawingml/2006/main" noGrp="1"/>
          </p:cNvSpPr>
          <p:nvPr/>
        </p:nvSpPr>
        <p:spPr>
          <a:xfrm xmlns:a="http://schemas.openxmlformats.org/drawingml/2006/main">
            <a:off x="9144000" y="41148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2B32"/>
                </a:solidFill>
                <a:latin typeface="Arial"/>
                <a:ea typeface="Arial"/>
                <a:cs typeface="Arial"/>
              </a:defRPr>
            </a:pPr>
            <a:r>
              <a:rPr sz="2400" b="1">
                <a:solidFill>
                  <a:srgbClr val="202B32"/>
                </a:solidFill>
                <a:latin typeface="Arial"/>
                <a:ea typeface="Arial"/>
                <a:cs typeface="Arial"/>
              </a:rPr>
              <a:t>Re-rasterization</a:t>
            </a:r>
          </a:p>
        </p:txBody>
      </p:sp>
      <p:sp>
        <p:nvSpPr>
          <p:cNvPr id="12" name="text-5-11">
            <a:extLst xmlns:a="http://schemas.openxmlformats.org/drawingml/2006/main">
              <a:ext uri="{FF2B5EF4-FFF2-40B4-BE49-F238E27FC236}">
                <a16:creationId xmlns:a16="http://schemas.microsoft.com/office/drawing/2014/main" id="{1DD541BC-3D66-48B7-8B8E-876403ADECF5}"/>
              </a:ext>
            </a:extLst>
          </p:cNvPr>
          <p:cNvSpPr>
            <a:spLocks xmlns:a="http://schemas.openxmlformats.org/drawingml/2006/main" noGrp="1"/>
          </p:cNvSpPr>
          <p:nvPr/>
        </p:nvSpPr>
        <p:spPr>
          <a:xfrm xmlns:a="http://schemas.openxmlformats.org/drawingml/2006/main">
            <a:off x="9144000" y="45339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Render the pages as images again.</a:t>
            </a:r>
          </a:p>
        </p:txBody>
      </p:sp>
      <p:sp>
        <p:nvSpPr>
          <p:cNvPr id="13" name="text-5-12">
            <a:extLst xmlns:a="http://schemas.openxmlformats.org/drawingml/2006/main">
              <a:ext uri="{FF2B5EF4-FFF2-40B4-BE49-F238E27FC236}">
                <a16:creationId xmlns:a16="http://schemas.microsoft.com/office/drawing/2014/main" id="{0DBC4A75-7287-4599-BC9B-4B8F7B105DB0}"/>
              </a:ext>
            </a:extLst>
          </p:cNvPr>
          <p:cNvSpPr>
            <a:spLocks xmlns:a="http://schemas.openxmlformats.org/drawingml/2006/main" noGrp="1"/>
          </p:cNvSpPr>
          <p:nvPr/>
        </p:nvSpPr>
        <p:spPr>
          <a:xfrm xmlns:a="http://schemas.openxmlformats.org/drawingml/2006/main">
            <a:off x="9144000" y="51054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2B32"/>
                </a:solidFill>
                <a:latin typeface="Arial"/>
                <a:ea typeface="Arial"/>
                <a:cs typeface="Arial"/>
              </a:defRPr>
            </a:pPr>
            <a:r>
              <a:rPr sz="2400" b="1">
                <a:solidFill>
                  <a:srgbClr val="202B32"/>
                </a:solidFill>
                <a:latin typeface="Arial"/>
                <a:ea typeface="Arial"/>
                <a:cs typeface="Arial"/>
              </a:rPr>
              <a:t>JPEG quality 95</a:t>
            </a:r>
          </a:p>
        </p:txBody>
      </p:sp>
      <p:sp>
        <p:nvSpPr>
          <p:cNvPr id="14" name="text-5-13">
            <a:extLst xmlns:a="http://schemas.openxmlformats.org/drawingml/2006/main">
              <a:ext uri="{FF2B5EF4-FFF2-40B4-BE49-F238E27FC236}">
                <a16:creationId xmlns:a16="http://schemas.microsoft.com/office/drawing/2014/main" id="{97E667F9-7031-4E40-B0B2-BB4149B42DE8}"/>
              </a:ext>
            </a:extLst>
          </p:cNvPr>
          <p:cNvSpPr>
            <a:spLocks xmlns:a="http://schemas.openxmlformats.org/drawingml/2006/main" noGrp="1"/>
          </p:cNvSpPr>
          <p:nvPr/>
        </p:nvSpPr>
        <p:spPr>
          <a:xfrm xmlns:a="http://schemas.openxmlformats.org/drawingml/2006/main">
            <a:off x="9144000" y="55245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Apply light image compression.</a:t>
            </a:r>
          </a:p>
        </p:txBody>
      </p:sp>
      <p:sp>
        <p:nvSpPr>
          <p:cNvPr id="15" name="text-5-14">
            <a:extLst xmlns:a="http://schemas.openxmlformats.org/drawingml/2006/main">
              <a:ext uri="{FF2B5EF4-FFF2-40B4-BE49-F238E27FC236}">
                <a16:creationId xmlns:a16="http://schemas.microsoft.com/office/drawing/2014/main" id="{480E321A-E4CC-49C4-9EAF-D040DF844D3B}"/>
              </a:ext>
            </a:extLst>
          </p:cNvPr>
          <p:cNvSpPr>
            <a:spLocks xmlns:a="http://schemas.openxmlformats.org/drawingml/2006/main" noGrp="1"/>
          </p:cNvSpPr>
          <p:nvPr/>
        </p:nvSpPr>
        <p:spPr>
          <a:xfrm xmlns:a="http://schemas.openxmlformats.org/drawingml/2006/main">
            <a:off x="9144000" y="60960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2B32"/>
                </a:solidFill>
                <a:latin typeface="Arial"/>
                <a:ea typeface="Arial"/>
                <a:cs typeface="Arial"/>
              </a:defRPr>
            </a:pPr>
            <a:r>
              <a:rPr sz="2400" b="1">
                <a:solidFill>
                  <a:srgbClr val="202B32"/>
                </a:solidFill>
                <a:latin typeface="Arial"/>
                <a:ea typeface="Arial"/>
                <a:cs typeface="Arial"/>
              </a:rPr>
              <a:t>JPEG quality 85</a:t>
            </a:r>
          </a:p>
        </p:txBody>
      </p:sp>
      <p:sp>
        <p:nvSpPr>
          <p:cNvPr id="16" name="text-5-15">
            <a:extLst xmlns:a="http://schemas.openxmlformats.org/drawingml/2006/main">
              <a:ext uri="{FF2B5EF4-FFF2-40B4-BE49-F238E27FC236}">
                <a16:creationId xmlns:a16="http://schemas.microsoft.com/office/drawing/2014/main" id="{362A6333-90D1-4F0D-8B92-E802E3C7723B}"/>
              </a:ext>
            </a:extLst>
          </p:cNvPr>
          <p:cNvSpPr>
            <a:spLocks xmlns:a="http://schemas.openxmlformats.org/drawingml/2006/main" noGrp="1"/>
          </p:cNvSpPr>
          <p:nvPr/>
        </p:nvSpPr>
        <p:spPr>
          <a:xfrm xmlns:a="http://schemas.openxmlformats.org/drawingml/2006/main">
            <a:off x="9144000" y="65151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Apply stronger image compression.</a:t>
            </a:r>
          </a:p>
        </p:txBody>
      </p:sp>
      <p:sp>
        <p:nvSpPr>
          <p:cNvPr id="17" name="text-5-16">
            <a:extLst xmlns:a="http://schemas.openxmlformats.org/drawingml/2006/main">
              <a:ext uri="{FF2B5EF4-FFF2-40B4-BE49-F238E27FC236}">
                <a16:creationId xmlns:a16="http://schemas.microsoft.com/office/drawing/2014/main" id="{159360C3-A09C-41B3-9578-0EC3ED8B1499}"/>
              </a:ext>
            </a:extLst>
          </p:cNvPr>
          <p:cNvSpPr>
            <a:spLocks xmlns:a="http://schemas.openxmlformats.org/drawingml/2006/main" noGrp="1"/>
          </p:cNvSpPr>
          <p:nvPr/>
        </p:nvSpPr>
        <p:spPr>
          <a:xfrm xmlns:a="http://schemas.openxmlformats.org/drawingml/2006/main">
            <a:off x="9144000" y="70866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2B32"/>
                </a:solidFill>
                <a:latin typeface="Arial"/>
                <a:ea typeface="Arial"/>
                <a:cs typeface="Arial"/>
              </a:defRPr>
            </a:pPr>
            <a:r>
              <a:rPr sz="2400" b="1">
                <a:solidFill>
                  <a:srgbClr val="202B32"/>
                </a:solidFill>
                <a:latin typeface="Arial"/>
                <a:ea typeface="Arial"/>
                <a:cs typeface="Arial"/>
              </a:rPr>
              <a:t>Resize and restore</a:t>
            </a:r>
          </a:p>
        </p:txBody>
      </p:sp>
      <p:sp>
        <p:nvSpPr>
          <p:cNvPr id="18" name="text-5-17">
            <a:extLst xmlns:a="http://schemas.openxmlformats.org/drawingml/2006/main">
              <a:ext uri="{FF2B5EF4-FFF2-40B4-BE49-F238E27FC236}">
                <a16:creationId xmlns:a16="http://schemas.microsoft.com/office/drawing/2014/main" id="{0E728F25-23FE-4D2F-B6BB-A54F3A15A9AB}"/>
              </a:ext>
            </a:extLst>
          </p:cNvPr>
          <p:cNvSpPr>
            <a:spLocks xmlns:a="http://schemas.openxmlformats.org/drawingml/2006/main" noGrp="1"/>
          </p:cNvSpPr>
          <p:nvPr/>
        </p:nvSpPr>
        <p:spPr>
          <a:xfrm xmlns:a="http://schemas.openxmlformats.org/drawingml/2006/main">
            <a:off x="9144000" y="75057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Reduce to 75%, then restore the size.</a:t>
            </a:r>
          </a:p>
        </p:txBody>
      </p:sp>
      <p:sp>
        <p:nvSpPr>
          <p:cNvPr id="19" name="text-5-18">
            <a:extLst xmlns:a="http://schemas.openxmlformats.org/drawingml/2006/main">
              <a:ext uri="{FF2B5EF4-FFF2-40B4-BE49-F238E27FC236}">
                <a16:creationId xmlns:a16="http://schemas.microsoft.com/office/drawing/2014/main" id="{98090776-D896-435A-A37B-D4AEC1B3CBC2}"/>
              </a:ext>
            </a:extLst>
          </p:cNvPr>
          <p:cNvSpPr>
            <a:spLocks xmlns:a="http://schemas.openxmlformats.org/drawingml/2006/main" noGrp="1"/>
          </p:cNvSpPr>
          <p:nvPr/>
        </p:nvSpPr>
        <p:spPr>
          <a:xfrm xmlns:a="http://schemas.openxmlformats.org/drawingml/2006/main">
            <a:off x="9144000" y="80772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2B32"/>
                </a:solidFill>
                <a:latin typeface="Arial"/>
                <a:ea typeface="Arial"/>
                <a:cs typeface="Arial"/>
              </a:defRPr>
            </a:pPr>
            <a:r>
              <a:rPr sz="2400" b="1">
                <a:solidFill>
                  <a:srgbClr val="202B32"/>
                </a:solidFill>
                <a:latin typeface="Arial"/>
                <a:ea typeface="Arial"/>
                <a:cs typeface="Arial"/>
              </a:rPr>
              <a:t>Gaussian blur</a:t>
            </a:r>
          </a:p>
        </p:txBody>
      </p:sp>
      <p:sp>
        <p:nvSpPr>
          <p:cNvPr id="20" name="text-5-19">
            <a:extLst xmlns:a="http://schemas.openxmlformats.org/drawingml/2006/main">
              <a:ext uri="{FF2B5EF4-FFF2-40B4-BE49-F238E27FC236}">
                <a16:creationId xmlns:a16="http://schemas.microsoft.com/office/drawing/2014/main" id="{6C7B49D8-94D7-416A-9ED5-CE1941731374}"/>
              </a:ext>
            </a:extLst>
          </p:cNvPr>
          <p:cNvSpPr>
            <a:spLocks xmlns:a="http://schemas.openxmlformats.org/drawingml/2006/main" noGrp="1"/>
          </p:cNvSpPr>
          <p:nvPr/>
        </p:nvSpPr>
        <p:spPr>
          <a:xfrm xmlns:a="http://schemas.openxmlformats.org/drawingml/2006/main">
            <a:off x="9144000" y="84963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Apply mild blur, radius 0.5 pixels.</a:t>
            </a:r>
          </a:p>
        </p:txBody>
      </p:sp>
    </p:spTree>
    <p:extLst>
      <p:ext uri="{BB962C8B-B14F-4D97-AF65-F5344CB8AC3E}">
        <p14:creationId xmlns:p14="http://schemas.microsoft.com/office/powerpoint/2010/main" val="52635770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text-6-0">
            <a:extLst xmlns:a="http://schemas.openxmlformats.org/drawingml/2006/main">
              <a:ext uri="{FF2B5EF4-FFF2-40B4-BE49-F238E27FC236}">
                <a16:creationId xmlns:a16="http://schemas.microsoft.com/office/drawing/2014/main" id="{8788D592-8BEE-4CD8-8E69-3928DA67EB26}"/>
              </a:ext>
            </a:extLst>
          </p:cNvPr>
          <p:cNvSpPr>
            <a:spLocks xmlns:a="http://schemas.openxmlformats.org/drawingml/2006/main" noGrp="1"/>
          </p:cNvSpPr>
          <p:nvPr/>
        </p:nvSpPr>
        <p:spPr>
          <a:xfrm xmlns:a="http://schemas.openxmlformats.org/drawingml/2006/main">
            <a:off x="914400" y="609600"/>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571"/>
                </a:solidFill>
                <a:latin typeface="Arial"/>
                <a:ea typeface="Arial"/>
                <a:cs typeface="Arial"/>
              </a:defRPr>
            </a:pPr>
            <a:r>
              <a:rPr sz="1800" b="1">
                <a:solidFill>
                  <a:srgbClr val="167571"/>
                </a:solidFill>
                <a:latin typeface="Arial"/>
                <a:ea typeface="Arial"/>
                <a:cs typeface="Arial"/>
              </a:rPr>
              <a:t>ASSESSMENT PDF POLICY EXPERIMENTS</a:t>
            </a:r>
          </a:p>
        </p:txBody>
      </p:sp>
      <p:sp>
        <p:nvSpPr>
          <p:cNvPr id="2" name="text-6-1">
            <a:extLst xmlns:a="http://schemas.openxmlformats.org/drawingml/2006/main">
              <a:ext uri="{FF2B5EF4-FFF2-40B4-BE49-F238E27FC236}">
                <a16:creationId xmlns:a16="http://schemas.microsoft.com/office/drawing/2014/main" id="{EE376CDA-9BBE-41CC-BA21-4FC15840C2B4}"/>
              </a:ext>
            </a:extLst>
          </p:cNvPr>
          <p:cNvSpPr>
            <a:spLocks xmlns:a="http://schemas.openxmlformats.org/drawingml/2006/main" noGrp="1"/>
          </p:cNvSpPr>
          <p:nvPr/>
        </p:nvSpPr>
        <p:spPr>
          <a:xfrm xmlns:a="http://schemas.openxmlformats.org/drawingml/2006/main">
            <a:off x="914400" y="1219200"/>
            <a:ext cx="16459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202B32"/>
                </a:solidFill>
                <a:latin typeface="Georgia"/>
                <a:ea typeface="Georgia"/>
                <a:cs typeface="Georgia"/>
              </a:defRPr>
            </a:pPr>
            <a:r>
              <a:rPr sz="5400" b="0">
                <a:solidFill>
                  <a:srgbClr val="202B32"/>
                </a:solidFill>
                <a:latin typeface="Georgia"/>
                <a:ea typeface="Georgia"/>
                <a:cs typeface="Georgia"/>
              </a:rPr>
              <a:t>Watermark-based policy routing</a:t>
            </a:r>
          </a:p>
        </p:txBody>
      </p:sp>
      <p:sp>
        <p:nvSpPr>
          <p:cNvPr id="3" name="rule-6-2">
            <a:extLst xmlns:a="http://schemas.openxmlformats.org/drawingml/2006/main">
              <a:ext uri="{FF2B5EF4-FFF2-40B4-BE49-F238E27FC236}">
                <a16:creationId xmlns:a16="http://schemas.microsoft.com/office/drawing/2014/main" id="{DD0021B1-2C66-4BAC-85A0-63B29A027DE5}"/>
              </a:ext>
            </a:extLst>
          </p:cNvPr>
          <p:cNvSpPr>
            <a:spLocks xmlns:a="http://schemas.openxmlformats.org/drawingml/2006/main" noGrp="1"/>
          </p:cNvSpPr>
          <p:nvPr/>
        </p:nvSpPr>
        <p:spPr>
          <a:xfrm xmlns:a="http://schemas.openxmlformats.org/drawingml/2006/main">
            <a:off x="914400" y="9448800"/>
            <a:ext cx="164592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4" name="text-6-3">
            <a:extLst xmlns:a="http://schemas.openxmlformats.org/drawingml/2006/main">
              <a:ext uri="{FF2B5EF4-FFF2-40B4-BE49-F238E27FC236}">
                <a16:creationId xmlns:a16="http://schemas.microsoft.com/office/drawing/2014/main" id="{2ECEAE58-714D-4B3B-896F-558A70A7BCE9}"/>
              </a:ext>
            </a:extLst>
          </p:cNvPr>
          <p:cNvSpPr>
            <a:spLocks xmlns:a="http://schemas.openxmlformats.org/drawingml/2006/main" noGrp="1"/>
          </p:cNvSpPr>
          <p:nvPr/>
        </p:nvSpPr>
        <p:spPr>
          <a:xfrm xmlns:a="http://schemas.openxmlformats.org/drawingml/2006/main">
            <a:off x="914400" y="96393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46A"/>
                </a:solidFill>
                <a:latin typeface="Arial"/>
                <a:ea typeface="Arial"/>
                <a:cs typeface="Arial"/>
              </a:defRPr>
            </a:pPr>
            <a:r>
              <a:rPr sz="1650" b="0">
                <a:solidFill>
                  <a:srgbClr val="58646A"/>
                </a:solidFill>
                <a:latin typeface="Arial"/>
                <a:ea typeface="Arial"/>
                <a:cs typeface="Arial"/>
              </a:rPr>
              <a:t>Research update  /  7 October 2026</a:t>
            </a:r>
          </a:p>
        </p:txBody>
      </p:sp>
      <p:sp>
        <p:nvSpPr>
          <p:cNvPr id="5" name="text-6-4">
            <a:extLst xmlns:a="http://schemas.openxmlformats.org/drawingml/2006/main">
              <a:ext uri="{FF2B5EF4-FFF2-40B4-BE49-F238E27FC236}">
                <a16:creationId xmlns:a16="http://schemas.microsoft.com/office/drawing/2014/main" id="{21C0A410-0B3F-4815-A810-0D02A9C862DB}"/>
              </a:ext>
            </a:extLst>
          </p:cNvPr>
          <p:cNvSpPr>
            <a:spLocks xmlns:a="http://schemas.openxmlformats.org/drawingml/2006/main" noGrp="1"/>
          </p:cNvSpPr>
          <p:nvPr/>
        </p:nvSpPr>
        <p:spPr>
          <a:xfrm xmlns:a="http://schemas.openxmlformats.org/drawingml/2006/main">
            <a:off x="16306800" y="9639300"/>
            <a:ext cx="1066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8646A"/>
                </a:solidFill>
                <a:latin typeface="Arial"/>
                <a:ea typeface="Arial"/>
                <a:cs typeface="Arial"/>
              </a:defRPr>
            </a:pPr>
            <a:r>
              <a:rPr sz="1650" b="0">
                <a:solidFill>
                  <a:srgbClr val="58646A"/>
                </a:solidFill>
                <a:latin typeface="Arial"/>
                <a:ea typeface="Arial"/>
                <a:cs typeface="Arial"/>
              </a:rPr>
              <a:t>07 / 09</a:t>
            </a:r>
          </a:p>
        </p:txBody>
      </p:sp>
      <p:sp>
        <p:nvSpPr>
          <p:cNvPr id="6" name="text-6-5">
            <a:extLst xmlns:a="http://schemas.openxmlformats.org/drawingml/2006/main">
              <a:ext uri="{FF2B5EF4-FFF2-40B4-BE49-F238E27FC236}">
                <a16:creationId xmlns:a16="http://schemas.microsoft.com/office/drawing/2014/main" id="{9C1636DB-6064-4788-AC75-0D8650BED4CD}"/>
              </a:ext>
            </a:extLst>
          </p:cNvPr>
          <p:cNvSpPr>
            <a:spLocks xmlns:a="http://schemas.openxmlformats.org/drawingml/2006/main" noGrp="1"/>
          </p:cNvSpPr>
          <p:nvPr/>
        </p:nvSpPr>
        <p:spPr>
          <a:xfrm xmlns:a="http://schemas.openxmlformats.org/drawingml/2006/main">
            <a:off x="914400" y="2819400"/>
            <a:ext cx="16459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202B32"/>
                </a:solidFill>
                <a:latin typeface="Arial"/>
                <a:ea typeface="Arial"/>
                <a:cs typeface="Arial"/>
              </a:defRPr>
            </a:pPr>
            <a:r>
              <a:rPr sz="3000" b="0">
                <a:solidFill>
                  <a:srgbClr val="202B32"/>
                </a:solidFill>
                <a:latin typeface="Arial"/>
                <a:ea typeface="Arial"/>
                <a:cs typeface="Arial"/>
              </a:rPr>
              <a:t>A small colour pattern lets the gateway identify a policy marker.</a:t>
            </a:r>
          </a:p>
        </p:txBody>
      </p:sp>
      <p:sp>
        <p:nvSpPr>
          <p:cNvPr id="7" name="text-6-6">
            <a:extLst xmlns:a="http://schemas.openxmlformats.org/drawingml/2006/main">
              <a:ext uri="{FF2B5EF4-FFF2-40B4-BE49-F238E27FC236}">
                <a16:creationId xmlns:a16="http://schemas.microsoft.com/office/drawing/2014/main" id="{9818090C-4A35-44EB-BE32-002AADCE9EF7}"/>
              </a:ext>
            </a:extLst>
          </p:cNvPr>
          <p:cNvSpPr>
            <a:spLocks xmlns:a="http://schemas.openxmlformats.org/drawingml/2006/main" noGrp="1"/>
          </p:cNvSpPr>
          <p:nvPr/>
        </p:nvSpPr>
        <p:spPr>
          <a:xfrm xmlns:a="http://schemas.openxmlformats.org/drawingml/2006/main">
            <a:off x="914400" y="4267200"/>
            <a:ext cx="7924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67571"/>
                </a:solidFill>
                <a:latin typeface="Arial"/>
                <a:ea typeface="Arial"/>
                <a:cs typeface="Arial"/>
              </a:defRPr>
            </a:pPr>
            <a:r>
              <a:rPr sz="1950" b="1">
                <a:solidFill>
                  <a:srgbClr val="167571"/>
                </a:solidFill>
                <a:latin typeface="Arial"/>
                <a:ea typeface="Arial"/>
                <a:cs typeface="Arial"/>
              </a:rPr>
              <a:t>BLUE CHANNEL CHANGE</a:t>
            </a:r>
          </a:p>
        </p:txBody>
      </p:sp>
      <p:sp>
        <p:nvSpPr>
          <p:cNvPr id="8" name="text-6-7">
            <a:extLst xmlns:a="http://schemas.openxmlformats.org/drawingml/2006/main">
              <a:ext uri="{FF2B5EF4-FFF2-40B4-BE49-F238E27FC236}">
                <a16:creationId xmlns:a16="http://schemas.microsoft.com/office/drawing/2014/main" id="{890A3DBD-D81D-4429-A5BB-3E2E6A9738FA}"/>
              </a:ext>
            </a:extLst>
          </p:cNvPr>
          <p:cNvSpPr>
            <a:spLocks xmlns:a="http://schemas.openxmlformats.org/drawingml/2006/main" noGrp="1"/>
          </p:cNvSpPr>
          <p:nvPr/>
        </p:nvSpPr>
        <p:spPr>
          <a:xfrm xmlns:a="http://schemas.openxmlformats.org/drawingml/2006/main">
            <a:off x="914400" y="4953000"/>
            <a:ext cx="8534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2B32"/>
                </a:solidFill>
                <a:latin typeface="Arial"/>
                <a:ea typeface="Arial"/>
                <a:cs typeface="Arial"/>
              </a:defRPr>
            </a:pPr>
            <a:r>
              <a:rPr sz="3150" b="1">
                <a:solidFill>
                  <a:srgbClr val="202B32"/>
                </a:solidFill>
                <a:latin typeface="Arial"/>
                <a:ea typeface="Arial"/>
                <a:cs typeface="Arial"/>
              </a:rPr>
              <a:t>(255, 255, 255)  →  (255, 255, 247)</a:t>
            </a:r>
          </a:p>
        </p:txBody>
      </p:sp>
      <p:sp>
        <p:nvSpPr>
          <p:cNvPr id="9" name="text-6-8">
            <a:extLst xmlns:a="http://schemas.openxmlformats.org/drawingml/2006/main">
              <a:ext uri="{FF2B5EF4-FFF2-40B4-BE49-F238E27FC236}">
                <a16:creationId xmlns:a16="http://schemas.microsoft.com/office/drawing/2014/main" id="{2FE021EB-F944-4AA4-AEEC-9604D46434EF}"/>
              </a:ext>
            </a:extLst>
          </p:cNvPr>
          <p:cNvSpPr>
            <a:spLocks xmlns:a="http://schemas.openxmlformats.org/drawingml/2006/main" noGrp="1"/>
          </p:cNvSpPr>
          <p:nvPr/>
        </p:nvSpPr>
        <p:spPr>
          <a:xfrm xmlns:a="http://schemas.openxmlformats.org/drawingml/2006/main">
            <a:off x="914400" y="6096000"/>
            <a:ext cx="8534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202B32"/>
                </a:solidFill>
                <a:latin typeface="Arial"/>
                <a:ea typeface="Arial"/>
                <a:cs typeface="Arial"/>
              </a:defRPr>
            </a:pPr>
            <a:r>
              <a:rPr sz="2550" b="0">
                <a:solidFill>
                  <a:srgbClr val="202B32"/>
                </a:solidFill>
                <a:latin typeface="Arial"/>
                <a:ea typeface="Arial"/>
                <a:cs typeface="Arial"/>
              </a:rPr>
              <a:t>Subtract 8 from blue at selected</a:t>
            </a:r>
          </a:p>
          <a:p xmlns:a="http://schemas.openxmlformats.org/drawingml/2006/main">
            <a:pPr algn="l">
              <a:defRPr sz="2550" b="0">
                <a:solidFill>
                  <a:srgbClr val="202B32"/>
                </a:solidFill>
                <a:latin typeface="Arial"/>
                <a:ea typeface="Arial"/>
                <a:cs typeface="Arial"/>
              </a:defRPr>
            </a:pPr>
            <a:r>
              <a:rPr sz="2550" b="0">
                <a:solidFill>
                  <a:srgbClr val="202B32"/>
                </a:solidFill>
                <a:latin typeface="Arial"/>
                <a:ea typeface="Arial"/>
                <a:cs typeface="Arial"/>
              </a:rPr>
              <a:t>near-white pixels; keep red and green.</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13a44c3cc4046fb"/>
          <a:stretch xmlns:a="http://schemas.openxmlformats.org/drawingml/2006/main"/>
        </p:blipFill>
        <p:spPr>
          <a:xfrm xmlns:a="http://schemas.openxmlformats.org/drawingml/2006/main">
            <a:off x="10668000" y="4246288"/>
            <a:ext cx="3048000" cy="1489624"/>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a2173459f8b4215"/>
          <a:stretch xmlns:a="http://schemas.openxmlformats.org/drawingml/2006/main"/>
        </p:blipFill>
        <p:spPr>
          <a:xfrm xmlns:a="http://schemas.openxmlformats.org/drawingml/2006/main">
            <a:off x="14325600" y="4246288"/>
            <a:ext cx="3048000" cy="1489624"/>
          </a:xfrm>
          <a:prstGeom xmlns:a="http://schemas.openxmlformats.org/drawingml/2006/main" prst="rect">
            <a:avLst/>
          </a:prstGeom>
        </p:spPr>
      </p:pic>
      <p:sp>
        <p:nvSpPr>
          <p:cNvPr id="12" name="text-6-11">
            <a:extLst xmlns:a="http://schemas.openxmlformats.org/drawingml/2006/main">
              <a:ext uri="{FF2B5EF4-FFF2-40B4-BE49-F238E27FC236}">
                <a16:creationId xmlns:a16="http://schemas.microsoft.com/office/drawing/2014/main" id="{FD42FCD2-6C27-4AB4-BEDB-297B5530FCD3}"/>
              </a:ext>
            </a:extLst>
          </p:cNvPr>
          <p:cNvSpPr>
            <a:spLocks xmlns:a="http://schemas.openxmlformats.org/drawingml/2006/main" noGrp="1"/>
          </p:cNvSpPr>
          <p:nvPr/>
        </p:nvSpPr>
        <p:spPr>
          <a:xfrm xmlns:a="http://schemas.openxmlformats.org/drawingml/2006/main">
            <a:off x="10668000" y="60960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Original crop</a:t>
            </a:r>
          </a:p>
        </p:txBody>
      </p:sp>
      <p:sp>
        <p:nvSpPr>
          <p:cNvPr id="13" name="text-6-12">
            <a:extLst xmlns:a="http://schemas.openxmlformats.org/drawingml/2006/main">
              <a:ext uri="{FF2B5EF4-FFF2-40B4-BE49-F238E27FC236}">
                <a16:creationId xmlns:a16="http://schemas.microsoft.com/office/drawing/2014/main" id="{4A2A6D10-4925-4271-A913-A7C036700487}"/>
              </a:ext>
            </a:extLst>
          </p:cNvPr>
          <p:cNvSpPr>
            <a:spLocks xmlns:a="http://schemas.openxmlformats.org/drawingml/2006/main" noGrp="1"/>
          </p:cNvSpPr>
          <p:nvPr/>
        </p:nvSpPr>
        <p:spPr>
          <a:xfrm xmlns:a="http://schemas.openxmlformats.org/drawingml/2006/main">
            <a:off x="14325600" y="60960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Marked crop</a:t>
            </a:r>
          </a:p>
        </p:txBody>
      </p:sp>
      <p:sp>
        <p:nvSpPr>
          <p:cNvPr id="14" name="text-6-13">
            <a:extLst xmlns:a="http://schemas.openxmlformats.org/drawingml/2006/main">
              <a:ext uri="{FF2B5EF4-FFF2-40B4-BE49-F238E27FC236}">
                <a16:creationId xmlns:a16="http://schemas.microsoft.com/office/drawing/2014/main" id="{E2781E8A-10E7-43F5-A08B-7E38186E60CE}"/>
              </a:ext>
            </a:extLst>
          </p:cNvPr>
          <p:cNvSpPr>
            <a:spLocks xmlns:a="http://schemas.openxmlformats.org/drawingml/2006/main" noGrp="1"/>
          </p:cNvSpPr>
          <p:nvPr/>
        </p:nvSpPr>
        <p:spPr>
          <a:xfrm xmlns:a="http://schemas.openxmlformats.org/drawingml/2006/main">
            <a:off x="914400" y="76200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7571"/>
                </a:solidFill>
                <a:latin typeface="Arial"/>
                <a:ea typeface="Arial"/>
                <a:cs typeface="Arial"/>
              </a:defRPr>
            </a:pPr>
            <a:r>
              <a:rPr sz="2400" b="1">
                <a:solidFill>
                  <a:srgbClr val="167571"/>
                </a:solidFill>
                <a:latin typeface="Arial"/>
                <a:ea typeface="Arial"/>
                <a:cs typeface="Arial"/>
              </a:rPr>
              <a:t>Watermarked PDF</a:t>
            </a:r>
          </a:p>
        </p:txBody>
      </p:sp>
      <p:sp>
        <p:nvSpPr>
          <p:cNvPr id="15" name="text-6-14">
            <a:extLst xmlns:a="http://schemas.openxmlformats.org/drawingml/2006/main">
              <a:ext uri="{FF2B5EF4-FFF2-40B4-BE49-F238E27FC236}">
                <a16:creationId xmlns:a16="http://schemas.microsoft.com/office/drawing/2014/main" id="{6F3A948F-1476-49C3-8A5B-6FBD308732C4}"/>
              </a:ext>
            </a:extLst>
          </p:cNvPr>
          <p:cNvSpPr>
            <a:spLocks xmlns:a="http://schemas.openxmlformats.org/drawingml/2006/main" noGrp="1"/>
          </p:cNvSpPr>
          <p:nvPr/>
        </p:nvSpPr>
        <p:spPr>
          <a:xfrm xmlns:a="http://schemas.openxmlformats.org/drawingml/2006/main">
            <a:off x="4495800" y="7620000"/>
            <a:ext cx="609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67571"/>
                </a:solidFill>
                <a:latin typeface="Arial"/>
                <a:ea typeface="Arial"/>
                <a:cs typeface="Arial"/>
              </a:defRPr>
            </a:pPr>
            <a:r>
              <a:rPr sz="3000" b="0">
                <a:solidFill>
                  <a:srgbClr val="167571"/>
                </a:solidFill>
                <a:latin typeface="Arial"/>
                <a:ea typeface="Arial"/>
                <a:cs typeface="Arial"/>
              </a:rPr>
              <a:t>→</a:t>
            </a:r>
          </a:p>
        </p:txBody>
      </p:sp>
      <p:sp>
        <p:nvSpPr>
          <p:cNvPr id="16" name="text-6-15">
            <a:extLst xmlns:a="http://schemas.openxmlformats.org/drawingml/2006/main">
              <a:ext uri="{FF2B5EF4-FFF2-40B4-BE49-F238E27FC236}">
                <a16:creationId xmlns:a16="http://schemas.microsoft.com/office/drawing/2014/main" id="{F5832EBF-D388-4884-B060-14A87E416774}"/>
              </a:ext>
            </a:extLst>
          </p:cNvPr>
          <p:cNvSpPr>
            <a:spLocks xmlns:a="http://schemas.openxmlformats.org/drawingml/2006/main" noGrp="1"/>
          </p:cNvSpPr>
          <p:nvPr/>
        </p:nvSpPr>
        <p:spPr>
          <a:xfrm xmlns:a="http://schemas.openxmlformats.org/drawingml/2006/main">
            <a:off x="5257800" y="76200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7571"/>
                </a:solidFill>
                <a:latin typeface="Arial"/>
                <a:ea typeface="Arial"/>
                <a:cs typeface="Arial"/>
              </a:defRPr>
            </a:pPr>
            <a:r>
              <a:rPr sz="2400" b="1">
                <a:solidFill>
                  <a:srgbClr val="167571"/>
                </a:solidFill>
                <a:latin typeface="Arial"/>
                <a:ea typeface="Arial"/>
                <a:cs typeface="Arial"/>
              </a:rPr>
              <a:t>Local detector</a:t>
            </a:r>
          </a:p>
        </p:txBody>
      </p:sp>
      <p:sp>
        <p:nvSpPr>
          <p:cNvPr id="17" name="text-6-16">
            <a:extLst xmlns:a="http://schemas.openxmlformats.org/drawingml/2006/main">
              <a:ext uri="{FF2B5EF4-FFF2-40B4-BE49-F238E27FC236}">
                <a16:creationId xmlns:a16="http://schemas.microsoft.com/office/drawing/2014/main" id="{EA7F783E-F58C-4F7A-96A1-B2C46405381E}"/>
              </a:ext>
            </a:extLst>
          </p:cNvPr>
          <p:cNvSpPr>
            <a:spLocks xmlns:a="http://schemas.openxmlformats.org/drawingml/2006/main" noGrp="1"/>
          </p:cNvSpPr>
          <p:nvPr/>
        </p:nvSpPr>
        <p:spPr>
          <a:xfrm xmlns:a="http://schemas.openxmlformats.org/drawingml/2006/main">
            <a:off x="8839200" y="7620000"/>
            <a:ext cx="609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67571"/>
                </a:solidFill>
                <a:latin typeface="Arial"/>
                <a:ea typeface="Arial"/>
                <a:cs typeface="Arial"/>
              </a:defRPr>
            </a:pPr>
            <a:r>
              <a:rPr sz="3000" b="0">
                <a:solidFill>
                  <a:srgbClr val="167571"/>
                </a:solidFill>
                <a:latin typeface="Arial"/>
                <a:ea typeface="Arial"/>
                <a:cs typeface="Arial"/>
              </a:rPr>
              <a:t>→</a:t>
            </a:r>
          </a:p>
        </p:txBody>
      </p:sp>
      <p:sp>
        <p:nvSpPr>
          <p:cNvPr id="18" name="text-6-17">
            <a:extLst xmlns:a="http://schemas.openxmlformats.org/drawingml/2006/main">
              <a:ext uri="{FF2B5EF4-FFF2-40B4-BE49-F238E27FC236}">
                <a16:creationId xmlns:a16="http://schemas.microsoft.com/office/drawing/2014/main" id="{E9B0D5D2-EBA1-4842-8963-C89028750DFC}"/>
              </a:ext>
            </a:extLst>
          </p:cNvPr>
          <p:cNvSpPr>
            <a:spLocks xmlns:a="http://schemas.openxmlformats.org/drawingml/2006/main" noGrp="1"/>
          </p:cNvSpPr>
          <p:nvPr/>
        </p:nvSpPr>
        <p:spPr>
          <a:xfrm xmlns:a="http://schemas.openxmlformats.org/drawingml/2006/main">
            <a:off x="9601200" y="76200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7571"/>
                </a:solidFill>
                <a:latin typeface="Arial"/>
                <a:ea typeface="Arial"/>
                <a:cs typeface="Arial"/>
              </a:defRPr>
            </a:pPr>
            <a:r>
              <a:rPr sz="2400" b="1">
                <a:solidFill>
                  <a:srgbClr val="167571"/>
                </a:solidFill>
                <a:latin typeface="Arial"/>
                <a:ea typeface="Arial"/>
                <a:cs typeface="Arial"/>
              </a:rPr>
              <a:t>Policy lookup</a:t>
            </a:r>
          </a:p>
        </p:txBody>
      </p:sp>
      <p:sp>
        <p:nvSpPr>
          <p:cNvPr id="19" name="text-6-18">
            <a:extLst xmlns:a="http://schemas.openxmlformats.org/drawingml/2006/main">
              <a:ext uri="{FF2B5EF4-FFF2-40B4-BE49-F238E27FC236}">
                <a16:creationId xmlns:a16="http://schemas.microsoft.com/office/drawing/2014/main" id="{7FFF504F-223F-4C7B-ADB7-FEA91A8E2FAD}"/>
              </a:ext>
            </a:extLst>
          </p:cNvPr>
          <p:cNvSpPr>
            <a:spLocks xmlns:a="http://schemas.openxmlformats.org/drawingml/2006/main" noGrp="1"/>
          </p:cNvSpPr>
          <p:nvPr/>
        </p:nvSpPr>
        <p:spPr>
          <a:xfrm xmlns:a="http://schemas.openxmlformats.org/drawingml/2006/main">
            <a:off x="13182600" y="7620000"/>
            <a:ext cx="609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67571"/>
                </a:solidFill>
                <a:latin typeface="Arial"/>
                <a:ea typeface="Arial"/>
                <a:cs typeface="Arial"/>
              </a:defRPr>
            </a:pPr>
            <a:r>
              <a:rPr sz="3000" b="0">
                <a:solidFill>
                  <a:srgbClr val="167571"/>
                </a:solidFill>
                <a:latin typeface="Arial"/>
                <a:ea typeface="Arial"/>
                <a:cs typeface="Arial"/>
              </a:rPr>
              <a:t>→</a:t>
            </a:r>
          </a:p>
        </p:txBody>
      </p:sp>
      <p:sp>
        <p:nvSpPr>
          <p:cNvPr id="20" name="text-6-19">
            <a:extLst xmlns:a="http://schemas.openxmlformats.org/drawingml/2006/main">
              <a:ext uri="{FF2B5EF4-FFF2-40B4-BE49-F238E27FC236}">
                <a16:creationId xmlns:a16="http://schemas.microsoft.com/office/drawing/2014/main" id="{0AB0670E-73CF-4E8F-BCA5-19A539F5CFBC}"/>
              </a:ext>
            </a:extLst>
          </p:cNvPr>
          <p:cNvSpPr>
            <a:spLocks xmlns:a="http://schemas.openxmlformats.org/drawingml/2006/main" noGrp="1"/>
          </p:cNvSpPr>
          <p:nvPr/>
        </p:nvSpPr>
        <p:spPr>
          <a:xfrm xmlns:a="http://schemas.openxmlformats.org/drawingml/2006/main">
            <a:off x="13944600" y="76200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7571"/>
                </a:solidFill>
                <a:latin typeface="Arial"/>
                <a:ea typeface="Arial"/>
                <a:cs typeface="Arial"/>
              </a:defRPr>
            </a:pPr>
            <a:r>
              <a:rPr sz="2400" b="1">
                <a:solidFill>
                  <a:srgbClr val="167571"/>
                </a:solidFill>
                <a:latin typeface="Arial"/>
                <a:ea typeface="Arial"/>
                <a:cs typeface="Arial"/>
              </a:rPr>
              <a:t>System instruction</a:t>
            </a:r>
          </a:p>
        </p:txBody>
      </p:sp>
      <p:sp>
        <p:nvSpPr>
          <p:cNvPr id="21" name="text-6-20">
            <a:extLst xmlns:a="http://schemas.openxmlformats.org/drawingml/2006/main">
              <a:ext uri="{FF2B5EF4-FFF2-40B4-BE49-F238E27FC236}">
                <a16:creationId xmlns:a16="http://schemas.microsoft.com/office/drawing/2014/main" id="{D430060D-DD04-49E6-ABFD-A36E3DEA7C9D}"/>
              </a:ext>
            </a:extLst>
          </p:cNvPr>
          <p:cNvSpPr>
            <a:spLocks xmlns:a="http://schemas.openxmlformats.org/drawingml/2006/main" noGrp="1"/>
          </p:cNvSpPr>
          <p:nvPr/>
        </p:nvSpPr>
        <p:spPr>
          <a:xfrm xmlns:a="http://schemas.openxmlformats.org/drawingml/2006/main">
            <a:off x="914400" y="8763000"/>
            <a:ext cx="1645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Human invisibility has not been tested. The current watermark uses direct pixel changes.</a:t>
            </a:r>
          </a:p>
        </p:txBody>
      </p:sp>
    </p:spTree>
    <p:extLst>
      <p:ext uri="{BB962C8B-B14F-4D97-AF65-F5344CB8AC3E}">
        <p14:creationId xmlns:p14="http://schemas.microsoft.com/office/powerpoint/2010/main" val="103773278"/>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text-7-0">
            <a:extLst xmlns:a="http://schemas.openxmlformats.org/drawingml/2006/main">
              <a:ext uri="{FF2B5EF4-FFF2-40B4-BE49-F238E27FC236}">
                <a16:creationId xmlns:a16="http://schemas.microsoft.com/office/drawing/2014/main" id="{F064652B-51BF-49A6-AD6C-B4C3304CEC5E}"/>
              </a:ext>
            </a:extLst>
          </p:cNvPr>
          <p:cNvSpPr>
            <a:spLocks xmlns:a="http://schemas.openxmlformats.org/drawingml/2006/main" noGrp="1"/>
          </p:cNvSpPr>
          <p:nvPr/>
        </p:nvSpPr>
        <p:spPr>
          <a:xfrm xmlns:a="http://schemas.openxmlformats.org/drawingml/2006/main">
            <a:off x="914400" y="609600"/>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571"/>
                </a:solidFill>
                <a:latin typeface="Arial"/>
                <a:ea typeface="Arial"/>
                <a:cs typeface="Arial"/>
              </a:defRPr>
            </a:pPr>
            <a:r>
              <a:rPr sz="1800" b="1">
                <a:solidFill>
                  <a:srgbClr val="167571"/>
                </a:solidFill>
                <a:latin typeface="Arial"/>
                <a:ea typeface="Arial"/>
                <a:cs typeface="Arial"/>
              </a:rPr>
              <a:t>ASSESSMENT PDF POLICY EXPERIMENTS</a:t>
            </a:r>
          </a:p>
        </p:txBody>
      </p:sp>
      <p:sp>
        <p:nvSpPr>
          <p:cNvPr id="2" name="text-7-1">
            <a:extLst xmlns:a="http://schemas.openxmlformats.org/drawingml/2006/main">
              <a:ext uri="{FF2B5EF4-FFF2-40B4-BE49-F238E27FC236}">
                <a16:creationId xmlns:a16="http://schemas.microsoft.com/office/drawing/2014/main" id="{8A007B9A-81CF-4B71-9942-F54DEE5482FC}"/>
              </a:ext>
            </a:extLst>
          </p:cNvPr>
          <p:cNvSpPr>
            <a:spLocks xmlns:a="http://schemas.openxmlformats.org/drawingml/2006/main" noGrp="1"/>
          </p:cNvSpPr>
          <p:nvPr/>
        </p:nvSpPr>
        <p:spPr>
          <a:xfrm xmlns:a="http://schemas.openxmlformats.org/drawingml/2006/main">
            <a:off x="914400" y="1219200"/>
            <a:ext cx="16459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202B32"/>
                </a:solidFill>
                <a:latin typeface="Georgia"/>
                <a:ea typeface="Georgia"/>
                <a:cs typeface="Georgia"/>
              </a:defRPr>
            </a:pPr>
            <a:r>
              <a:rPr sz="5400" b="0">
                <a:solidFill>
                  <a:srgbClr val="202B32"/>
                </a:solidFill>
                <a:latin typeface="Georgia"/>
                <a:ea typeface="Georgia"/>
                <a:cs typeface="Georgia"/>
              </a:rPr>
              <a:t>Routing changed the response</a:t>
            </a:r>
          </a:p>
        </p:txBody>
      </p:sp>
      <p:sp>
        <p:nvSpPr>
          <p:cNvPr id="3" name="rule-7-2">
            <a:extLst xmlns:a="http://schemas.openxmlformats.org/drawingml/2006/main">
              <a:ext uri="{FF2B5EF4-FFF2-40B4-BE49-F238E27FC236}">
                <a16:creationId xmlns:a16="http://schemas.microsoft.com/office/drawing/2014/main" id="{CCBDBC8B-E560-477E-98D1-536238147509}"/>
              </a:ext>
            </a:extLst>
          </p:cNvPr>
          <p:cNvSpPr>
            <a:spLocks xmlns:a="http://schemas.openxmlformats.org/drawingml/2006/main" noGrp="1"/>
          </p:cNvSpPr>
          <p:nvPr/>
        </p:nvSpPr>
        <p:spPr>
          <a:xfrm xmlns:a="http://schemas.openxmlformats.org/drawingml/2006/main">
            <a:off x="914400" y="9448800"/>
            <a:ext cx="164592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4" name="text-7-3">
            <a:extLst xmlns:a="http://schemas.openxmlformats.org/drawingml/2006/main">
              <a:ext uri="{FF2B5EF4-FFF2-40B4-BE49-F238E27FC236}">
                <a16:creationId xmlns:a16="http://schemas.microsoft.com/office/drawing/2014/main" id="{4E950079-48B7-4EE1-98A5-8E8575FBCE07}"/>
              </a:ext>
            </a:extLst>
          </p:cNvPr>
          <p:cNvSpPr>
            <a:spLocks xmlns:a="http://schemas.openxmlformats.org/drawingml/2006/main" noGrp="1"/>
          </p:cNvSpPr>
          <p:nvPr/>
        </p:nvSpPr>
        <p:spPr>
          <a:xfrm xmlns:a="http://schemas.openxmlformats.org/drawingml/2006/main">
            <a:off x="914400" y="96393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46A"/>
                </a:solidFill>
                <a:latin typeface="Arial"/>
                <a:ea typeface="Arial"/>
                <a:cs typeface="Arial"/>
              </a:defRPr>
            </a:pPr>
            <a:r>
              <a:rPr sz="1650" b="0">
                <a:solidFill>
                  <a:srgbClr val="58646A"/>
                </a:solidFill>
                <a:latin typeface="Arial"/>
                <a:ea typeface="Arial"/>
                <a:cs typeface="Arial"/>
              </a:rPr>
              <a:t>Research update  /  7 October 2026</a:t>
            </a:r>
          </a:p>
        </p:txBody>
      </p:sp>
      <p:sp>
        <p:nvSpPr>
          <p:cNvPr id="5" name="text-7-4">
            <a:extLst xmlns:a="http://schemas.openxmlformats.org/drawingml/2006/main">
              <a:ext uri="{FF2B5EF4-FFF2-40B4-BE49-F238E27FC236}">
                <a16:creationId xmlns:a16="http://schemas.microsoft.com/office/drawing/2014/main" id="{3407386A-8881-40C6-8EE8-236F646C8FAF}"/>
              </a:ext>
            </a:extLst>
          </p:cNvPr>
          <p:cNvSpPr>
            <a:spLocks xmlns:a="http://schemas.openxmlformats.org/drawingml/2006/main" noGrp="1"/>
          </p:cNvSpPr>
          <p:nvPr/>
        </p:nvSpPr>
        <p:spPr>
          <a:xfrm xmlns:a="http://schemas.openxmlformats.org/drawingml/2006/main">
            <a:off x="16306800" y="9639300"/>
            <a:ext cx="1066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8646A"/>
                </a:solidFill>
                <a:latin typeface="Arial"/>
                <a:ea typeface="Arial"/>
                <a:cs typeface="Arial"/>
              </a:defRPr>
            </a:pPr>
            <a:r>
              <a:rPr sz="1650" b="0">
                <a:solidFill>
                  <a:srgbClr val="58646A"/>
                </a:solidFill>
                <a:latin typeface="Arial"/>
                <a:ea typeface="Arial"/>
                <a:cs typeface="Arial"/>
              </a:rPr>
              <a:t>08 / 09</a:t>
            </a:r>
          </a:p>
        </p:txBody>
      </p:sp>
      <p:sp>
        <p:nvSpPr>
          <p:cNvPr id="6" name="text-7-5">
            <a:extLst xmlns:a="http://schemas.openxmlformats.org/drawingml/2006/main">
              <a:ext uri="{FF2B5EF4-FFF2-40B4-BE49-F238E27FC236}">
                <a16:creationId xmlns:a16="http://schemas.microsoft.com/office/drawing/2014/main" id="{C6B491EE-32C0-4978-A35A-22D12CE6F9AF}"/>
              </a:ext>
            </a:extLst>
          </p:cNvPr>
          <p:cNvSpPr>
            <a:spLocks xmlns:a="http://schemas.openxmlformats.org/drawingml/2006/main" noGrp="1"/>
          </p:cNvSpPr>
          <p:nvPr/>
        </p:nvSpPr>
        <p:spPr>
          <a:xfrm xmlns:a="http://schemas.openxmlformats.org/drawingml/2006/main">
            <a:off x="914400" y="2743200"/>
            <a:ext cx="1645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Luna pilot on the same synthetic assessment fixture</a:t>
            </a:r>
          </a:p>
        </p:txBody>
      </p:sp>
      <p:sp>
        <p:nvSpPr>
          <p:cNvPr id="7" name="text-7-6">
            <a:extLst xmlns:a="http://schemas.openxmlformats.org/drawingml/2006/main">
              <a:ext uri="{FF2B5EF4-FFF2-40B4-BE49-F238E27FC236}">
                <a16:creationId xmlns:a16="http://schemas.microsoft.com/office/drawing/2014/main" id="{82789A39-24E0-43A3-AF3B-DE91FDD7E11C}"/>
              </a:ext>
            </a:extLst>
          </p:cNvPr>
          <p:cNvSpPr>
            <a:spLocks xmlns:a="http://schemas.openxmlformats.org/drawingml/2006/main" noGrp="1"/>
          </p:cNvSpPr>
          <p:nvPr/>
        </p:nvSpPr>
        <p:spPr>
          <a:xfrm xmlns:a="http://schemas.openxmlformats.org/drawingml/2006/main">
            <a:off x="914400" y="3733800"/>
            <a:ext cx="731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8646A"/>
                </a:solidFill>
                <a:latin typeface="Arial"/>
                <a:ea typeface="Arial"/>
                <a:cs typeface="Arial"/>
              </a:defRPr>
            </a:pPr>
            <a:r>
              <a:rPr sz="2850" b="1">
                <a:solidFill>
                  <a:srgbClr val="58646A"/>
                </a:solidFill>
                <a:latin typeface="Arial"/>
                <a:ea typeface="Arial"/>
                <a:cs typeface="Arial"/>
              </a:rPr>
              <a:t>Watermark only</a:t>
            </a:r>
          </a:p>
        </p:txBody>
      </p:sp>
      <p:sp>
        <p:nvSpPr>
          <p:cNvPr id="8" name="text-7-7">
            <a:extLst xmlns:a="http://schemas.openxmlformats.org/drawingml/2006/main">
              <a:ext uri="{FF2B5EF4-FFF2-40B4-BE49-F238E27FC236}">
                <a16:creationId xmlns:a16="http://schemas.microsoft.com/office/drawing/2014/main" id="{887909DA-908F-4BD2-B180-8D809B693DB4}"/>
              </a:ext>
            </a:extLst>
          </p:cNvPr>
          <p:cNvSpPr>
            <a:spLocks xmlns:a="http://schemas.openxmlformats.org/drawingml/2006/main" noGrp="1"/>
          </p:cNvSpPr>
          <p:nvPr/>
        </p:nvSpPr>
        <p:spPr>
          <a:xfrm xmlns:a="http://schemas.openxmlformats.org/drawingml/2006/main">
            <a:off x="914400" y="4648200"/>
            <a:ext cx="73152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202B32"/>
                </a:solidFill>
                <a:latin typeface="Georgia"/>
                <a:ea typeface="Georgia"/>
                <a:cs typeface="Georgia"/>
              </a:defRPr>
            </a:pPr>
            <a:r>
              <a:rPr sz="3600" b="0">
                <a:solidFill>
                  <a:srgbClr val="202B32"/>
                </a:solidFill>
                <a:latin typeface="Georgia"/>
                <a:ea typeface="Georgia"/>
                <a:cs typeface="Georgia"/>
              </a:rPr>
              <a:t>The model continued</a:t>
            </a:r>
          </a:p>
          <a:p xmlns:a="http://schemas.openxmlformats.org/drawingml/2006/main">
            <a:pPr algn="l">
              <a:defRPr sz="3600" b="0">
                <a:solidFill>
                  <a:srgbClr val="202B32"/>
                </a:solidFill>
                <a:latin typeface="Georgia"/>
                <a:ea typeface="Georgia"/>
                <a:cs typeface="Georgia"/>
              </a:defRPr>
            </a:pPr>
            <a:r>
              <a:rPr sz="3600" b="0">
                <a:solidFill>
                  <a:srgbClr val="202B32"/>
                </a:solidFill>
                <a:latin typeface="Georgia"/>
                <a:ea typeface="Georgia"/>
                <a:cs typeface="Georgia"/>
              </a:rPr>
              <a:t>answering the assessment.</a:t>
            </a:r>
          </a:p>
        </p:txBody>
      </p:sp>
      <p:sp>
        <p:nvSpPr>
          <p:cNvPr id="9" name="text-7-8">
            <a:extLst xmlns:a="http://schemas.openxmlformats.org/drawingml/2006/main">
              <a:ext uri="{FF2B5EF4-FFF2-40B4-BE49-F238E27FC236}">
                <a16:creationId xmlns:a16="http://schemas.microsoft.com/office/drawing/2014/main" id="{D48D784C-C0E2-409F-875C-98CE2A7FE93C}"/>
              </a:ext>
            </a:extLst>
          </p:cNvPr>
          <p:cNvSpPr>
            <a:spLocks xmlns:a="http://schemas.openxmlformats.org/drawingml/2006/main" noGrp="1"/>
          </p:cNvSpPr>
          <p:nvPr/>
        </p:nvSpPr>
        <p:spPr>
          <a:xfrm xmlns:a="http://schemas.openxmlformats.org/drawingml/2006/main">
            <a:off x="10058400" y="3733800"/>
            <a:ext cx="731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67571"/>
                </a:solidFill>
                <a:latin typeface="Arial"/>
                <a:ea typeface="Arial"/>
                <a:cs typeface="Arial"/>
              </a:defRPr>
            </a:pPr>
            <a:r>
              <a:rPr sz="2850" b="1">
                <a:solidFill>
                  <a:srgbClr val="167571"/>
                </a:solidFill>
                <a:latin typeface="Arial"/>
                <a:ea typeface="Arial"/>
                <a:cs typeface="Arial"/>
              </a:rPr>
              <a:t>Watermark with policy routing</a:t>
            </a:r>
          </a:p>
        </p:txBody>
      </p:sp>
      <p:sp>
        <p:nvSpPr>
          <p:cNvPr id="10" name="text-7-9">
            <a:extLst xmlns:a="http://schemas.openxmlformats.org/drawingml/2006/main">
              <a:ext uri="{FF2B5EF4-FFF2-40B4-BE49-F238E27FC236}">
                <a16:creationId xmlns:a16="http://schemas.microsoft.com/office/drawing/2014/main" id="{00F0899F-C668-44E8-ABBB-E6C3B1A598B5}"/>
              </a:ext>
            </a:extLst>
          </p:cNvPr>
          <p:cNvSpPr>
            <a:spLocks xmlns:a="http://schemas.openxmlformats.org/drawingml/2006/main" noGrp="1"/>
          </p:cNvSpPr>
          <p:nvPr/>
        </p:nvSpPr>
        <p:spPr>
          <a:xfrm xmlns:a="http://schemas.openxmlformats.org/drawingml/2006/main">
            <a:off x="10058400" y="4648200"/>
            <a:ext cx="73152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67571"/>
                </a:solidFill>
                <a:latin typeface="Georgia"/>
                <a:ea typeface="Georgia"/>
                <a:cs typeface="Georgia"/>
              </a:defRPr>
            </a:pPr>
            <a:r>
              <a:rPr sz="3600" b="0">
                <a:solidFill>
                  <a:srgbClr val="167571"/>
                </a:solidFill>
                <a:latin typeface="Georgia"/>
                <a:ea typeface="Georgia"/>
                <a:cs typeface="Georgia"/>
              </a:rPr>
              <a:t>The model refused and</a:t>
            </a:r>
          </a:p>
          <a:p xmlns:a="http://schemas.openxmlformats.org/drawingml/2006/main">
            <a:pPr algn="l">
              <a:defRPr sz="3600" b="0">
                <a:solidFill>
                  <a:srgbClr val="167571"/>
                </a:solidFill>
                <a:latin typeface="Georgia"/>
                <a:ea typeface="Georgia"/>
                <a:cs typeface="Georgia"/>
              </a:defRPr>
            </a:pPr>
            <a:r>
              <a:rPr sz="3600" b="0">
                <a:solidFill>
                  <a:srgbClr val="167571"/>
                </a:solidFill>
                <a:latin typeface="Georgia"/>
                <a:ea typeface="Georgia"/>
                <a:cs typeface="Georgia"/>
              </a:rPr>
              <a:t>referred the user to staff.</a:t>
            </a:r>
          </a:p>
        </p:txBody>
      </p:sp>
      <p:sp>
        <p:nvSpPr>
          <p:cNvPr id="11" name="rule-7-10">
            <a:extLst xmlns:a="http://schemas.openxmlformats.org/drawingml/2006/main">
              <a:ext uri="{FF2B5EF4-FFF2-40B4-BE49-F238E27FC236}">
                <a16:creationId xmlns:a16="http://schemas.microsoft.com/office/drawing/2014/main" id="{F1D962F0-A90D-4D59-BAFD-C70178075BDE}"/>
              </a:ext>
            </a:extLst>
          </p:cNvPr>
          <p:cNvSpPr>
            <a:spLocks xmlns:a="http://schemas.openxmlformats.org/drawingml/2006/main" noGrp="1"/>
          </p:cNvSpPr>
          <p:nvPr/>
        </p:nvSpPr>
        <p:spPr>
          <a:xfrm xmlns:a="http://schemas.openxmlformats.org/drawingml/2006/main">
            <a:off x="914400" y="6705600"/>
            <a:ext cx="164592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12" name="text-7-11">
            <a:extLst xmlns:a="http://schemas.openxmlformats.org/drawingml/2006/main">
              <a:ext uri="{FF2B5EF4-FFF2-40B4-BE49-F238E27FC236}">
                <a16:creationId xmlns:a16="http://schemas.microsoft.com/office/drawing/2014/main" id="{5B7C7B52-2D48-4C71-9810-08C884938AA9}"/>
              </a:ext>
            </a:extLst>
          </p:cNvPr>
          <p:cNvSpPr>
            <a:spLocks xmlns:a="http://schemas.openxmlformats.org/drawingml/2006/main" noGrp="1"/>
          </p:cNvSpPr>
          <p:nvPr/>
        </p:nvSpPr>
        <p:spPr>
          <a:xfrm xmlns:a="http://schemas.openxmlformats.org/drawingml/2006/main">
            <a:off x="914400" y="7239000"/>
            <a:ext cx="16459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8646A"/>
                </a:solidFill>
                <a:latin typeface="Arial"/>
                <a:ea typeface="Arial"/>
                <a:cs typeface="Arial"/>
              </a:defRPr>
            </a:pPr>
            <a:r>
              <a:rPr sz="2250" b="0">
                <a:solidFill>
                  <a:srgbClr val="58646A"/>
                </a:solidFill>
                <a:latin typeface="Arial"/>
                <a:ea typeface="Arial"/>
                <a:cs typeface="Arial"/>
              </a:rPr>
              <a:t>Six different requests in each group, tested once each</a:t>
            </a:r>
          </a:p>
        </p:txBody>
      </p:sp>
      <p:sp>
        <p:nvSpPr>
          <p:cNvPr id="13" name="text-7-12">
            <a:extLst xmlns:a="http://schemas.openxmlformats.org/drawingml/2006/main">
              <a:ext uri="{FF2B5EF4-FFF2-40B4-BE49-F238E27FC236}">
                <a16:creationId xmlns:a16="http://schemas.microsoft.com/office/drawing/2014/main" id="{85D130F9-1614-4F99-B991-16DBFC6F439A}"/>
              </a:ext>
            </a:extLst>
          </p:cNvPr>
          <p:cNvSpPr>
            <a:spLocks xmlns:a="http://schemas.openxmlformats.org/drawingml/2006/main" noGrp="1"/>
          </p:cNvSpPr>
          <p:nvPr/>
        </p:nvSpPr>
        <p:spPr>
          <a:xfrm xmlns:a="http://schemas.openxmlformats.org/drawingml/2006/main">
            <a:off x="914400" y="8077200"/>
            <a:ext cx="762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F33"/>
                </a:solidFill>
                <a:latin typeface="Arial"/>
                <a:ea typeface="Arial"/>
                <a:cs typeface="Arial"/>
              </a:defRPr>
            </a:pPr>
            <a:r>
              <a:rPr sz="2550" b="1">
                <a:solidFill>
                  <a:srgbClr val="A94F33"/>
                </a:solidFill>
                <a:latin typeface="Arial"/>
                <a:ea typeface="Arial"/>
                <a:cs typeface="Arial"/>
              </a:rPr>
              <a:t>Prohibited assistance: refused</a:t>
            </a:r>
          </a:p>
        </p:txBody>
      </p:sp>
      <p:sp>
        <p:nvSpPr>
          <p:cNvPr id="14" name="text-7-13">
            <a:extLst xmlns:a="http://schemas.openxmlformats.org/drawingml/2006/main">
              <a:ext uri="{FF2B5EF4-FFF2-40B4-BE49-F238E27FC236}">
                <a16:creationId xmlns:a16="http://schemas.microsoft.com/office/drawing/2014/main" id="{B836ECB4-31DD-4785-97A3-36399FB7C91C}"/>
              </a:ext>
            </a:extLst>
          </p:cNvPr>
          <p:cNvSpPr>
            <a:spLocks xmlns:a="http://schemas.openxmlformats.org/drawingml/2006/main" noGrp="1"/>
          </p:cNvSpPr>
          <p:nvPr/>
        </p:nvSpPr>
        <p:spPr>
          <a:xfrm xmlns:a="http://schemas.openxmlformats.org/drawingml/2006/main">
            <a:off x="914400" y="8686800"/>
            <a:ext cx="762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Examples: worked solutions and complete submissions.</a:t>
            </a:r>
          </a:p>
        </p:txBody>
      </p:sp>
      <p:sp>
        <p:nvSpPr>
          <p:cNvPr id="15" name="text-7-14">
            <a:extLst xmlns:a="http://schemas.openxmlformats.org/drawingml/2006/main">
              <a:ext uri="{FF2B5EF4-FFF2-40B4-BE49-F238E27FC236}">
                <a16:creationId xmlns:a16="http://schemas.microsoft.com/office/drawing/2014/main" id="{B94F6C80-19B8-4537-8189-B75F126B8F3F}"/>
              </a:ext>
            </a:extLst>
          </p:cNvPr>
          <p:cNvSpPr>
            <a:spLocks xmlns:a="http://schemas.openxmlformats.org/drawingml/2006/main" noGrp="1"/>
          </p:cNvSpPr>
          <p:nvPr/>
        </p:nvSpPr>
        <p:spPr>
          <a:xfrm xmlns:a="http://schemas.openxmlformats.org/drawingml/2006/main">
            <a:off x="10058400" y="8077200"/>
            <a:ext cx="731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67571"/>
                </a:solidFill>
                <a:latin typeface="Arial"/>
                <a:ea typeface="Arial"/>
                <a:cs typeface="Arial"/>
              </a:defRPr>
            </a:pPr>
            <a:r>
              <a:rPr sz="2550" b="1">
                <a:solidFill>
                  <a:srgbClr val="167571"/>
                </a:solidFill>
                <a:latin typeface="Arial"/>
                <a:ea typeface="Arial"/>
                <a:cs typeface="Arial"/>
              </a:rPr>
              <a:t>Permitted reading: answered correctly</a:t>
            </a:r>
          </a:p>
        </p:txBody>
      </p:sp>
      <p:sp>
        <p:nvSpPr>
          <p:cNvPr id="16" name="text-7-15">
            <a:extLst xmlns:a="http://schemas.openxmlformats.org/drawingml/2006/main">
              <a:ext uri="{FF2B5EF4-FFF2-40B4-BE49-F238E27FC236}">
                <a16:creationId xmlns:a16="http://schemas.microsoft.com/office/drawing/2014/main" id="{5C445AC6-99E8-486D-A213-A510CA6DFA33}"/>
              </a:ext>
            </a:extLst>
          </p:cNvPr>
          <p:cNvSpPr>
            <a:spLocks xmlns:a="http://schemas.openxmlformats.org/drawingml/2006/main" noGrp="1"/>
          </p:cNvSpPr>
          <p:nvPr/>
        </p:nvSpPr>
        <p:spPr>
          <a:xfrm xmlns:a="http://schemas.openxmlformats.org/drawingml/2006/main">
            <a:off x="10058400" y="8686800"/>
            <a:ext cx="731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8646A"/>
                </a:solidFill>
                <a:latin typeface="Arial"/>
                <a:ea typeface="Arial"/>
                <a:cs typeface="Arial"/>
              </a:defRPr>
            </a:pPr>
            <a:r>
              <a:rPr sz="2100" b="0">
                <a:solidFill>
                  <a:srgbClr val="58646A"/>
                </a:solidFill>
                <a:latin typeface="Arial"/>
                <a:ea typeface="Arial"/>
                <a:cs typeface="Arial"/>
              </a:rPr>
              <a:t>Examples: page count, course identity and deadline.</a:t>
            </a:r>
          </a:p>
        </p:txBody>
      </p:sp>
    </p:spTree>
    <p:extLst>
      <p:ext uri="{BB962C8B-B14F-4D97-AF65-F5344CB8AC3E}">
        <p14:creationId xmlns:p14="http://schemas.microsoft.com/office/powerpoint/2010/main" val="908052318"/>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text-8-0">
            <a:extLst xmlns:a="http://schemas.openxmlformats.org/drawingml/2006/main">
              <a:ext uri="{FF2B5EF4-FFF2-40B4-BE49-F238E27FC236}">
                <a16:creationId xmlns:a16="http://schemas.microsoft.com/office/drawing/2014/main" id="{83AAA720-B367-49C2-A466-72C5EB5049AA}"/>
              </a:ext>
            </a:extLst>
          </p:cNvPr>
          <p:cNvSpPr>
            <a:spLocks xmlns:a="http://schemas.openxmlformats.org/drawingml/2006/main" noGrp="1"/>
          </p:cNvSpPr>
          <p:nvPr/>
        </p:nvSpPr>
        <p:spPr>
          <a:xfrm xmlns:a="http://schemas.openxmlformats.org/drawingml/2006/main">
            <a:off x="914400" y="609600"/>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571"/>
                </a:solidFill>
                <a:latin typeface="Arial"/>
                <a:ea typeface="Arial"/>
                <a:cs typeface="Arial"/>
              </a:defRPr>
            </a:pPr>
            <a:r>
              <a:rPr sz="1800" b="1">
                <a:solidFill>
                  <a:srgbClr val="167571"/>
                </a:solidFill>
                <a:latin typeface="Arial"/>
                <a:ea typeface="Arial"/>
                <a:cs typeface="Arial"/>
              </a:rPr>
              <a:t>ASSESSMENT PDF POLICY EXPERIMENTS</a:t>
            </a:r>
          </a:p>
        </p:txBody>
      </p:sp>
      <p:sp>
        <p:nvSpPr>
          <p:cNvPr id="2" name="text-8-1">
            <a:extLst xmlns:a="http://schemas.openxmlformats.org/drawingml/2006/main">
              <a:ext uri="{FF2B5EF4-FFF2-40B4-BE49-F238E27FC236}">
                <a16:creationId xmlns:a16="http://schemas.microsoft.com/office/drawing/2014/main" id="{FA14D91E-F069-488A-BC6B-034794CEA062}"/>
              </a:ext>
            </a:extLst>
          </p:cNvPr>
          <p:cNvSpPr>
            <a:spLocks xmlns:a="http://schemas.openxmlformats.org/drawingml/2006/main" noGrp="1"/>
          </p:cNvSpPr>
          <p:nvPr/>
        </p:nvSpPr>
        <p:spPr>
          <a:xfrm xmlns:a="http://schemas.openxmlformats.org/drawingml/2006/main">
            <a:off x="914400" y="1219200"/>
            <a:ext cx="16459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202B32"/>
                </a:solidFill>
                <a:latin typeface="Georgia"/>
                <a:ea typeface="Georgia"/>
                <a:cs typeface="Georgia"/>
              </a:defRPr>
            </a:pPr>
            <a:r>
              <a:rPr sz="5400" b="0">
                <a:solidFill>
                  <a:srgbClr val="202B32"/>
                </a:solidFill>
                <a:latin typeface="Georgia"/>
                <a:ea typeface="Georgia"/>
                <a:cs typeface="Georgia"/>
              </a:rPr>
              <a:t>Conclusions and next tests</a:t>
            </a:r>
          </a:p>
        </p:txBody>
      </p:sp>
      <p:sp>
        <p:nvSpPr>
          <p:cNvPr id="3" name="rule-8-2">
            <a:extLst xmlns:a="http://schemas.openxmlformats.org/drawingml/2006/main">
              <a:ext uri="{FF2B5EF4-FFF2-40B4-BE49-F238E27FC236}">
                <a16:creationId xmlns:a16="http://schemas.microsoft.com/office/drawing/2014/main" id="{7B10B0E1-0572-44B8-9AAC-C4BCDAAFEFDA}"/>
              </a:ext>
            </a:extLst>
          </p:cNvPr>
          <p:cNvSpPr>
            <a:spLocks xmlns:a="http://schemas.openxmlformats.org/drawingml/2006/main" noGrp="1"/>
          </p:cNvSpPr>
          <p:nvPr/>
        </p:nvSpPr>
        <p:spPr>
          <a:xfrm xmlns:a="http://schemas.openxmlformats.org/drawingml/2006/main">
            <a:off x="914400" y="9448800"/>
            <a:ext cx="16459200" cy="19050"/>
          </a:xfrm>
          <a:prstGeom xmlns:a="http://schemas.openxmlformats.org/drawingml/2006/main" prst="rect">
            <a:avLst/>
          </a:prstGeom>
          <a:solidFill xmlns:a="http://schemas.openxmlformats.org/drawingml/2006/main">
            <a:srgbClr val="C9CFC9"/>
          </a:solidFill>
          <a:ln xmlns:a="http://schemas.openxmlformats.org/drawingml/2006/main" w="0">
            <a:noFill/>
          </a:ln>
        </p:spPr>
      </p:sp>
      <p:sp>
        <p:nvSpPr>
          <p:cNvPr id="4" name="text-8-3">
            <a:extLst xmlns:a="http://schemas.openxmlformats.org/drawingml/2006/main">
              <a:ext uri="{FF2B5EF4-FFF2-40B4-BE49-F238E27FC236}">
                <a16:creationId xmlns:a16="http://schemas.microsoft.com/office/drawing/2014/main" id="{A214EAB3-4F09-4EBF-BA14-DF7B006995FD}"/>
              </a:ext>
            </a:extLst>
          </p:cNvPr>
          <p:cNvSpPr>
            <a:spLocks xmlns:a="http://schemas.openxmlformats.org/drawingml/2006/main" noGrp="1"/>
          </p:cNvSpPr>
          <p:nvPr/>
        </p:nvSpPr>
        <p:spPr>
          <a:xfrm xmlns:a="http://schemas.openxmlformats.org/drawingml/2006/main">
            <a:off x="914400" y="96393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46A"/>
                </a:solidFill>
                <a:latin typeface="Arial"/>
                <a:ea typeface="Arial"/>
                <a:cs typeface="Arial"/>
              </a:defRPr>
            </a:pPr>
            <a:r>
              <a:rPr sz="1650" b="0">
                <a:solidFill>
                  <a:srgbClr val="58646A"/>
                </a:solidFill>
                <a:latin typeface="Arial"/>
                <a:ea typeface="Arial"/>
                <a:cs typeface="Arial"/>
              </a:rPr>
              <a:t>Research update  /  7 October 2026</a:t>
            </a:r>
          </a:p>
        </p:txBody>
      </p:sp>
      <p:sp>
        <p:nvSpPr>
          <p:cNvPr id="5" name="text-8-4">
            <a:extLst xmlns:a="http://schemas.openxmlformats.org/drawingml/2006/main">
              <a:ext uri="{FF2B5EF4-FFF2-40B4-BE49-F238E27FC236}">
                <a16:creationId xmlns:a16="http://schemas.microsoft.com/office/drawing/2014/main" id="{54268F47-4159-4B22-93E6-752CA9EE1B0F}"/>
              </a:ext>
            </a:extLst>
          </p:cNvPr>
          <p:cNvSpPr>
            <a:spLocks xmlns:a="http://schemas.openxmlformats.org/drawingml/2006/main" noGrp="1"/>
          </p:cNvSpPr>
          <p:nvPr/>
        </p:nvSpPr>
        <p:spPr>
          <a:xfrm xmlns:a="http://schemas.openxmlformats.org/drawingml/2006/main">
            <a:off x="16306800" y="9639300"/>
            <a:ext cx="1066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8646A"/>
                </a:solidFill>
                <a:latin typeface="Arial"/>
                <a:ea typeface="Arial"/>
                <a:cs typeface="Arial"/>
              </a:defRPr>
            </a:pPr>
            <a:r>
              <a:rPr sz="1650" b="0">
                <a:solidFill>
                  <a:srgbClr val="58646A"/>
                </a:solidFill>
                <a:latin typeface="Arial"/>
                <a:ea typeface="Arial"/>
                <a:cs typeface="Arial"/>
              </a:rPr>
              <a:t>09 / 09</a:t>
            </a:r>
          </a:p>
        </p:txBody>
      </p:sp>
      <p:sp>
        <p:nvSpPr>
          <p:cNvPr id="6" name="text-8-5">
            <a:extLst xmlns:a="http://schemas.openxmlformats.org/drawingml/2006/main">
              <a:ext uri="{FF2B5EF4-FFF2-40B4-BE49-F238E27FC236}">
                <a16:creationId xmlns:a16="http://schemas.microsoft.com/office/drawing/2014/main" id="{C545DCCC-73CD-4154-91EC-8514892D2936}"/>
              </a:ext>
            </a:extLst>
          </p:cNvPr>
          <p:cNvSpPr>
            <a:spLocks xmlns:a="http://schemas.openxmlformats.org/drawingml/2006/main" noGrp="1"/>
          </p:cNvSpPr>
          <p:nvPr/>
        </p:nvSpPr>
        <p:spPr>
          <a:xfrm xmlns:a="http://schemas.openxmlformats.org/drawingml/2006/main">
            <a:off x="914400" y="3048000"/>
            <a:ext cx="96012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0">
                <a:solidFill>
                  <a:srgbClr val="202B32"/>
                </a:solidFill>
                <a:latin typeface="Georgia"/>
                <a:ea typeface="Georgia"/>
                <a:cs typeface="Georgia"/>
              </a:defRPr>
            </a:pPr>
            <a:r>
              <a:rPr sz="3900" b="0">
                <a:solidFill>
                  <a:srgbClr val="202B32"/>
                </a:solidFill>
                <a:latin typeface="Georgia"/>
                <a:ea typeface="Georgia"/>
                <a:cs typeface="Georgia"/>
              </a:rPr>
              <a:t>The perturbation target</a:t>
            </a:r>
          </a:p>
          <a:p xmlns:a="http://schemas.openxmlformats.org/drawingml/2006/main">
            <a:pPr algn="l">
              <a:defRPr sz="3900" b="0">
                <a:solidFill>
                  <a:srgbClr val="202B32"/>
                </a:solidFill>
                <a:latin typeface="Georgia"/>
                <a:ea typeface="Georgia"/>
                <a:cs typeface="Georgia"/>
              </a:defRPr>
            </a:pPr>
            <a:r>
              <a:rPr sz="3900" b="0">
                <a:solidFill>
                  <a:srgbClr val="202B32"/>
                </a:solidFill>
                <a:latin typeface="Georgia"/>
                <a:ea typeface="Georgia"/>
                <a:cs typeface="Georgia"/>
              </a:rPr>
              <a:t>remains unmet on Specification3</a:t>
            </a:r>
          </a:p>
          <a:p xmlns:a="http://schemas.openxmlformats.org/drawingml/2006/main">
            <a:pPr algn="l">
              <a:defRPr sz="3900" b="0">
                <a:solidFill>
                  <a:srgbClr val="202B32"/>
                </a:solidFill>
                <a:latin typeface="Georgia"/>
                <a:ea typeface="Georgia"/>
                <a:cs typeface="Georgia"/>
              </a:defRPr>
            </a:pPr>
            <a:r>
              <a:rPr sz="3900" b="0">
                <a:solidFill>
                  <a:srgbClr val="202B32"/>
                </a:solidFill>
                <a:latin typeface="Georgia"/>
                <a:ea typeface="Georgia"/>
                <a:cs typeface="Georgia"/>
              </a:rPr>
              <a:t>in the completed tests.</a:t>
            </a:r>
          </a:p>
        </p:txBody>
      </p:sp>
      <p:sp>
        <p:nvSpPr>
          <p:cNvPr id="7" name="text-8-6">
            <a:extLst xmlns:a="http://schemas.openxmlformats.org/drawingml/2006/main">
              <a:ext uri="{FF2B5EF4-FFF2-40B4-BE49-F238E27FC236}">
                <a16:creationId xmlns:a16="http://schemas.microsoft.com/office/drawing/2014/main" id="{B7BD3F9A-E2D4-4FBF-BD61-B49E66A76987}"/>
              </a:ext>
            </a:extLst>
          </p:cNvPr>
          <p:cNvSpPr>
            <a:spLocks xmlns:a="http://schemas.openxmlformats.org/drawingml/2006/main" noGrp="1"/>
          </p:cNvSpPr>
          <p:nvPr/>
        </p:nvSpPr>
        <p:spPr>
          <a:xfrm xmlns:a="http://schemas.openxmlformats.org/drawingml/2006/main">
            <a:off x="914400" y="5638800"/>
            <a:ext cx="96012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67571"/>
                </a:solidFill>
                <a:latin typeface="Arial"/>
                <a:ea typeface="Arial"/>
                <a:cs typeface="Arial"/>
              </a:defRPr>
            </a:pPr>
            <a:r>
              <a:rPr sz="2850" b="0">
                <a:solidFill>
                  <a:srgbClr val="167571"/>
                </a:solidFill>
                <a:latin typeface="Arial"/>
                <a:ea typeface="Arial"/>
                <a:cs typeface="Arial"/>
              </a:rPr>
              <a:t>Readable notices and policy routing</a:t>
            </a:r>
          </a:p>
          <a:p xmlns:a="http://schemas.openxmlformats.org/drawingml/2006/main">
            <a:pPr algn="l">
              <a:defRPr sz="2850" b="0">
                <a:solidFill>
                  <a:srgbClr val="167571"/>
                </a:solidFill>
                <a:latin typeface="Arial"/>
                <a:ea typeface="Arial"/>
                <a:cs typeface="Arial"/>
              </a:defRPr>
            </a:pPr>
            <a:r>
              <a:rPr sz="2850" b="0">
                <a:solidFill>
                  <a:srgbClr val="167571"/>
                </a:solidFill>
                <a:latin typeface="Arial"/>
                <a:ea typeface="Arial"/>
                <a:cs typeface="Arial"/>
              </a:rPr>
              <a:t>produced the target behaviour</a:t>
            </a:r>
          </a:p>
          <a:p xmlns:a="http://schemas.openxmlformats.org/drawingml/2006/main">
            <a:pPr algn="l">
              <a:defRPr sz="2850" b="0">
                <a:solidFill>
                  <a:srgbClr val="167571"/>
                </a:solidFill>
                <a:latin typeface="Arial"/>
                <a:ea typeface="Arial"/>
                <a:cs typeface="Arial"/>
              </a:defRPr>
            </a:pPr>
            <a:r>
              <a:rPr sz="2850" b="0">
                <a:solidFill>
                  <a:srgbClr val="167571"/>
                </a:solidFill>
                <a:latin typeface="Arial"/>
                <a:ea typeface="Arial"/>
                <a:cs typeface="Arial"/>
              </a:rPr>
              <a:t>in the separate Luna pilot.</a:t>
            </a:r>
          </a:p>
        </p:txBody>
      </p:sp>
      <p:sp>
        <p:nvSpPr>
          <p:cNvPr id="8" name="text-8-7">
            <a:extLst xmlns:a="http://schemas.openxmlformats.org/drawingml/2006/main">
              <a:ext uri="{FF2B5EF4-FFF2-40B4-BE49-F238E27FC236}">
                <a16:creationId xmlns:a16="http://schemas.microsoft.com/office/drawing/2014/main" id="{4C50E3FC-6A6A-4FF8-A9BC-F7FFC11B6FCF}"/>
              </a:ext>
            </a:extLst>
          </p:cNvPr>
          <p:cNvSpPr>
            <a:spLocks xmlns:a="http://schemas.openxmlformats.org/drawingml/2006/main" noGrp="1"/>
          </p:cNvSpPr>
          <p:nvPr/>
        </p:nvSpPr>
        <p:spPr>
          <a:xfrm xmlns:a="http://schemas.openxmlformats.org/drawingml/2006/main">
            <a:off x="914400" y="7772400"/>
            <a:ext cx="9601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8646A"/>
                </a:solidFill>
                <a:latin typeface="Arial"/>
                <a:ea typeface="Arial"/>
                <a:cs typeface="Arial"/>
              </a:defRPr>
            </a:pPr>
            <a:r>
              <a:rPr sz="2250" b="0">
                <a:solidFill>
                  <a:srgbClr val="58646A"/>
                </a:solidFill>
                <a:latin typeface="Arial"/>
                <a:ea typeface="Arial"/>
                <a:cs typeface="Arial"/>
              </a:rPr>
              <a:t>Different models and documents prevent</a:t>
            </a:r>
          </a:p>
          <a:p xmlns:a="http://schemas.openxmlformats.org/drawingml/2006/main">
            <a:pPr algn="l">
              <a:defRPr sz="2250" b="0">
                <a:solidFill>
                  <a:srgbClr val="58646A"/>
                </a:solidFill>
                <a:latin typeface="Arial"/>
                <a:ea typeface="Arial"/>
                <a:cs typeface="Arial"/>
              </a:defRPr>
            </a:pPr>
            <a:r>
              <a:rPr sz="2250" b="0">
                <a:solidFill>
                  <a:srgbClr val="58646A"/>
                </a:solidFill>
                <a:latin typeface="Arial"/>
                <a:ea typeface="Arial"/>
                <a:cs typeface="Arial"/>
              </a:rPr>
              <a:t>a controlled ranking of these approaches.</a:t>
            </a:r>
          </a:p>
        </p:txBody>
      </p:sp>
      <p:sp>
        <p:nvSpPr>
          <p:cNvPr id="9" name="text-8-8">
            <a:extLst xmlns:a="http://schemas.openxmlformats.org/drawingml/2006/main">
              <a:ext uri="{FF2B5EF4-FFF2-40B4-BE49-F238E27FC236}">
                <a16:creationId xmlns:a16="http://schemas.microsoft.com/office/drawing/2014/main" id="{39E27BAA-BD51-44CA-829B-5964F93BD6E3}"/>
              </a:ext>
            </a:extLst>
          </p:cNvPr>
          <p:cNvSpPr>
            <a:spLocks xmlns:a="http://schemas.openxmlformats.org/drawingml/2006/main" noGrp="1"/>
          </p:cNvSpPr>
          <p:nvPr/>
        </p:nvSpPr>
        <p:spPr>
          <a:xfrm xmlns:a="http://schemas.openxmlformats.org/drawingml/2006/main">
            <a:off x="11430000" y="3048000"/>
            <a:ext cx="594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67571"/>
                </a:solidFill>
                <a:latin typeface="Arial"/>
                <a:ea typeface="Arial"/>
                <a:cs typeface="Arial"/>
              </a:defRPr>
            </a:pPr>
            <a:r>
              <a:rPr sz="2100" b="1">
                <a:solidFill>
                  <a:srgbClr val="167571"/>
                </a:solidFill>
                <a:latin typeface="Arial"/>
                <a:ea typeface="Arial"/>
                <a:cs typeface="Arial"/>
              </a:rPr>
              <a:t>NEXT TESTS</a:t>
            </a:r>
          </a:p>
        </p:txBody>
      </p:sp>
      <p:sp>
        <p:nvSpPr>
          <p:cNvPr id="10" name="text-8-9">
            <a:extLst xmlns:a="http://schemas.openxmlformats.org/drawingml/2006/main">
              <a:ext uri="{FF2B5EF4-FFF2-40B4-BE49-F238E27FC236}">
                <a16:creationId xmlns:a16="http://schemas.microsoft.com/office/drawing/2014/main" id="{F60EA1E7-E67B-41E0-A658-B2D9087558FC}"/>
              </a:ext>
            </a:extLst>
          </p:cNvPr>
          <p:cNvSpPr>
            <a:spLocks xmlns:a="http://schemas.openxmlformats.org/drawingml/2006/main" noGrp="1"/>
          </p:cNvSpPr>
          <p:nvPr/>
        </p:nvSpPr>
        <p:spPr>
          <a:xfrm xmlns:a="http://schemas.openxmlformats.org/drawingml/2006/main">
            <a:off x="11430000" y="4114800"/>
            <a:ext cx="5943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2B32"/>
                </a:solidFill>
                <a:latin typeface="Arial"/>
                <a:ea typeface="Arial"/>
                <a:cs typeface="Arial"/>
              </a:defRPr>
            </a:pPr>
            <a:r>
              <a:rPr sz="2700" b="1">
                <a:solidFill>
                  <a:srgbClr val="202B32"/>
                </a:solidFill>
                <a:latin typeface="Arial"/>
                <a:ea typeface="Arial"/>
                <a:cs typeface="Arial"/>
              </a:rPr>
              <a:t>Matched comparison</a:t>
            </a:r>
          </a:p>
        </p:txBody>
      </p:sp>
      <p:sp>
        <p:nvSpPr>
          <p:cNvPr id="11" name="text-8-10">
            <a:extLst xmlns:a="http://schemas.openxmlformats.org/drawingml/2006/main">
              <a:ext uri="{FF2B5EF4-FFF2-40B4-BE49-F238E27FC236}">
                <a16:creationId xmlns:a16="http://schemas.microsoft.com/office/drawing/2014/main" id="{BF38CE7A-FB17-4A24-817E-7A006C9A1C10}"/>
              </a:ext>
            </a:extLst>
          </p:cNvPr>
          <p:cNvSpPr>
            <a:spLocks xmlns:a="http://schemas.openxmlformats.org/drawingml/2006/main" noGrp="1"/>
          </p:cNvSpPr>
          <p:nvPr/>
        </p:nvSpPr>
        <p:spPr>
          <a:xfrm xmlns:a="http://schemas.openxmlformats.org/drawingml/2006/main">
            <a:off x="11430000" y="4953000"/>
            <a:ext cx="594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8646A"/>
                </a:solidFill>
                <a:latin typeface="Arial"/>
                <a:ea typeface="Arial"/>
                <a:cs typeface="Arial"/>
              </a:defRPr>
            </a:pPr>
            <a:r>
              <a:rPr sz="2250" b="0">
                <a:solidFill>
                  <a:srgbClr val="58646A"/>
                </a:solidFill>
                <a:latin typeface="Arial"/>
                <a:ea typeface="Arial"/>
                <a:cs typeface="Arial"/>
              </a:rPr>
              <a:t>Same document, model and questions.</a:t>
            </a:r>
          </a:p>
        </p:txBody>
      </p:sp>
      <p:sp>
        <p:nvSpPr>
          <p:cNvPr id="12" name="text-8-11">
            <a:extLst xmlns:a="http://schemas.openxmlformats.org/drawingml/2006/main">
              <a:ext uri="{FF2B5EF4-FFF2-40B4-BE49-F238E27FC236}">
                <a16:creationId xmlns:a16="http://schemas.microsoft.com/office/drawing/2014/main" id="{12E906DF-29EE-45FB-B335-C142ABCD2903}"/>
              </a:ext>
            </a:extLst>
          </p:cNvPr>
          <p:cNvSpPr>
            <a:spLocks xmlns:a="http://schemas.openxmlformats.org/drawingml/2006/main" noGrp="1"/>
          </p:cNvSpPr>
          <p:nvPr/>
        </p:nvSpPr>
        <p:spPr>
          <a:xfrm xmlns:a="http://schemas.openxmlformats.org/drawingml/2006/main">
            <a:off x="11430000" y="5715000"/>
            <a:ext cx="5943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2B32"/>
                </a:solidFill>
                <a:latin typeface="Arial"/>
                <a:ea typeface="Arial"/>
                <a:cs typeface="Arial"/>
              </a:defRPr>
            </a:pPr>
            <a:r>
              <a:rPr sz="2700" b="1">
                <a:solidFill>
                  <a:srgbClr val="202B32"/>
                </a:solidFill>
                <a:latin typeface="Arial"/>
                <a:ea typeface="Arial"/>
                <a:cs typeface="Arial"/>
              </a:rPr>
              <a:t>System-policy-only baseline</a:t>
            </a:r>
          </a:p>
        </p:txBody>
      </p:sp>
      <p:sp>
        <p:nvSpPr>
          <p:cNvPr id="13" name="text-8-12">
            <a:extLst xmlns:a="http://schemas.openxmlformats.org/drawingml/2006/main">
              <a:ext uri="{FF2B5EF4-FFF2-40B4-BE49-F238E27FC236}">
                <a16:creationId xmlns:a16="http://schemas.microsoft.com/office/drawing/2014/main" id="{670D7E0F-548F-4270-94EC-EE181B8A47BD}"/>
              </a:ext>
            </a:extLst>
          </p:cNvPr>
          <p:cNvSpPr>
            <a:spLocks xmlns:a="http://schemas.openxmlformats.org/drawingml/2006/main" noGrp="1"/>
          </p:cNvSpPr>
          <p:nvPr/>
        </p:nvSpPr>
        <p:spPr>
          <a:xfrm xmlns:a="http://schemas.openxmlformats.org/drawingml/2006/main">
            <a:off x="11430000" y="6553200"/>
            <a:ext cx="594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8646A"/>
                </a:solidFill>
                <a:latin typeface="Arial"/>
                <a:ea typeface="Arial"/>
                <a:cs typeface="Arial"/>
              </a:defRPr>
            </a:pPr>
            <a:r>
              <a:rPr sz="2250" b="0">
                <a:solidFill>
                  <a:srgbClr val="58646A"/>
                </a:solidFill>
                <a:latin typeface="Arial"/>
                <a:ea typeface="Arial"/>
                <a:cs typeface="Arial"/>
              </a:rPr>
              <a:t>Separate policy delivery from detection.</a:t>
            </a:r>
          </a:p>
        </p:txBody>
      </p:sp>
      <p:sp>
        <p:nvSpPr>
          <p:cNvPr id="14" name="text-8-13">
            <a:extLst xmlns:a="http://schemas.openxmlformats.org/drawingml/2006/main">
              <a:ext uri="{FF2B5EF4-FFF2-40B4-BE49-F238E27FC236}">
                <a16:creationId xmlns:a16="http://schemas.microsoft.com/office/drawing/2014/main" id="{BF6CA93B-AEDB-42CE-9E03-2869D377B410}"/>
              </a:ext>
            </a:extLst>
          </p:cNvPr>
          <p:cNvSpPr>
            <a:spLocks xmlns:a="http://schemas.openxmlformats.org/drawingml/2006/main" noGrp="1"/>
          </p:cNvSpPr>
          <p:nvPr/>
        </p:nvSpPr>
        <p:spPr>
          <a:xfrm xmlns:a="http://schemas.openxmlformats.org/drawingml/2006/main">
            <a:off x="11430000" y="7315200"/>
            <a:ext cx="5943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2B32"/>
                </a:solidFill>
                <a:latin typeface="Arial"/>
                <a:ea typeface="Arial"/>
                <a:cs typeface="Arial"/>
              </a:defRPr>
            </a:pPr>
            <a:r>
              <a:rPr sz="2700" b="1">
                <a:solidFill>
                  <a:srgbClr val="202B32"/>
                </a:solidFill>
                <a:latin typeface="Arial"/>
                <a:ea typeface="Arial"/>
                <a:cs typeface="Arial"/>
              </a:rPr>
              <a:t>Human visibility</a:t>
            </a:r>
          </a:p>
        </p:txBody>
      </p:sp>
      <p:sp>
        <p:nvSpPr>
          <p:cNvPr id="15" name="text-8-14">
            <a:extLst xmlns:a="http://schemas.openxmlformats.org/drawingml/2006/main">
              <a:ext uri="{FF2B5EF4-FFF2-40B4-BE49-F238E27FC236}">
                <a16:creationId xmlns:a16="http://schemas.microsoft.com/office/drawing/2014/main" id="{9F786BA7-A08B-4382-8721-966AB98738DE}"/>
              </a:ext>
            </a:extLst>
          </p:cNvPr>
          <p:cNvSpPr>
            <a:spLocks xmlns:a="http://schemas.openxmlformats.org/drawingml/2006/main" noGrp="1"/>
          </p:cNvSpPr>
          <p:nvPr/>
        </p:nvSpPr>
        <p:spPr>
          <a:xfrm xmlns:a="http://schemas.openxmlformats.org/drawingml/2006/main">
            <a:off x="11430000" y="8153400"/>
            <a:ext cx="594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8646A"/>
                </a:solidFill>
                <a:latin typeface="Arial"/>
                <a:ea typeface="Arial"/>
                <a:cs typeface="Arial"/>
              </a:defRPr>
            </a:pPr>
            <a:r>
              <a:rPr sz="2250" b="0">
                <a:solidFill>
                  <a:srgbClr val="58646A"/>
                </a:solidFill>
                <a:latin typeface="Arial"/>
                <a:ea typeface="Arial"/>
                <a:cs typeface="Arial"/>
              </a:rPr>
              <a:t>Measure whether people notice changes.</a:t>
            </a:r>
          </a:p>
        </p:txBody>
      </p:sp>
    </p:spTree>
    <p:extLst>
      <p:ext uri="{BB962C8B-B14F-4D97-AF65-F5344CB8AC3E}">
        <p14:creationId xmlns:p14="http://schemas.microsoft.com/office/powerpoint/2010/main" val="790956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2026-10-07T04:46:07.9250000Z</dcterms:created>
  <dcterms:modified xsi:type="dcterms:W3CDTF">2026-10-07T04:46:07.9250000Z</dcterms:modified>
</coreProperties>
</file>