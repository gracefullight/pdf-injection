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8dde44df1744c0" /><Relationship Type="http://schemas.openxmlformats.org/officeDocument/2006/relationships/extended-properties" Target="/docProps/app.xml" Id="R0ab8accd1ba14a34" /><Relationship Type="http://schemas.openxmlformats.org/officeDocument/2006/relationships/officeDocument" Target="/ppt/presentation.xml" Id="R3ebf9d2ed5d5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804cc0544146b1"/>
  </p:sldMasterIdLst>
  <p:notesMasterIdLst>
    <p:notesMasterId xmlns:r="http://schemas.openxmlformats.org/officeDocument/2006/relationships" r:id="R3b2031a4846c40d1"/>
  </p:notesMasterIdLst>
  <p:sldIdLst>
    <p:sldId xmlns:r="http://schemas.openxmlformats.org/officeDocument/2006/relationships" id="256" r:id="R574f131808b942ab"/>
    <p:sldId xmlns:r="http://schemas.openxmlformats.org/officeDocument/2006/relationships" id="257" r:id="Rea9a222523834289"/>
    <p:sldId xmlns:r="http://schemas.openxmlformats.org/officeDocument/2006/relationships" id="258" r:id="Rb359d148d9fd4b53"/>
    <p:sldId xmlns:r="http://schemas.openxmlformats.org/officeDocument/2006/relationships" id="259" r:id="Re228216e45f04e10"/>
    <p:sldId xmlns:r="http://schemas.openxmlformats.org/officeDocument/2006/relationships" id="260" r:id="R10afacc93186487a"/>
    <p:sldId xmlns:r="http://schemas.openxmlformats.org/officeDocument/2006/relationships" id="261" r:id="R6f8da5988fe947f4"/>
    <p:sldId xmlns:r="http://schemas.openxmlformats.org/officeDocument/2006/relationships" id="262" r:id="R780ff67e81d34678"/>
    <p:sldId xmlns:r="http://schemas.openxmlformats.org/officeDocument/2006/relationships" id="263" r:id="R55b8e11a41e84159"/>
    <p:sldId xmlns:r="http://schemas.openxmlformats.org/officeDocument/2006/relationships" id="264" r:id="Re114a476b4c74b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b641ec15db43c0" /><Relationship Type="http://schemas.openxmlformats.org/officeDocument/2006/relationships/slideMaster" Target="/ppt/slideMasters/slideMaster1.xml" Id="R84804cc0544146b1" /><Relationship Type="http://schemas.openxmlformats.org/officeDocument/2006/relationships/notesMaster" Target="/ppt/notesMasters/notesMaster1.xml" Id="R3b2031a4846c40d1" /><Relationship Type="http://schemas.openxmlformats.org/officeDocument/2006/relationships/presProps" Target="/ppt/presProps.xml" Id="Rc650372f9b7144c2" /><Relationship Type="http://schemas.openxmlformats.org/officeDocument/2006/relationships/tableStyles" Target="/ppt/tableStyles.xml" Id="R8fc1b50b43af4420" /><Relationship Type="http://schemas.openxmlformats.org/officeDocument/2006/relationships/slide" Target="/ppt/slides/slide1.xml" Id="R574f131808b942ab" /><Relationship Type="http://schemas.openxmlformats.org/officeDocument/2006/relationships/slide" Target="/ppt/slides/slide2.xml" Id="Rea9a222523834289" /><Relationship Type="http://schemas.openxmlformats.org/officeDocument/2006/relationships/slide" Target="/ppt/slides/slide3.xml" Id="Rb359d148d9fd4b53" /><Relationship Type="http://schemas.openxmlformats.org/officeDocument/2006/relationships/slide" Target="/ppt/slides/slide4.xml" Id="Re228216e45f04e10" /><Relationship Type="http://schemas.openxmlformats.org/officeDocument/2006/relationships/slide" Target="/ppt/slides/slide5.xml" Id="R10afacc93186487a" /><Relationship Type="http://schemas.openxmlformats.org/officeDocument/2006/relationships/slide" Target="/ppt/slides/slide6.xml" Id="R6f8da5988fe947f4" /><Relationship Type="http://schemas.openxmlformats.org/officeDocument/2006/relationships/slide" Target="/ppt/slides/slide7.xml" Id="R780ff67e81d34678" /><Relationship Type="http://schemas.openxmlformats.org/officeDocument/2006/relationships/slide" Target="/ppt/slides/slide8.xml" Id="R55b8e11a41e84159" /><Relationship Type="http://schemas.openxmlformats.org/officeDocument/2006/relationships/slide" Target="/ppt/slides/slide9.xml" Id="Re114a476b4c74b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ff2e8a047241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9477d89d794197" /><Relationship Type="http://schemas.openxmlformats.org/officeDocument/2006/relationships/notesMaster" Target="/ppt/notesMasters/notesMaster1.xml" Id="Rb306fd90b1c34b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881426b4584f2b" /><Relationship Type="http://schemas.openxmlformats.org/officeDocument/2006/relationships/notesMaster" Target="/ppt/notesMasters/notesMaster1.xml" Id="Rae84bc91772740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cfe15cfe2d4da3" /><Relationship Type="http://schemas.openxmlformats.org/officeDocument/2006/relationships/notesMaster" Target="/ppt/notesMasters/notesMaster1.xml" Id="R1d5899ed69bc40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94de8d9c14e0f" /><Relationship Type="http://schemas.openxmlformats.org/officeDocument/2006/relationships/notesMaster" Target="/ppt/notesMasters/notesMaster1.xml" Id="R7d05823a079d45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f06430f6b74573" /><Relationship Type="http://schemas.openxmlformats.org/officeDocument/2006/relationships/notesMaster" Target="/ppt/notesMasters/notesMaster1.xml" Id="Rc84ad71a23ab4a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ac80828e8a4ea1" /><Relationship Type="http://schemas.openxmlformats.org/officeDocument/2006/relationships/notesMaster" Target="/ppt/notesMasters/notesMaster1.xml" Id="R2005260da04c46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6141fde7354fb0" /><Relationship Type="http://schemas.openxmlformats.org/officeDocument/2006/relationships/notesMaster" Target="/ppt/notesMasters/notesMaster1.xml" Id="R2a6a8693dbd047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87ae9555814281" /><Relationship Type="http://schemas.openxmlformats.org/officeDocument/2006/relationships/notesMaster" Target="/ppt/notesMasters/notesMaster1.xml" Id="Re12aeee604b741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3e4b0212a64fac" /><Relationship Type="http://schemas.openxmlformats.org/officeDocument/2006/relationships/notesMaster" Target="/ppt/notesMasters/notesMaster1.xml" Id="Rab3b6808a0dc46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title and author names</a:t>
            </a:r>
          </a:p>
          <a:p xmlns:a="http://schemas.openxmlformats.org/drawingml/2006/main">
            <a:r>
              <a:t>- /Users/gracefullight/workspace/pdf-injection/docs/prd.md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/Users/gracefullight/workspace/pdf-injection/docs/related-work.md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ISO 32000 PDF object model as summarized in the project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User-provided correction: FreeText and AcroForm were readable in at least one tested 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User-provided correction: FreeText annotation also worked in the current ChatGPT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measured results for ChatGPT, Claude, and Gemini</a:t>
            </a:r>
          </a:p>
          <a:p xmlns:a="http://schemas.openxmlformats.org/drawingml/2006/main">
            <a:r>
              <a:t>- /Users/gracefullight/workspace/pdf-injection/docs/research-protocol.md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experiment direction: text embedded as page pixels in an image-only PDF</a:t>
            </a:r>
          </a:p>
          <a:p xmlns:a="http://schemas.openxmlformats.org/drawingml/2006/main">
            <a:r>
              <a:t>- /Users/gracefullight/workspace/pdf-injection/docs/related-work.md</a:t>
            </a:r>
          </a:p>
          <a:p xmlns:a="http://schemas.openxmlformats.org/drawingml/2006/main">
            <a:r>
              <a:t>- /Users/gracefullight/workspace/pdf-injection/packages/robustness/src/ocr.ts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Established token-level statistical detector: https://proceedings.mlr.press/v202/kirchenbauer23a.html</a:t>
            </a:r>
          </a:p>
          <a:p xmlns:a="http://schemas.openxmlformats.org/drawingml/2006/main">
            <a:r>
              <a:t>- Established learned visual decoder: https://openaccess.thecvf.com/content_ECCV_2018/html/Jiren_Zhu_HiDDeN_Hiding_Data_ECCV_2018_paper.html</a:t>
            </a:r>
          </a:p>
          <a:p xmlns:a="http://schemas.openxmlformats.org/drawingml/2006/main">
            <a:r>
              <a:t>- Established frequency-space watermark: https://proceedings.neurips.cc/paper_files/paper/2023/hash/b54d1757c190ba20dbc4f9e4a2f54149-Abstract-Conference.html</a:t>
            </a:r>
          </a:p>
          <a:p xmlns:a="http://schemas.openxmlformats.org/drawingml/2006/main">
            <a:r>
              <a:t>- Established localized visual watermark extractor: https://openreview.net/pdf/50e8cb7b57f897cfc5da02c630d703dc3ebb37a0.pdf</a:t>
            </a:r>
          </a:p>
          <a:p xmlns:a="http://schemas.openxmlformats.org/drawingml/2006/main">
            <a:r>
              <a:t>- PDF logical-structure ML precedent: https://link.springer.com/article/10.1186/s13635-016-0045-0</a:t>
            </a:r>
          </a:p>
          <a:p xmlns:a="http://schemas.openxmlformats.org/drawingml/2006/main">
            <a:r>
              <a:t>- Proposed adaptation: train a PDF object-slot expert for watermark evidence; Hidost supports the structural-feature precedent but does not decode watermarks.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Rao et al. (2025): https://doi.org/10.1371/journal.pone.0331871</a:t>
            </a:r>
          </a:p>
          <a:p xmlns:a="http://schemas.openxmlformats.org/drawingml/2006/main">
            <a:r>
              <a:t>- Murray (2025): https://arxiv.org/abs/2508.17884</a:t>
            </a:r>
          </a:p>
          <a:p xmlns:a="http://schemas.openxmlformats.org/drawingml/2006/main">
            <a:r>
              <a:t>- Liu &amp; Ming (2026): https://arxiv.org/abs/2606.15020</a:t>
            </a:r>
          </a:p>
          <a:p xmlns:a="http://schemas.openxmlformats.org/drawingml/2006/main">
            <a:r>
              <a:t>- Thienpreecha &amp; Subramanian (2026): https://arxiv.org/abs/2607.19396</a:t>
            </a:r>
          </a:p>
          <a:p xmlns:a="http://schemas.openxmlformats.org/drawingml/2006/main">
            <a:r>
              <a:t>- Kirchenbauer et al. (2023): https://proceedings.mlr.press/v202/kirchenbauer23a.html</a:t>
            </a:r>
          </a:p>
          <a:p xmlns:a="http://schemas.openxmlformats.org/drawingml/2006/main">
            <a:r>
              <a:t>- Zhu et al. (2018), HiDDeN: https://openaccess.thecvf.com/content_ECCV_2018/html/Jiren_Zhu_HiDDeN_Hiding_Data_ECCV_2018_paper.html</a:t>
            </a:r>
          </a:p>
          <a:p xmlns:a="http://schemas.openxmlformats.org/drawingml/2006/main">
            <a:r>
              <a:t>- Wen et al. (2023), Tree-Rings: https://proceedings.neurips.cc/paper_files/paper/2023/hash/b54d1757c190ba20dbc4f9e4a2f54149-Abstract-Conference.html</a:t>
            </a:r>
          </a:p>
          <a:p xmlns:a="http://schemas.openxmlformats.org/drawingml/2006/main">
            <a:r>
              <a:t>- Sander et al. (2025), Watermark Anything: https://openreview.net/pdf/50e8cb7b57f897cfc5da02c630d703dc3ebb37a0.pdf</a:t>
            </a:r>
          </a:p>
          <a:p xmlns:a="http://schemas.openxmlformats.org/drawingml/2006/main">
            <a:r>
              <a:t>- Šrndić &amp; Laskov (2016), Hidost: https://link.springer.com/article/10.1186/s13635-016-0045-0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1e079204f44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59162992b0453a" /><Relationship Type="http://schemas.openxmlformats.org/officeDocument/2006/relationships/slideLayout" Target="/ppt/slideLayouts/slideLayout1.xml" Id="R75999d81394c4a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999d81394c4a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3b21449074674" /><Relationship Type="http://schemas.openxmlformats.org/officeDocument/2006/relationships/notesSlide" Target="/ppt/notesSlides/notesSlide1.xml" Id="R7c2fd9262fbc47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14f9cc9bd420e" /><Relationship Type="http://schemas.openxmlformats.org/officeDocument/2006/relationships/image" Target="/ppt/media/image.png" Id="R2e6e59418a5f4f1a" /><Relationship Type="http://schemas.openxmlformats.org/officeDocument/2006/relationships/notesSlide" Target="/ppt/notesSlides/notesSlide2.xml" Id="R0028b63d814d4c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fff4f89e74b0c" /><Relationship Type="http://schemas.openxmlformats.org/officeDocument/2006/relationships/notesSlide" Target="/ppt/notesSlides/notesSlide3.xml" Id="R6117b128db8e42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5868dfc174225" /><Relationship Type="http://schemas.openxmlformats.org/officeDocument/2006/relationships/notesSlide" Target="/ppt/notesSlides/notesSlide4.xml" Id="R0ce358e5ad6343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e889786a84daf" /><Relationship Type="http://schemas.openxmlformats.org/officeDocument/2006/relationships/notesSlide" Target="/ppt/notesSlides/notesSlide5.xml" Id="R30b6bd9cf09248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983b9d8a3469c" /><Relationship Type="http://schemas.openxmlformats.org/officeDocument/2006/relationships/notesSlide" Target="/ppt/notesSlides/notesSlide6.xml" Id="Rd7db0828dee948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4ac105432404d" /><Relationship Type="http://schemas.openxmlformats.org/officeDocument/2006/relationships/notesSlide" Target="/ppt/notesSlides/notesSlide7.xml" Id="R45bee5803b4b47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5bc45ad014791" /><Relationship Type="http://schemas.openxmlformats.org/officeDocument/2006/relationships/notesSlide" Target="/ppt/notesSlides/notesSlide8.xml" Id="Rf4cc314326694b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3c05325924733" /><Relationship Type="http://schemas.openxmlformats.org/officeDocument/2006/relationships/notesSlide" Target="/ppt/notesSlides/notesSlide9.xml" Id="R3a8826689c5f4a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BA84B-BD07-4F42-9B60-93CD5FD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ADEFBED-0352-44EA-8173-52534FA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7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438B7-67DF-4590-B272-E4FD20DA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AI-Resistant PDFs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Academic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B5C5F-363D-4E7D-AB3F-B8D99DA6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Bo Zhao · Eunkwang Shin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7675A-18ED-4FAC-9EF7-55A4378A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PDF semantics, cross-model measurements, and the OCR watermarking frontier</a:t>
            </a:r>
          </a:p>
        </p:txBody>
      </p:sp>
    </p:spTree>
    <p:extLst>
      <p:ext uri="{BB962C8B-B14F-4D97-AF65-F5344CB8AC3E}">
        <p14:creationId xmlns:p14="http://schemas.microsoft.com/office/powerpoint/2010/main" val="212605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AB69B-0E80-4174-9940-296F2AA0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an invisible PDF instruction reaches an AI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52D56-652E-49A8-B6E1-A64658FB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nder-frame">
            <a:extLst xmlns:a="http://schemas.openxmlformats.org/drawingml/2006/main">
              <a:ext uri="{FF2B5EF4-FFF2-40B4-BE49-F238E27FC236}">
                <a16:creationId xmlns:a16="http://schemas.microsoft.com/office/drawing/2014/main" id="{2E3F354B-C17E-4226-B016-483D0AD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7338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e59418a5f4f1a"/>
          <a:stretch xmlns:a="http://schemas.openxmlformats.org/drawingml/2006/main"/>
        </p:blipFill>
        <p:spPr>
          <a:xfrm xmlns:a="http://schemas.openxmlformats.org/drawingml/2006/main">
            <a:off x="998826" y="1809750"/>
            <a:ext cx="2841048" cy="3676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E29DB-79A0-431A-B10F-06B3D52E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Human view</a:t>
            </a:r>
          </a:p>
        </p:txBody>
      </p:sp>
      <p:sp>
        <p:nvSpPr>
          <p:cNvPr id="7" name="view-arrow">
            <a:extLst xmlns:a="http://schemas.openxmlformats.org/drawingml/2006/main">
              <a:ext uri="{FF2B5EF4-FFF2-40B4-BE49-F238E27FC236}">
                <a16:creationId xmlns:a16="http://schemas.microsoft.com/office/drawing/2014/main" id="{FBA6464F-6A67-4B9F-ADD2-6C612608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81375"/>
            <a:ext cx="895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emantic-frame">
            <a:extLst xmlns:a="http://schemas.openxmlformats.org/drawingml/2006/main">
              <a:ext uri="{FF2B5EF4-FFF2-40B4-BE49-F238E27FC236}">
                <a16:creationId xmlns:a16="http://schemas.microsoft.com/office/drawing/2014/main" id="{3F9FA892-1C58-420F-B718-F3B7F09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57350"/>
            <a:ext cx="59817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75ED6-99B2-4664-8D36-F86C1132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AI ingestion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C4560-0D64-45B2-9C49-DE16CFD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TEXT OBJECTS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8B1EF-0E2A-43B5-B031-72AC25B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EXTRACTOR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EA0EE-FCD0-4115-B38A-3F1451A8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MODEL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4D61A-83F5-4124-BE5A-C54E464C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 text, forms, annotations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CBEF7-16B8-49B3-AC81-F17620AE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Decides which objects survive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409EF-71E9-4AE3-A626-F3AFBC67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 enters the prompt</a:t>
            </a:r>
          </a:p>
        </p:txBody>
      </p:sp>
      <p:cxnSp>
        <p:nvCxnSpPr>
          <p:cNvPr id="130" name=""/>
          <p:cNvCxnSpPr/>
          <p:nvPr/>
        </p:nvCxnSpPr>
        <p:spPr>
          <a:xfrm xmlns:a="http://schemas.openxmlformats.org/drawingml/2006/main">
            <a:off x="5962650" y="36385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15510-EA83-4A52-9A31-8E5466FF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9582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does not read the page like a human; it receives the extractor’s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298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9EAE2-BEDB-411A-9DC0-213327C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PDF structure exposes multiple semantic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10C00-116D-49D8-8A12-35C34953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6BC4A-4C19-4167-92C7-24E3832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Byte container</a:t>
            </a:r>
          </a:p>
        </p:txBody>
      </p:sp>
      <p:cxnSp>
        <p:nvCxnSpPr>
          <p:cNvPr id="208" name=""/>
          <p:cNvCxnSpPr/>
          <p:nvPr/>
        </p:nvCxnSpPr>
        <p:spPr>
          <a:xfrm xmlns:a="http://schemas.openxmlformats.org/drawingml/2006/main">
            <a:off x="4000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2146E-8DCD-4185-9119-5D1A9A5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Object graph</a:t>
            </a:r>
          </a:p>
        </p:txBody>
      </p:sp>
      <p:cxnSp>
        <p:nvCxnSpPr>
          <p:cNvPr id="210" name=""/>
          <p:cNvCxnSpPr/>
          <p:nvPr/>
        </p:nvCxnSpPr>
        <p:spPr>
          <a:xfrm xmlns:a="http://schemas.openxmlformats.org/drawingml/2006/main">
            <a:off x="42481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4F8A0-D26F-42D8-9AD9-B101CF5E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Model-facing views</a:t>
            </a:r>
          </a:p>
        </p:txBody>
      </p:sp>
      <p:cxnSp>
        <p:nvCxnSpPr>
          <p:cNvPr id="212" name=""/>
          <p:cNvCxnSpPr/>
          <p:nvPr/>
        </p:nvCxnSpPr>
        <p:spPr>
          <a:xfrm xmlns:a="http://schemas.openxmlformats.org/drawingml/2006/main">
            <a:off x="8096250" y="201930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66656-2C21-42A3-B07A-A9BF1EDC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35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F4972-63CA-459C-8E75-76A7B1C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%PDF 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B72CD-F73D-4BFD-878F-DD6AA66A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3528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7E827-8B5E-43EE-9F5E-CF87196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30099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Body objects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BDFD1-A0CF-4780-AEDF-B735393E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C2B39-B913-4B7D-B486-C456E23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xref / xref stream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5DA56-22A5-4773-8D03-14B4E3E3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94018-7211-4180-9A24-08701A19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Trailer + startxref</a:t>
            </a:r>
          </a:p>
        </p:txBody>
      </p:sp>
      <p:cxnSp>
        <p:nvCxnSpPr>
          <p:cNvPr id="221" name=""/>
          <p:cNvCxnSpPr/>
          <p:nvPr/>
        </p:nvCxnSpPr>
        <p:spPr>
          <a:xfrm xmlns:a="http://schemas.openxmlformats.org/drawingml/2006/main">
            <a:off x="5905500" y="2571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22" name=""/>
          <p:cNvCxnSpPr/>
          <p:nvPr/>
        </p:nvCxnSpPr>
        <p:spPr>
          <a:xfrm xmlns:a="http://schemas.openxmlformats.org/drawingml/2006/main">
            <a:off x="5905500" y="332422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23" name=""/>
          <p:cNvCxnSpPr/>
          <p:nvPr/>
        </p:nvCxnSpPr>
        <p:spPr>
          <a:xfrm xmlns:a="http://schemas.openxmlformats.org/drawingml/2006/main">
            <a:off x="4695825" y="3781425"/>
            <a:ext cx="2428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24" name=""/>
          <p:cNvCxnSpPr/>
          <p:nvPr/>
        </p:nvCxnSpPr>
        <p:spPr>
          <a:xfrm xmlns:a="http://schemas.openxmlformats.org/drawingml/2006/main">
            <a:off x="4695825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25" name=""/>
          <p:cNvCxnSpPr/>
          <p:nvPr/>
        </p:nvCxnSpPr>
        <p:spPr>
          <a:xfrm xmlns:a="http://schemas.openxmlformats.org/drawingml/2006/main">
            <a:off x="59055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26" name=""/>
          <p:cNvCxnSpPr/>
          <p:nvPr/>
        </p:nvCxnSpPr>
        <p:spPr>
          <a:xfrm xmlns:a="http://schemas.openxmlformats.org/drawingml/2006/main">
            <a:off x="71247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27" name=""/>
          <p:cNvCxnSpPr/>
          <p:nvPr/>
        </p:nvCxnSpPr>
        <p:spPr>
          <a:xfrm xmlns:a="http://schemas.openxmlformats.org/drawingml/2006/main">
            <a:off x="6858000" y="24384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28" name=""/>
          <p:cNvCxnSpPr/>
          <p:nvPr/>
        </p:nvCxnSpPr>
        <p:spPr>
          <a:xfrm xmlns:a="http://schemas.openxmlformats.org/drawingml/2006/main">
            <a:off x="7620000" y="2438400"/>
            <a:ext cx="0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229" name=""/>
          <p:cNvCxnSpPr/>
          <p:nvPr/>
        </p:nvCxnSpPr>
        <p:spPr>
          <a:xfrm xmlns:a="http://schemas.openxmlformats.org/drawingml/2006/main">
            <a:off x="6419850" y="55816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9DA1C-5784-4247-BDB2-858ADAF3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DB84C-E690-4361-96DA-3FA28909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764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Catalog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C70FA-2E05-416C-9A2C-C01113EF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BAD057-BFBF-472E-8DC7-B30B2FE9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146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BD756E-F557-43C2-A8F0-06A9AA3C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BBF08-B6FE-4BCA-BFA5-C56F652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52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C34E3-7B9E-4377-B292-07E5AF4E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743283-9276-42EA-8A00-147F028F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/Contents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1EE84-E8E6-4F04-936A-E1D5C8F6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2E29CC-82CC-4FA1-8FAA-FCB1EB36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/Resources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84CC45-AA82-4959-888A-CDAF9B4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A4933-E1CB-48D8-A851-BB93559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/Annots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736C34-9642-4357-9AB9-5DF3EE7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0"/>
            <a:ext cx="1200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003980-73DB-42EB-AB80-265A76C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1017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Catalog-level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/AcroForm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/Metadata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8FBA89-FE5B-44A1-A582-B1585D0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1CE0EA-3259-4842-B2FE-3DE999C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Rendered pixels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C479CC-C774-4436-A6FA-FB3A97D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What a human sees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F0959B-885B-4304-B163-7CEF8A8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440AF7-2182-4ED5-A59D-BC3F4470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AB3904-C5AC-4BB8-AA6D-1A526B5F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Contents, forms, annotations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D6110F-4C80-4B06-A839-AAB1520A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39BC9F-035D-4D15-9C2B-65631F9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Document metadata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BEC039-BC63-4FFB-A61A-0D7D2266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910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XMP and Info dictionaries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E46B99-3F40-40F9-9419-4124ED00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B16D11-6E7D-4B82-AC92-B91DFB8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101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Accessibility semantics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757A4B-7BB8-43FB-BAD4-F537EDB5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863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/ActualText and tags</a:t>
            </a:r>
          </a:p>
        </p:txBody>
      </p:sp>
    </p:spTree>
    <p:extLst>
      <p:ext uri="{BB962C8B-B14F-4D97-AF65-F5344CB8AC3E}">
        <p14:creationId xmlns:p14="http://schemas.microsoft.com/office/powerpoint/2010/main" val="44100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A3EE2-8AB6-4FA6-BDE0-E18EAEFE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Where can a parseable instruction live inside a PDF?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CDF1E-D1DF-4F90-A4FB-9DC33773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8B691-5190-4FA2-B02B-1D15ABCE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 = readable in at least one tested ingestion path. X = not exposed by a text-only parser.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762250"/>
                <a:gridCol w="4095750"/>
                <a:gridCol w="2819400"/>
              </a:tblGrid>
              <a:tr h="579438">
                <a:tc>
                  <a:txBody>
                    <a:bodyPr/>
                    <a:lstStyle/>
                    <a:p>
                      <a:r>
                        <a:t>Surface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PDF location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Readable?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Page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/Page → /Contents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Standard text extraction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FreeText annotation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/Page → /Annots → /AP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Annotation-aware parser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AcroForm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/AcroForm + Widget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Form-aware ingestion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Metadata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/Metadata; trailer /Info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Outside normal page text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Raster image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XObject / pixels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Requires OCR or vision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19EBA-3F2F-4E98-8B1E-B17ADC4D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0894B-BDB9-4590-83B4-B1EBCFA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93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Content streams are the default path; annotations and forms depend on the provider, while images require OCR.</a:t>
            </a:r>
          </a:p>
        </p:txBody>
      </p:sp>
    </p:spTree>
    <p:extLst>
      <p:ext uri="{BB962C8B-B14F-4D97-AF65-F5344CB8AC3E}">
        <p14:creationId xmlns:p14="http://schemas.microsoft.com/office/powerpoint/2010/main" val="807664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working mechanisms use different PDF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All four were readable in the current ChatGPT run, but not for the same reason.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WHITE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Normal text painted white; invisible on a white page, but still extracted from /Contents.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RENDER MODE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 uses 3 Tr: glyphs are never painted, while the text remains in /Contents.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ACROFORM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instruction sits in a field value or widget appearance; form-aware ingestion exposes it.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FREETEXT ANNOTATION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instruction sits in an annotation appearance stream; annotation-aware ingestion exposes it.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0E3F7-40FE-42A3-8A16-F7AD56D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37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Content-stream methods transfer most consistently across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45360-A24C-414C-A6B9-4DB3A9C7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B8242-BD53-4443-8CF1-55EFB54A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Measured project results. O = read; X = not read.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57450"/>
                <a:gridCol w="2457450"/>
                <a:gridCol w="2476500"/>
              </a:tblGrid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ChatGPT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Gemini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Page content  ·  white / 3 Tr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FreeText annotation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AcroForm field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F8E7F-436E-404E-AF44-3F1B651D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A3FF2-4847-443C-A52E-E4B1E43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three read page-content methods; annotation and form semantics are provider-dependent.</a:t>
            </a:r>
          </a:p>
        </p:txBody>
      </p:sp>
    </p:spTree>
    <p:extLst>
      <p:ext uri="{BB962C8B-B14F-4D97-AF65-F5344CB8AC3E}">
        <p14:creationId xmlns:p14="http://schemas.microsoft.com/office/powerpoint/2010/main" val="2046800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92491-6BBA-4B5B-B6C5-5F0C898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 test: image-only PDFs that trigger OCR / 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5DD88-D2D5-4D20-9E92-C8FB4B5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D1470-15AD-4FB3-8F64-36EE267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An image-only PDF stores page text as pixels—not selectable PDF text objects.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C23EA-1D2B-4AFC-B42F-BA6443A9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05175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4381500" y="2628900"/>
            <a:ext cx="0" cy="2333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92" name=""/>
          <p:cNvCxnSpPr/>
          <p:nvPr/>
        </p:nvCxnSpPr>
        <p:spPr>
          <a:xfrm xmlns:a="http://schemas.openxmlformats.org/drawingml/2006/main">
            <a:off x="4381500" y="26289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93" name=""/>
          <p:cNvCxnSpPr/>
          <p:nvPr/>
        </p:nvCxnSpPr>
        <p:spPr>
          <a:xfrm xmlns:a="http://schemas.openxmlformats.org/drawingml/2006/main">
            <a:off x="4381500" y="33718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94" name=""/>
          <p:cNvCxnSpPr/>
          <p:nvPr/>
        </p:nvCxnSpPr>
        <p:spPr>
          <a:xfrm xmlns:a="http://schemas.openxmlformats.org/drawingml/2006/main">
            <a:off x="4381500" y="41148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95" name=""/>
          <p:cNvCxnSpPr/>
          <p:nvPr/>
        </p:nvCxnSpPr>
        <p:spPr>
          <a:xfrm xmlns:a="http://schemas.openxmlformats.org/drawingml/2006/main">
            <a:off x="4381500" y="48577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13C98-32DB-441C-8785-660B8794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05175"/>
            <a:ext cx="742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A8D69-686D-4C64-A439-0A99C19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05175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F255D-47FC-4D43-9BEC-7CB712A8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5084B-C3AE-4804-83A4-2D09B9C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Image-only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A18D0-1B97-4EFC-969C-8188B6F8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47900"/>
            <a:ext cx="1600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D0EB8-337F-43BE-94C7-EDC54BA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OCR / vision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A91EA-3565-4983-B4BE-93016895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99845-37E5-4791-8BE7-9B2346C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Original rasterized 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71528-4913-49A2-A70E-329E40EB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21718-3598-4800-B04D-3B9AEFB6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861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Rasterized visible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5D67D-232C-45CA-93B9-B097BBD8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59F4C-B4B1-4D11-BCC6-61ED8868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29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Rasterized instruction 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2DEB5-4314-4607-8640-6EC8A89F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5770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1F5C2-B8EF-4CE4-BD47-DF331470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72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No-text image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BC1B5-29EA-4833-9CDA-00190AA9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504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1CE35-1686-4531-A3F1-CE07036D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24200"/>
            <a:ext cx="1123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ChatGPT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Claude · Gemini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7D6CA-B508-4A25-A93B-FF572090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38450"/>
            <a:ext cx="1104900" cy="12192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4E4FA-0210-4C89-92F6-7DC8A441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52775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E2C8D-7EE9-46DA-A398-31292BE8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67350"/>
            <a:ext cx="901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2FACC0-91F8-45F6-A3D2-6E621877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197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Measure whether each model extracts the image-borne text and uses it as document context.</a:t>
            </a:r>
          </a:p>
        </p:txBody>
      </p:sp>
    </p:spTree>
    <p:extLst>
      <p:ext uri="{BB962C8B-B14F-4D97-AF65-F5344CB8AC3E}">
        <p14:creationId xmlns:p14="http://schemas.microsoft.com/office/powerpoint/2010/main" val="1642021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Specialist detectors can read signals general models miss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Use one expert per signal family; send standardized evidence to the assessment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TOKEN STATISTICS · ESTABLISHED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a statistical detector for known token biases; fine-tune only when the pattern itself is learned.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PIXEL / FREQUENCY · ESTABLISHED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Fine-tune an open-source decoder for payload, confidence, and location in page pixels.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PDF OBJECT SLOTS · PROPOSED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Parse /Contents, /Annots, /AcroForm, and object paths; train a compact structure expert.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HYBRID DETECTOR LAYER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Emit channel, score, location, and payload; let the general model interpret the evidence.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Selected work on PDF injection, watermark detection, visual decoding, and structure-aware experts.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PDF INJECTION &amp; INTEGRITY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Rao et al. (2025) · PLOS ONE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PhantomLint (2025) · arXiv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Liu &amp; Ming; CrackedPDFs (2026) · arXiv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TEXT WATERMARKS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Kirchenbauer et al. (2023) · ICML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Statistical token detection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VISUAL WATERMARKS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HiDDeN (2018) · ECCV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Tree-Rings (2023) · NeurIPS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WAM (2025) · ICLR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PDF STRUCTURE EXPERT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Šrndić &amp; Laskov (2016) · EURASIP JIS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Hidost: structure-aware PDF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2026-09-01T13:17:39.1300000Z</dcterms:created>
  <dcterms:modified xsi:type="dcterms:W3CDTF">2026-09-01T13:17:39.1300000Z</dcterms:modified>
</coreProperties>
</file>