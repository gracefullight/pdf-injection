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c2e5724cfa4f81" /><Relationship Type="http://schemas.openxmlformats.org/officeDocument/2006/relationships/extended-properties" Target="/docProps/app.xml" Id="R1aa397cd5c104857" /><Relationship Type="http://schemas.openxmlformats.org/officeDocument/2006/relationships/officeDocument" Target="/ppt/presentation.xml" Id="R5159ed0237b744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836793b5804b47"/>
  </p:sldMasterIdLst>
  <p:notesMasterIdLst>
    <p:notesMasterId xmlns:r="http://schemas.openxmlformats.org/officeDocument/2006/relationships" r:id="Rcc50f03db46f4ce5"/>
  </p:notesMasterIdLst>
  <p:sldIdLst>
    <p:sldId xmlns:r="http://schemas.openxmlformats.org/officeDocument/2006/relationships" id="256" r:id="Ra2e5bdc11b544c50"/>
    <p:sldId xmlns:r="http://schemas.openxmlformats.org/officeDocument/2006/relationships" id="257" r:id="R643e9c4f575f4819"/>
    <p:sldId xmlns:r="http://schemas.openxmlformats.org/officeDocument/2006/relationships" id="258" r:id="R17615a7921d54ea8"/>
    <p:sldId xmlns:r="http://schemas.openxmlformats.org/officeDocument/2006/relationships" id="259" r:id="Ra19978357a6a436f"/>
    <p:sldId xmlns:r="http://schemas.openxmlformats.org/officeDocument/2006/relationships" id="260" r:id="R7bed3f00abed4034"/>
    <p:sldId xmlns:r="http://schemas.openxmlformats.org/officeDocument/2006/relationships" id="261" r:id="R9bbbaed8d7c94d8f"/>
    <p:sldId xmlns:r="http://schemas.openxmlformats.org/officeDocument/2006/relationships" id="262" r:id="Re80c54be3f5a40ff"/>
    <p:sldId xmlns:r="http://schemas.openxmlformats.org/officeDocument/2006/relationships" id="263" r:id="R3f4fa10a352b46b3"/>
    <p:sldId xmlns:r="http://schemas.openxmlformats.org/officeDocument/2006/relationships" id="264" r:id="Ra158fc6144964ad7"/>
    <p:sldId xmlns:r="http://schemas.openxmlformats.org/officeDocument/2006/relationships" id="265" r:id="R6bc93f585a5841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a71328407b445c" /><Relationship Type="http://schemas.openxmlformats.org/officeDocument/2006/relationships/slideMaster" Target="/ppt/slideMasters/slideMaster1.xml" Id="Rfd836793b5804b47" /><Relationship Type="http://schemas.openxmlformats.org/officeDocument/2006/relationships/notesMaster" Target="/ppt/notesMasters/notesMaster1.xml" Id="Rcc50f03db46f4ce5" /><Relationship Type="http://schemas.openxmlformats.org/officeDocument/2006/relationships/presProps" Target="/ppt/presProps.xml" Id="Ree67f97339f34d0e" /><Relationship Type="http://schemas.openxmlformats.org/officeDocument/2006/relationships/tableStyles" Target="/ppt/tableStyles.xml" Id="R62c37f13f18b4cdf" /><Relationship Type="http://schemas.openxmlformats.org/officeDocument/2006/relationships/slide" Target="/ppt/slides/slide1.xml" Id="Ra2e5bdc11b544c50" /><Relationship Type="http://schemas.openxmlformats.org/officeDocument/2006/relationships/slide" Target="/ppt/slides/slide2.xml" Id="R643e9c4f575f4819" /><Relationship Type="http://schemas.openxmlformats.org/officeDocument/2006/relationships/slide" Target="/ppt/slides/slide3.xml" Id="R17615a7921d54ea8" /><Relationship Type="http://schemas.openxmlformats.org/officeDocument/2006/relationships/slide" Target="/ppt/slides/slide4.xml" Id="Ra19978357a6a436f" /><Relationship Type="http://schemas.openxmlformats.org/officeDocument/2006/relationships/slide" Target="/ppt/slides/slide5.xml" Id="R7bed3f00abed4034" /><Relationship Type="http://schemas.openxmlformats.org/officeDocument/2006/relationships/slide" Target="/ppt/slides/slide6.xml" Id="R9bbbaed8d7c94d8f" /><Relationship Type="http://schemas.openxmlformats.org/officeDocument/2006/relationships/slide" Target="/ppt/slides/slide7.xml" Id="Re80c54be3f5a40ff" /><Relationship Type="http://schemas.openxmlformats.org/officeDocument/2006/relationships/slide" Target="/ppt/slides/slide8.xml" Id="R3f4fa10a352b46b3" /><Relationship Type="http://schemas.openxmlformats.org/officeDocument/2006/relationships/slide" Target="/ppt/slides/slide9.xml" Id="Ra158fc6144964ad7" /><Relationship Type="http://schemas.openxmlformats.org/officeDocument/2006/relationships/slide" Target="/ppt/slides/slide10.xml" Id="R6bc93f585a5841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1f71736b5149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fe9d373b3c4616" /><Relationship Type="http://schemas.openxmlformats.org/officeDocument/2006/relationships/notesMaster" Target="/ppt/notesMasters/notesMaster1.xml" Id="R0955805e6ba34a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0f8752566b4864" /><Relationship Type="http://schemas.openxmlformats.org/officeDocument/2006/relationships/notesMaster" Target="/ppt/notesMasters/notesMaster1.xml" Id="R96ae5085ead44b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06fc048ade4894" /><Relationship Type="http://schemas.openxmlformats.org/officeDocument/2006/relationships/notesMaster" Target="/ppt/notesMasters/notesMaster1.xml" Id="R9d616f6a984b4d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2e3771e6794c1b" /><Relationship Type="http://schemas.openxmlformats.org/officeDocument/2006/relationships/notesMaster" Target="/ppt/notesMasters/notesMaster1.xml" Id="R8b3e0eb3d0df49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897c1aeff646da" /><Relationship Type="http://schemas.openxmlformats.org/officeDocument/2006/relationships/notesMaster" Target="/ppt/notesMasters/notesMaster1.xml" Id="Rf8bd17b18b1a44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aab4cac031405f" /><Relationship Type="http://schemas.openxmlformats.org/officeDocument/2006/relationships/notesMaster" Target="/ppt/notesMasters/notesMaster1.xml" Id="Rbe6538e4c9d540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5a1e8c76d1451e" /><Relationship Type="http://schemas.openxmlformats.org/officeDocument/2006/relationships/notesMaster" Target="/ppt/notesMasters/notesMaster1.xml" Id="Rc5c17d0df4124b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36acb52f7f4b87" /><Relationship Type="http://schemas.openxmlformats.org/officeDocument/2006/relationships/notesMaster" Target="/ppt/notesMasters/notesMaster1.xml" Id="R32828da133a44f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527f6d6aa14061" /><Relationship Type="http://schemas.openxmlformats.org/officeDocument/2006/relationships/notesMaster" Target="/ppt/notesMasters/notesMaster1.xml" Id="Rf9fe2ec7419949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d6fa56119747ae" /><Relationship Type="http://schemas.openxmlformats.org/officeDocument/2006/relationships/notesMaster" Target="/ppt/notesMasters/notesMaster1.xml" Id="Re5ee7eedf39942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title and author names</a:t>
            </a:r>
          </a:p>
          <a:p xmlns:a="http://schemas.openxmlformats.org/drawingml/2006/main">
            <a:r>
              <a:t>- /Users/gracefullight/workspace/pdf-injection/docs/prd.md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/Users/gracefullight/workspace/pdf-injection/docs/related-work.md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ISO 32000 PDF object model as summarized in the project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User-provided correction: FreeText and AcroForm were readable in at least one tested 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User-provided correction: FreeText annotation also worked in the current ChatGPT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measured results for ChatGPT, Claude, and Gemini</a:t>
            </a:r>
          </a:p>
          <a:p xmlns:a="http://schemas.openxmlformats.org/drawingml/2006/main">
            <a:r>
              <a:t>- /Users/gracefullight/workspace/pdf-injection/docs/research-protocol.md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correction: OCR/vision is not a standalone pipeline layer; each provider controls whether and how it is invoked.</a:t>
            </a:r>
          </a:p>
          <a:p xmlns:a="http://schemas.openxmlformats.org/drawingml/2006/main">
            <a:r>
              <a:t>- User-provided experiment direction: text embedded as page pixels in an image-only PDF.</a:t>
            </a:r>
          </a:p>
          <a:p xmlns:a="http://schemas.openxmlformats.org/drawingml/2006/main">
            <a:r>
              <a:t>- /Users/gracefullight/workspace/pdf-injection/docs/related-work.md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https://openaccess.thecvf.com/content_ECCV_2018/html/Jiren_Zhu_HiDDeN_Hiding_Data_ECCV_2018_paper.html</a:t>
            </a:r>
          </a:p>
          <a:p xmlns:a="http://schemas.openxmlformats.org/drawingml/2006/main">
            <a:r>
              <a:t>- https://proceedings.mlr.press/v202/kirchenbauer23a.html</a:t>
            </a:r>
          </a:p>
          <a:p xmlns:a="http://schemas.openxmlformats.org/drawingml/2006/main">
            <a:r>
              <a:t>- https://link.springer.com/article/10.1186/s13635-016-0045-0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/Users/gracefullight/workspace/pdf-injection/docs/prd.md#30-references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https://arxiv.org/abs/2508.17884</a:t>
            </a:r>
          </a:p>
          <a:p xmlns:a="http://schemas.openxmlformats.org/drawingml/2006/main">
            <a:r>
              <a:t>- https://arxiv.org/abs/2607.19396</a:t>
            </a:r>
          </a:p>
          <a:p xmlns:a="http://schemas.openxmlformats.org/drawingml/2006/main">
            <a:r>
              <a:t>- https://arxiv.org/abs/2606.15020</a:t>
            </a:r>
          </a:p>
          <a:p xmlns:a="http://schemas.openxmlformats.org/drawingml/2006/main">
            <a:r>
              <a:t>- https://openaccess.thecvf.com/content_ECCV_2018/html/Jiren_Zhu_HiDDeN_Hiding_Data_ECCV_2018_paper.html</a:t>
            </a:r>
          </a:p>
          <a:p xmlns:a="http://schemas.openxmlformats.org/drawingml/2006/main">
            <a:r>
              <a:t>- https://proceedings.neurips.cc/paper_files/paper/2023/hash/b54d1757c190ba20dbc4f9e4a2f54149-Abstract-Conference.html</a:t>
            </a:r>
          </a:p>
          <a:p xmlns:a="http://schemas.openxmlformats.org/drawingml/2006/main">
            <a:r>
              <a:t>- https://openreview.net/pdf?id=IkZVDzdC8M</a:t>
            </a:r>
          </a:p>
          <a:p xmlns:a="http://schemas.openxmlformats.org/drawingml/2006/main">
            <a:r>
              <a:t>- https://doi.org/10.1186/s13635-016-0045-0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399f240ca4a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8e71b2a92a4e00" /><Relationship Type="http://schemas.openxmlformats.org/officeDocument/2006/relationships/slideLayout" Target="/ppt/slideLayouts/slideLayout1.xml" Id="R7fcae3ba72754d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cae3ba72754d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0422122074e64" /><Relationship Type="http://schemas.openxmlformats.org/officeDocument/2006/relationships/notesSlide" Target="/ppt/notesSlides/notesSlide1.xml" Id="Ra4a968f7d95a46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9d737d7bf42fa" /><Relationship Type="http://schemas.openxmlformats.org/officeDocument/2006/relationships/image" Target="/ppt/media/image.png" Id="R46ed46c60e8446fb" /><Relationship Type="http://schemas.openxmlformats.org/officeDocument/2006/relationships/notesSlide" Target="/ppt/notesSlides/notesSlide2.xml" Id="R06368c1c190849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83237da304993" /><Relationship Type="http://schemas.openxmlformats.org/officeDocument/2006/relationships/notesSlide" Target="/ppt/notesSlides/notesSlide3.xml" Id="Rba6b226780af45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83dd2944345c4" /><Relationship Type="http://schemas.openxmlformats.org/officeDocument/2006/relationships/notesSlide" Target="/ppt/notesSlides/notesSlide4.xml" Id="R6c9d5e175d9b49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bd12f0907459e" /><Relationship Type="http://schemas.openxmlformats.org/officeDocument/2006/relationships/notesSlide" Target="/ppt/notesSlides/notesSlide5.xml" Id="Raf98cb855cc548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d043808ea4d16" /><Relationship Type="http://schemas.openxmlformats.org/officeDocument/2006/relationships/notesSlide" Target="/ppt/notesSlides/notesSlide6.xml" Id="Red111cba16bd43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b4d098cc24a0d" /><Relationship Type="http://schemas.openxmlformats.org/officeDocument/2006/relationships/notesSlide" Target="/ppt/notesSlides/notesSlide7.xml" Id="R5843a49be6fa4d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4e61191084a59" /><Relationship Type="http://schemas.openxmlformats.org/officeDocument/2006/relationships/notesSlide" Target="/ppt/notesSlides/notesSlide8.xml" Id="R2f9cde15329742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8bff4ecf848de" /><Relationship Type="http://schemas.openxmlformats.org/officeDocument/2006/relationships/notesSlide" Target="/ppt/notesSlides/notesSlide9.xml" Id="R2c084f547e7d4d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42239b2f64e27" /><Relationship Type="http://schemas.openxmlformats.org/officeDocument/2006/relationships/notesSlide" Target="/ppt/notesSlides/notesSlide10.xml" Id="R57f78f2bcdd74a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BA84B-BD07-4F42-9B60-93CD5FD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ADEFBED-0352-44EA-8173-52534FA7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7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438B7-67DF-4590-B272-E4FD20DA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AI-Resistant PDFs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Academic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B5C5F-363D-4E7D-AB3F-B8D99DA6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Bo Zhao · Eunkwang Shin</a:t>
            </a:r>
          </a:p>
        </p:txBody>
      </p:sp>
    </p:spTree>
    <p:extLst>
      <p:ext uri="{BB962C8B-B14F-4D97-AF65-F5344CB8AC3E}">
        <p14:creationId xmlns:p14="http://schemas.microsoft.com/office/powerpoint/2010/main" val="212605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AB69B-0E80-4174-9940-296F2AA0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an invisible PDF instruction reaches an AI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52D56-652E-49A8-B6E1-A64658FB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ender-frame">
            <a:extLst xmlns:a="http://schemas.openxmlformats.org/drawingml/2006/main">
              <a:ext uri="{FF2B5EF4-FFF2-40B4-BE49-F238E27FC236}">
                <a16:creationId xmlns:a16="http://schemas.microsoft.com/office/drawing/2014/main" id="{2E3F354B-C17E-4226-B016-483D0ADA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7338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d46c60e8446fb"/>
          <a:stretch xmlns:a="http://schemas.openxmlformats.org/drawingml/2006/main"/>
        </p:blipFill>
        <p:spPr>
          <a:xfrm xmlns:a="http://schemas.openxmlformats.org/drawingml/2006/main">
            <a:off x="998826" y="1809750"/>
            <a:ext cx="2841048" cy="3676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E29DB-79A0-431A-B10F-06B3D52E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Human view</a:t>
            </a:r>
          </a:p>
        </p:txBody>
      </p:sp>
      <p:sp>
        <p:nvSpPr>
          <p:cNvPr id="7" name="view-arrow">
            <a:extLst xmlns:a="http://schemas.openxmlformats.org/drawingml/2006/main">
              <a:ext uri="{FF2B5EF4-FFF2-40B4-BE49-F238E27FC236}">
                <a16:creationId xmlns:a16="http://schemas.microsoft.com/office/drawing/2014/main" id="{FBA6464F-6A67-4B9F-ADD2-6C612608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81375"/>
            <a:ext cx="895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semantic-frame">
            <a:extLst xmlns:a="http://schemas.openxmlformats.org/drawingml/2006/main">
              <a:ext uri="{FF2B5EF4-FFF2-40B4-BE49-F238E27FC236}">
                <a16:creationId xmlns:a16="http://schemas.microsoft.com/office/drawing/2014/main" id="{3F9FA892-1C58-420F-B718-F3B7F099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57350"/>
            <a:ext cx="59817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75ED6-99B2-4664-8D36-F86C1132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AI ingestion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C4560-0D64-45B2-9C49-DE16CFD9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71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TEXT OBJECTS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8B1EF-0E2A-43B5-B031-72AC25B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EXTRACTOR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EA0EE-FCD0-4115-B38A-3F1451A8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8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MODEL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4D61A-83F5-4124-BE5A-C54E464C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 text, forms, annotations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CBEF7-16B8-49B3-AC81-F17620AE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Decides which objects survive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409EF-71E9-4AE3-A626-F3AFBC67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Extracted text enters the prompt</a:t>
            </a:r>
          </a:p>
        </p:txBody>
      </p:sp>
      <p:cxnSp>
        <p:nvCxnSpPr>
          <p:cNvPr id="226" name=""/>
          <p:cNvCxnSpPr/>
          <p:nvPr/>
        </p:nvCxnSpPr>
        <p:spPr>
          <a:xfrm xmlns:a="http://schemas.openxmlformats.org/drawingml/2006/main">
            <a:off x="5962650" y="36385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15510-EA83-4A52-9A31-8E5466FF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9582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model does not read the page like a human; it receives the extractor’s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6298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9EAE2-BEDB-411A-9DC0-213327CC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PDF structure exposes multiple semantic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10C00-116D-49D8-8A12-35C34953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6BC4A-4C19-4167-92C7-24E38323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Byte container</a:t>
            </a:r>
          </a:p>
        </p:txBody>
      </p:sp>
      <p:cxnSp>
        <p:nvCxnSpPr>
          <p:cNvPr id="358" name=""/>
          <p:cNvCxnSpPr/>
          <p:nvPr/>
        </p:nvCxnSpPr>
        <p:spPr>
          <a:xfrm xmlns:a="http://schemas.openxmlformats.org/drawingml/2006/main">
            <a:off x="400050" y="20193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2146E-8DCD-4185-9119-5D1A9A58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Object graph</a:t>
            </a:r>
          </a:p>
        </p:txBody>
      </p:sp>
      <p:cxnSp>
        <p:nvCxnSpPr>
          <p:cNvPr id="360" name=""/>
          <p:cNvCxnSpPr/>
          <p:nvPr/>
        </p:nvCxnSpPr>
        <p:spPr>
          <a:xfrm xmlns:a="http://schemas.openxmlformats.org/drawingml/2006/main">
            <a:off x="4248150" y="20193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4F8A0-D26F-42D8-9AD9-B101CF5E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Model-facing views</a:t>
            </a:r>
          </a:p>
        </p:txBody>
      </p:sp>
      <p:cxnSp>
        <p:nvCxnSpPr>
          <p:cNvPr id="362" name=""/>
          <p:cNvCxnSpPr/>
          <p:nvPr/>
        </p:nvCxnSpPr>
        <p:spPr>
          <a:xfrm xmlns:a="http://schemas.openxmlformats.org/drawingml/2006/main">
            <a:off x="8096250" y="201930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66656-2C21-42A3-B07A-A9BF1EDC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35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F4972-63CA-459C-8E75-76A7B1C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%PDF header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B72CD-F73D-4BFD-878F-DD6AA66A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3528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7E827-8B5E-43EE-9F5E-CF871966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30099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Body objects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BDFD1-A0CF-4780-AEDF-B735393E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335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C2B39-B913-4B7D-B486-C456E237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xref / xref stream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5DA56-22A5-4773-8D03-14B4E3E3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35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94018-7211-4180-9A24-08701A19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Trailer + startxref</a:t>
            </a:r>
          </a:p>
        </p:txBody>
      </p:sp>
      <p:cxnSp>
        <p:nvCxnSpPr>
          <p:cNvPr id="371" name=""/>
          <p:cNvCxnSpPr/>
          <p:nvPr/>
        </p:nvCxnSpPr>
        <p:spPr>
          <a:xfrm xmlns:a="http://schemas.openxmlformats.org/drawingml/2006/main">
            <a:off x="5905500" y="25717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72" name=""/>
          <p:cNvCxnSpPr/>
          <p:nvPr/>
        </p:nvCxnSpPr>
        <p:spPr>
          <a:xfrm xmlns:a="http://schemas.openxmlformats.org/drawingml/2006/main">
            <a:off x="5905500" y="332422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73" name=""/>
          <p:cNvCxnSpPr/>
          <p:nvPr/>
        </p:nvCxnSpPr>
        <p:spPr>
          <a:xfrm xmlns:a="http://schemas.openxmlformats.org/drawingml/2006/main">
            <a:off x="4695825" y="3781425"/>
            <a:ext cx="2428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74" name=""/>
          <p:cNvCxnSpPr/>
          <p:nvPr/>
        </p:nvCxnSpPr>
        <p:spPr>
          <a:xfrm xmlns:a="http://schemas.openxmlformats.org/drawingml/2006/main">
            <a:off x="4695825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75" name=""/>
          <p:cNvCxnSpPr/>
          <p:nvPr/>
        </p:nvCxnSpPr>
        <p:spPr>
          <a:xfrm xmlns:a="http://schemas.openxmlformats.org/drawingml/2006/main">
            <a:off x="5905500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76" name=""/>
          <p:cNvCxnSpPr/>
          <p:nvPr/>
        </p:nvCxnSpPr>
        <p:spPr>
          <a:xfrm xmlns:a="http://schemas.openxmlformats.org/drawingml/2006/main">
            <a:off x="7124700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77" name=""/>
          <p:cNvCxnSpPr/>
          <p:nvPr/>
        </p:nvCxnSpPr>
        <p:spPr>
          <a:xfrm xmlns:a="http://schemas.openxmlformats.org/drawingml/2006/main">
            <a:off x="6858000" y="24384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78" name=""/>
          <p:cNvCxnSpPr/>
          <p:nvPr/>
        </p:nvCxnSpPr>
        <p:spPr>
          <a:xfrm xmlns:a="http://schemas.openxmlformats.org/drawingml/2006/main">
            <a:off x="7620000" y="2438400"/>
            <a:ext cx="0" cy="3143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79" name=""/>
          <p:cNvCxnSpPr/>
          <p:nvPr/>
        </p:nvCxnSpPr>
        <p:spPr>
          <a:xfrm xmlns:a="http://schemas.openxmlformats.org/drawingml/2006/main">
            <a:off x="6419850" y="55816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9DA1C-5784-4247-BDB2-858ADAF3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DB84C-E690-4361-96DA-3FA28909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764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Catalog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C70FA-2E05-416C-9A2C-C01113EF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BAD057-BFBF-472E-8DC7-B30B2FE9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146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BD756E-F557-43C2-A8F0-06A9AA3C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9BBF08-B6FE-4BCA-BFA5-C56F652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52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C34E3-7B9E-4377-B292-07E5AF4E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743283-9276-42EA-8A00-147F028F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/Contents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C1EE84-E8E6-4F04-936A-E1D5C8F6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2E29CC-82CC-4FA1-8FAA-FCB1EB36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/Resources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84CC45-AA82-4959-888A-CDAF9B4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EA4933-E1CB-48D8-A851-BB93559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/Annots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736C34-9642-4357-9AB9-5DF3EE76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43500"/>
            <a:ext cx="1200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003980-73DB-42EB-AB80-265A76C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1017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Catalog-level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/AcroForm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/Metadata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8FBA89-FE5B-44A1-A582-B1585D0F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1CE0EA-3259-4842-B2FE-3DE999CA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Rendered pixels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C479CC-C774-4436-A6FA-FB3A97D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What a human sees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F0959B-885B-4304-B163-7CEF8A8D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440AF7-2182-4ED5-A59D-BC3F4470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Extracted text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AB3904-C5AC-4BB8-AA6D-1A526B5F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56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Contents, forms, annotations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D6110F-4C80-4B06-A839-AAB1520A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39BC9F-035D-4D15-9C2B-65631F9A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Document metadata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BEC039-BC63-4FFB-A61A-0D7D2266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910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XMP and Info dictionaries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E46B99-3F40-40F9-9419-4124ED00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B16D11-6E7D-4B82-AC92-B91DFB80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1015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Accessibility semantics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757A4B-7BB8-43FB-BAD4-F537EDB5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863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/ActualText and tags</a:t>
            </a:r>
          </a:p>
        </p:txBody>
      </p:sp>
    </p:spTree>
    <p:extLst>
      <p:ext uri="{BB962C8B-B14F-4D97-AF65-F5344CB8AC3E}">
        <p14:creationId xmlns:p14="http://schemas.microsoft.com/office/powerpoint/2010/main" val="44100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A3EE2-8AB6-4FA6-BDE0-E18EAEFE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Where can a parseable instruction live inside a PDF?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CDF1E-D1DF-4F90-A4FB-9DC33773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8B691-5190-4FA2-B02B-1D15ABCE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O = readable in at least one tested ingestion path. X = not exposed by a text-only parser.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762250"/>
                <a:gridCol w="4095750"/>
                <a:gridCol w="2819400"/>
              </a:tblGrid>
              <a:tr h="579438">
                <a:tc>
                  <a:txBody>
                    <a:bodyPr/>
                    <a:lstStyle/>
                    <a:p>
                      <a:r>
                        <a:t>Surface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PDF location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Readable?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Page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/Page → /Contents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Standard text extraction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FreeText annotation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/Page → /Annots → /AP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Annotation-aware parser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AcroForm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/AcroForm + Widget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Form-aware ingestion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Metadata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/Metadata; trailer /Info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Outside normal page text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Raster image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 XObject / pixels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Pixels are outside text objects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19EBA-3F2F-4E98-8B1E-B17ADC4D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0894B-BDB9-4590-83B4-B1EBCFA9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93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Content streams are the default path; annotations and forms depend on the provider.</a:t>
            </a:r>
          </a:p>
        </p:txBody>
      </p:sp>
    </p:spTree>
    <p:extLst>
      <p:ext uri="{BB962C8B-B14F-4D97-AF65-F5344CB8AC3E}">
        <p14:creationId xmlns:p14="http://schemas.microsoft.com/office/powerpoint/2010/main" val="807664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working mechanisms use different PDF semantics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All four were readable in the current ChatGPT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40BB-5C9F-4948-9B13-D8C5011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WHITE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Normal text painted white; invisible on a white page, but still extracted from /Contents.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C3C5-577A-464E-83ED-F1E858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RENDER MODE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 uses 3 Tr: glyphs are never painted, while the text remains in /Contents.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1855-FF0E-4195-963B-1EB1502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ACROFORM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instruction sits in a field value or widget appearance; form-aware ingestion exposes it.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0B494-481F-4BEF-B6A5-467FBB4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FREETEXT ANNOTATION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instruction sits in an annotation appearance stream; annotation-aware ingestion exposes it.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0E3F7-40FE-42A3-8A16-F7AD56D2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52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Content stream methods transfer most consistently across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45360-A24C-414C-A6B9-4DB3A9C7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B8242-BD53-4443-8CF1-55EFB54A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Measured project results. O = read; X = not read.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57450"/>
                <a:gridCol w="2457450"/>
                <a:gridCol w="2476500"/>
              </a:tblGrid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ChatGPT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Gemini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Page content  ·  white / 3 Tr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FreeText annotation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ED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AcroForm field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F8E7F-436E-404E-AF44-3F1B651D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A3FF2-4847-443C-A52E-E4B1E43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All three models read content stream text. Annotation and form support varies by provider.</a:t>
            </a:r>
          </a:p>
        </p:txBody>
      </p:sp>
    </p:spTree>
    <p:extLst>
      <p:ext uri="{BB962C8B-B14F-4D97-AF65-F5344CB8AC3E}">
        <p14:creationId xmlns:p14="http://schemas.microsoft.com/office/powerpoint/2010/main" val="2046800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92491-6BBA-4B5B-B6C5-5F0C898D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text extracted from an image control the response?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5DD88-D2D5-4D20-9E92-C8FB4B5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D1470-15AD-4FB3-8F64-36EE267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Place an instruction only in the page image and test whether the model follows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A8D69-686D-4C64-A439-0A99C19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05175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F255D-47FC-4D43-9BEC-7CB712A8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5084B-C3AE-4804-83A4-2D09B9C0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Image-only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PDF with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instruction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BC1B5-29EA-4833-9CDA-00190AA9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5049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1CE35-1686-4531-A3F1-CE07036D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352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ChatGPT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Claude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7D6CA-B508-4A25-A93B-FF572090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38450"/>
            <a:ext cx="1104900" cy="12192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4E4FA-0210-4C89-92F6-7DC8A441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152775"/>
            <a:ext cx="81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Instruction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followed?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4E2C8D-7EE9-46DA-A398-31292BE8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67350"/>
            <a:ext cx="901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2FACC0-91F8-45F6-A3D2-6E621877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197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Success: extracted image text acts as an instruction and changes the response.</a:t>
            </a:r>
          </a:p>
        </p:txBody>
      </p:sp>
      <p:cxnSp>
        <p:nvCxnSpPr>
          <p:cNvPr id="70" name=""/>
          <p:cNvCxnSpPr>
            <a:stCxn xmlns:a="http://schemas.openxmlformats.org/drawingml/2006/main" id="1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1847850" y="3448050"/>
            <a:ext cx="6743700" cy="9525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AEB4BD"/>
            </a:solidFill>
            <a:prstDash val="solid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16420216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Possible extension: make the model PDF-aware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 future system could improve the model itself or attach a specialized PDF expert.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40BB-5C9F-4948-9B13-D8C5011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MODEL FINE-TUNING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390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Fine-tune a suitable open-weight model, such as a Kimi-family model, to recognize hidden instructions, unusual PDF objects, and watermark signals.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C3C5-577A-464E-83ED-F1E858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INSPECT PDF OBJECTS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3390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 PDF input, inspect content streams, annotations, AcroForms, metadata, and other object paths before generating a response.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1855-FF0E-4195-963B-1EB1502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CHECK WATERMARK SIGNALS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3390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 visual or frequency-domain watermarks, then pass the detected payload, confidence, and location into the model context.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0B494-481F-4BEF-B6A5-467FBB4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95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POSSIBLE DESIGN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578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PDF → expert checks → structured findings → general model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APA 7th edition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Aiersilan, A., Yousefi, A., &amp; Pless, R. (2026). On seeding watermarks to detect verbatim LLM copy-paste responses [Preprint]. arXiv. https://arxiv.org/abs/2605.16336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Rao, V. S., Kumar, A., Lakkaraju, H., &amp; Shah, N. B. (2025). Detecting LLM-generated peer reviews. PLOS ONE, 20(9), e0331871. https://doi.org/10.1371/journal.pone.0331871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600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Liu, Y., Zhao, X., Kruegel, C., Song, D., &amp; Bu, Y. (2026). In-context watermarks for large language models. International Conference on Learning Representations.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Kirchenbauer, J., Geiping, J., Wen, Y., Katz, J., Miers, I., &amp; Goldstein, T. (2023). A watermark for large language models. Proceedings of Machine Learning Research, 202, 17061–17084.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Dathathri, S., See, A., Ghaisas, S., Huang, P.-S., McAdam, R., Welbl, J., et al. (2024). Scalable watermarking for identifying large language model outputs. Nature, 634, 818–823. https://doi.org/10.1038/s41586-024-08025-4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Zhang, H., Edelman, B. L., Francati, D., Venturi, D., Ateniese, G., &amp; Barak, B. (2024). Watermarks in the sand: Impossibility of strong watermarking for language models. Proceedings of Machine Learning Research, 235.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600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Tu, S., Sun, Y., Bai, Y., Yu, J., Hou, L., &amp; Li, J. (2024). WaterBench: Towards holistic evaluation of watermarks for large language models. Proceedings of the 62nd Annual Meeting of the Association for Computational Linguistics.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Torrielli, F., Locci, S., Rapp, A., &amp; Di Caro, L. (2026). Exploiting large language models in peer review: Indirect prompt injection attacks and integrity probes. Scientometrics, 131, 4889–4951. https://doi.org/10.1007/s11192-026-05695-x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References (continued)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APA 7th edition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Murray, T. (2025). PhantomLint: Principled detection of hidden LLM prompts in structured documents [Preprint]. arXiv. https://arxiv.org/abs/2508.17884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Thienpreecha, P. (2026). CrackedPDFs: A controlled benchmark for hidden prompt injection in PDFs [Preprint]. arXiv. https://arxiv.org/abs/2607.19396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600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Liu, S., &amp; Ming, J. (2026). Semantic integrity failures in document-to-LLM supply chains [Preprint]. arXiv. https://arxiv.org/abs/2606.15020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Zhu, J., Kaplan, R., Johnson, J., &amp; Fei-Fei, L. (2018). HiDDeN: Hiding data with deep networks. Proceedings of the European Conference on Computer Vision, 657–672.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Wen, Y., Kirchenbauer, J., Geiping, J., &amp; Goldstein, T. (2023). Tree-Rings watermarks: Invisible fingerprints for diffusion images. Advances in Neural Information Processing Systems, 36.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Sander, T., Fernandez, P., Durmus, A., Furon, T., &amp; Douze, M. (2025). Watermark anything with localized messages. International Conference on Learning Representations.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600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Šrndić, N., &amp; Laskov, P. (2016). Hidost: A static machine-learning-based detector of malicious files. EURASIP Journal on Information Security, 2016, Article 22. https://doi.org/10.1186/s13635-016-0045-0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2026-09-01T14:05:06.1520000Z</dcterms:created>
  <dcterms:modified xsi:type="dcterms:W3CDTF">2026-09-01T14:05:06.1520000Z</dcterms:modified>
</coreProperties>
</file>