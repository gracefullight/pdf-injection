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7ce661b47854ea7" /><Relationship Type="http://schemas.openxmlformats.org/officeDocument/2006/relationships/extended-properties" Target="/docProps/app.xml" Id="R6ed36207443c4fb3" /><Relationship Type="http://schemas.openxmlformats.org/officeDocument/2006/relationships/officeDocument" Target="/ppt/presentation.xml" Id="R5b94b39b209248ac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e23cf2ea36140f4"/>
  </p:sldMasterIdLst>
  <p:notesMasterIdLst>
    <p:notesMasterId xmlns:r="http://schemas.openxmlformats.org/officeDocument/2006/relationships" r:id="R519c7c58f7494266"/>
  </p:notesMasterIdLst>
  <p:sldIdLst>
    <p:sldId xmlns:r="http://schemas.openxmlformats.org/officeDocument/2006/relationships" id="256" r:id="R1e334a3bb2314f7d"/>
    <p:sldId xmlns:r="http://schemas.openxmlformats.org/officeDocument/2006/relationships" id="257" r:id="Rc17021a8164c4d7a"/>
    <p:sldId xmlns:r="http://schemas.openxmlformats.org/officeDocument/2006/relationships" id="258" r:id="R9e2235e2781c493e"/>
    <p:sldId xmlns:r="http://schemas.openxmlformats.org/officeDocument/2006/relationships" id="259" r:id="R6f5d1eb52b044a49"/>
    <p:sldId xmlns:r="http://schemas.openxmlformats.org/officeDocument/2006/relationships" id="260" r:id="R587e4359c0d5414b"/>
    <p:sldId xmlns:r="http://schemas.openxmlformats.org/officeDocument/2006/relationships" id="261" r:id="R230ce28082724289"/>
    <p:sldId xmlns:r="http://schemas.openxmlformats.org/officeDocument/2006/relationships" id="262" r:id="R193153ac775d4ed8"/>
    <p:sldId xmlns:r="http://schemas.openxmlformats.org/officeDocument/2006/relationships" id="263" r:id="Raad30ff393ff4414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23cd4c0dcaf490f" /><Relationship Type="http://schemas.openxmlformats.org/officeDocument/2006/relationships/slideMaster" Target="/ppt/slideMasters/slideMaster1.xml" Id="Rbe23cf2ea36140f4" /><Relationship Type="http://schemas.openxmlformats.org/officeDocument/2006/relationships/notesMaster" Target="/ppt/notesMasters/notesMaster1.xml" Id="R519c7c58f7494266" /><Relationship Type="http://schemas.openxmlformats.org/officeDocument/2006/relationships/presProps" Target="/ppt/presProps.xml" Id="Rbf1fb0226c1a4fcc" /><Relationship Type="http://schemas.openxmlformats.org/officeDocument/2006/relationships/tableStyles" Target="/ppt/tableStyles.xml" Id="Rb969f0ff80864a2d" /><Relationship Type="http://schemas.openxmlformats.org/officeDocument/2006/relationships/slide" Target="/ppt/slides/slide1.xml" Id="R1e334a3bb2314f7d" /><Relationship Type="http://schemas.openxmlformats.org/officeDocument/2006/relationships/slide" Target="/ppt/slides/slide2.xml" Id="Rc17021a8164c4d7a" /><Relationship Type="http://schemas.openxmlformats.org/officeDocument/2006/relationships/slide" Target="/ppt/slides/slide3.xml" Id="R9e2235e2781c493e" /><Relationship Type="http://schemas.openxmlformats.org/officeDocument/2006/relationships/slide" Target="/ppt/slides/slide4.xml" Id="R6f5d1eb52b044a49" /><Relationship Type="http://schemas.openxmlformats.org/officeDocument/2006/relationships/slide" Target="/ppt/slides/slide5.xml" Id="R587e4359c0d5414b" /><Relationship Type="http://schemas.openxmlformats.org/officeDocument/2006/relationships/slide" Target="/ppt/slides/slide6.xml" Id="R230ce28082724289" /><Relationship Type="http://schemas.openxmlformats.org/officeDocument/2006/relationships/slide" Target="/ppt/slides/slide7.xml" Id="R193153ac775d4ed8" /><Relationship Type="http://schemas.openxmlformats.org/officeDocument/2006/relationships/slide" Target="/ppt/slides/slide8.xml" Id="Raad30ff393ff441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fbb56e82eb14a6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a9b2bd681e904aeb" /><Relationship Type="http://schemas.openxmlformats.org/officeDocument/2006/relationships/notesMaster" Target="/ppt/notesMasters/notesMaster1.xml" Id="Ra564761af79a4657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281492a76ab8479d" /><Relationship Type="http://schemas.openxmlformats.org/officeDocument/2006/relationships/notesMaster" Target="/ppt/notesMasters/notesMaster1.xml" Id="R7a97f37c43614cbc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814603c7ac14cce" /><Relationship Type="http://schemas.openxmlformats.org/officeDocument/2006/relationships/notesMaster" Target="/ppt/notesMasters/notesMaster1.xml" Id="Rbc8f87f1f13b467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c1e9bb6595f4680" /><Relationship Type="http://schemas.openxmlformats.org/officeDocument/2006/relationships/notesMaster" Target="/ppt/notesMasters/notesMaster1.xml" Id="R3fd535f592eb458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125a474eff3649a0" /><Relationship Type="http://schemas.openxmlformats.org/officeDocument/2006/relationships/notesMaster" Target="/ppt/notesMasters/notesMaster1.xml" Id="Rcb2d49742ee64a8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302e41f4101470f" /><Relationship Type="http://schemas.openxmlformats.org/officeDocument/2006/relationships/notesMaster" Target="/ppt/notesMasters/notesMaster1.xml" Id="R7155f737e3e64fb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d01b677872c4ce9" /><Relationship Type="http://schemas.openxmlformats.org/officeDocument/2006/relationships/notesMaster" Target="/ppt/notesMasters/notesMaster1.xml" Id="R0c746b99152f485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eb421c13b10f496f" /><Relationship Type="http://schemas.openxmlformats.org/officeDocument/2006/relationships/notesMaster" Target="/ppt/notesMasters/notesMaster1.xml" Id="R3b7a4c35cb1b40d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title and author names</a:t>
            </a:r>
          </a:p>
          <a:p xmlns:a="http://schemas.openxmlformats.org/drawingml/2006/main">
            <a:r>
              <a:t>- /Users/gracefullight/workspace/pdf-injection/docs/prd.md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/Users/gracefullight/workspace/pdf-injection/docs/prd.md</a:t>
            </a:r>
          </a:p>
          <a:p xmlns:a="http://schemas.openxmlformats.org/drawingml/2006/main">
            <a:r>
              <a:t>- /Users/gracefullight/workspace/pdf-injection/docs/related-work.md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/Users/gracefullight/workspace/pdf-injection/docs/prd.md</a:t>
            </a:r>
          </a:p>
          <a:p xmlns:a="http://schemas.openxmlformats.org/drawingml/2006/main">
            <a:r>
              <a:t>- ISO 32000 PDF object model as summarized in the project review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/Users/gracefullight/workspace/pdf-injection/docs/prd.md</a:t>
            </a:r>
          </a:p>
          <a:p xmlns:a="http://schemas.openxmlformats.org/drawingml/2006/main">
            <a:r>
              <a:t>- User-provided correction: FreeText and AcroForm were readable in at least one tested path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/Users/gracefullight/workspace/pdf-injection/docs/prd.md</a:t>
            </a:r>
          </a:p>
          <a:p xmlns:a="http://schemas.openxmlformats.org/drawingml/2006/main">
            <a:r>
              <a:t>- User-provided correction: FreeText annotation also worked in the current ChatGPT test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User-provided measured results for ChatGPT, Claude, and Gemini</a:t>
            </a:r>
          </a:p>
          <a:p xmlns:a="http://schemas.openxmlformats.org/drawingml/2006/main">
            <a:r>
              <a:t>- /Users/gracefullight/workspace/pdf-injection/docs/research-protocol.md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/Users/gracefullight/workspace/pdf-injection/.agents/results/architecture/architecture-recommendation-cv-ingestion-boundary.md</a:t>
            </a:r>
          </a:p>
          <a:p xmlns:a="http://schemas.openxmlformats.org/drawingml/2006/main">
            <a:r>
              <a:t>- /Users/gracefullight/workspace/pdf-injection/packages/robustness/src/ocr.ts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/Users/gracefullight/workspace/pdf-injection/docs/research-protocol.md</a:t>
            </a:r>
          </a:p>
          <a:p xmlns:a="http://schemas.openxmlformats.org/drawingml/2006/main">
            <a:r>
              <a:t>- User-provided direction: image-only PDFs and OCR-triggered watermark tests as the next goal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0173e5c05d940a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3d3b13d87fc4327" /><Relationship Type="http://schemas.openxmlformats.org/officeDocument/2006/relationships/slideLayout" Target="/ppt/slideLayouts/slideLayout1.xml" Id="Re9ce518adddb4bb0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9ce518adddb4bb0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77adb9847eb4c1a" /><Relationship Type="http://schemas.openxmlformats.org/officeDocument/2006/relationships/notesSlide" Target="/ppt/notesSlides/notesSlide1.xml" Id="R126ef8d864334cd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3a26500e9a44fc3" /><Relationship Type="http://schemas.openxmlformats.org/officeDocument/2006/relationships/image" Target="/ppt/media/image.png" Id="R57566ecc659745d9" /><Relationship Type="http://schemas.openxmlformats.org/officeDocument/2006/relationships/notesSlide" Target="/ppt/notesSlides/notesSlide2.xml" Id="R094794d8589e43b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292c33670d4994" /><Relationship Type="http://schemas.openxmlformats.org/officeDocument/2006/relationships/notesSlide" Target="/ppt/notesSlides/notesSlide3.xml" Id="R7e070393cbcc4074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c512ff1c024921" /><Relationship Type="http://schemas.openxmlformats.org/officeDocument/2006/relationships/notesSlide" Target="/ppt/notesSlides/notesSlide4.xml" Id="Rc8d7aad7c25647b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c71b1912174d99" /><Relationship Type="http://schemas.openxmlformats.org/officeDocument/2006/relationships/notesSlide" Target="/ppt/notesSlides/notesSlide5.xml" Id="Rbeb51b4e341448f3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002062bc194bbd" /><Relationship Type="http://schemas.openxmlformats.org/officeDocument/2006/relationships/notesSlide" Target="/ppt/notesSlides/notesSlide6.xml" Id="R8614ac7e8b2245ce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c924c4c8354e80" /><Relationship Type="http://schemas.openxmlformats.org/officeDocument/2006/relationships/notesSlide" Target="/ppt/notesSlides/notesSlide7.xml" Id="R138fcbd361094cb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05cdb3820214958" /><Relationship Type="http://schemas.openxmlformats.org/officeDocument/2006/relationships/notesSlide" Target="/ppt/notesSlides/notesSlide8.xml" Id="R2614c359bdde4016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B3BA84B-BD07-4F42-9B60-93CD5FD77A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381000"/>
            <a:ext cx="29337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1350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September 2026</a:t>
            </a:r>
          </a:p>
        </p:txBody>
      </p:sp>
      <p:sp>
        <p:nvSpPr>
          <p:cNvPr id="3" name="cover-accent">
            <a:extLst xmlns:a="http://schemas.openxmlformats.org/drawingml/2006/main">
              <a:ext uri="{FF2B5EF4-FFF2-40B4-BE49-F238E27FC236}">
                <a16:creationId xmlns:a16="http://schemas.microsoft.com/office/drawing/2014/main" id="{CADEFBED-0352-44EA-8173-52534FA7E6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47900"/>
            <a:ext cx="171450" cy="2476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1C438B7-67DF-4590-B272-E4FD20DA9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047875"/>
            <a:ext cx="1047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AI-Resistant PDFs</a:t>
            </a:r>
          </a:p>
          <a:p xmlns:a="http://schemas.openxmlformats.org/drawingml/2006/main">
            <a:pPr algn="l">
              <a:buNone/>
              <a:def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39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for Academic Assessment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AAB5C5F-363D-4E7D-AB3F-B8D99DA678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619500"/>
            <a:ext cx="8858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2100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2100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Bo Zhao · Eunkwang Shin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C47675A-18ED-4FAC-9EF7-55A4378A4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476875"/>
            <a:ext cx="96202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PDF semantics, cross-model measurements, and the OCR watermarking frontier</a:t>
            </a:r>
          </a:p>
        </p:txBody>
      </p:sp>
    </p:spTree>
    <p:extLst>
      <p:ext uri="{BB962C8B-B14F-4D97-AF65-F5344CB8AC3E}">
        <p14:creationId xmlns:p14="http://schemas.microsoft.com/office/powerpoint/2010/main" val="21260531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1BAB69B-0E80-4174-9940-296F2AA064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04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How an invisible PDF instruction reaches an AI model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5052D56-652E-49A8-B6E1-A64658FB84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4" name="render-frame">
            <a:extLst xmlns:a="http://schemas.openxmlformats.org/drawingml/2006/main">
              <a:ext uri="{FF2B5EF4-FFF2-40B4-BE49-F238E27FC236}">
                <a16:creationId xmlns:a16="http://schemas.microsoft.com/office/drawing/2014/main" id="{2E3F354B-C17E-4226-B016-483D0ADA0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57350"/>
            <a:ext cx="37338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pic>
        <p:nvPicPr>
          <p:cNvPr id="5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7566ecc659745d9"/>
          <a:stretch xmlns:a="http://schemas.openxmlformats.org/drawingml/2006/main"/>
        </p:blipFill>
        <p:spPr>
          <a:xfrm xmlns:a="http://schemas.openxmlformats.org/drawingml/2006/main">
            <a:off x="998826" y="1809750"/>
            <a:ext cx="2841048" cy="36766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CAE29DB-79A0-431A-B10F-06B3D52E1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10250"/>
            <a:ext cx="33909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1  Human view</a:t>
            </a:r>
          </a:p>
        </p:txBody>
      </p:sp>
      <p:sp>
        <p:nvSpPr>
          <p:cNvPr id="7" name="view-arrow">
            <a:extLst xmlns:a="http://schemas.openxmlformats.org/drawingml/2006/main">
              <a:ext uri="{FF2B5EF4-FFF2-40B4-BE49-F238E27FC236}">
                <a16:creationId xmlns:a16="http://schemas.microsoft.com/office/drawing/2014/main" id="{FBA6464F-6A67-4B9F-ADD2-6C6126083E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24375" y="3381375"/>
            <a:ext cx="895350" cy="40005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8" name="semantic-frame">
            <a:extLst xmlns:a="http://schemas.openxmlformats.org/drawingml/2006/main">
              <a:ext uri="{FF2B5EF4-FFF2-40B4-BE49-F238E27FC236}">
                <a16:creationId xmlns:a16="http://schemas.microsoft.com/office/drawing/2014/main" id="{3F9FA892-1C58-420F-B718-F3B7F099D5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57850" y="1657350"/>
            <a:ext cx="5981700" cy="40481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D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A75ED6-99B2-4664-8D36-F86C11325A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1952625"/>
            <a:ext cx="5143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2  AI ingestion path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33C4560-0D64-45B2-9C49-DE16CFD9CF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2571750"/>
            <a:ext cx="2190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TEXT OBJECTS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5F8B1EF-0E2A-43B5-B031-72AC25B46A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0670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EXTRACTOR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79EA0EE-FCD0-4115-B38A-3F1451A83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3886200"/>
            <a:ext cx="1714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MODEL CONTEXT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0B4D61A-83F5-4124-BE5A-C54E464C0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25336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Page text, forms, annotations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65CBEF7-16B8-49B3-AC81-F17620AE3E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02895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rPr>
              <a:t>Decides which objects survive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D409EF-71E9-4AE3-A626-F3AFBC672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9150" y="3848100"/>
            <a:ext cx="2762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Extracted text enters the prompt</a:t>
            </a:r>
          </a:p>
        </p:txBody>
      </p:sp>
      <p:cxnSp>
        <p:nvCxnSpPr>
          <p:cNvPr id="66" name=""/>
          <p:cNvCxnSpPr/>
          <p:nvPr/>
        </p:nvCxnSpPr>
        <p:spPr>
          <a:xfrm xmlns:a="http://schemas.openxmlformats.org/drawingml/2006/main">
            <a:off x="5962650" y="3638550"/>
            <a:ext cx="52387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915510-EA83-4A52-9A31-8E5466FF52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2650" y="4695825"/>
            <a:ext cx="52387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7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model does not read the page like a human; it receives the extractor’s representation.</a:t>
            </a:r>
          </a:p>
        </p:txBody>
      </p:sp>
    </p:spTree>
    <p:extLst>
      <p:ext uri="{BB962C8B-B14F-4D97-AF65-F5344CB8AC3E}">
        <p14:creationId xmlns:p14="http://schemas.microsoft.com/office/powerpoint/2010/main" val="1629830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BB9EAE2-BEDB-411A-9DC0-213327CC7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04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PDF structure exposes multiple semantic surfaces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D10C00-116D-49D8-8A12-35C349534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766BC4A-4C19-4167-92C7-24E38323DE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619250"/>
            <a:ext cx="335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Byte container</a:t>
            </a:r>
          </a:p>
        </p:txBody>
      </p:sp>
      <p:cxnSp>
        <p:nvCxnSpPr>
          <p:cNvPr id="108" name=""/>
          <p:cNvCxnSpPr/>
          <p:nvPr/>
        </p:nvCxnSpPr>
        <p:spPr>
          <a:xfrm xmlns:a="http://schemas.openxmlformats.org/drawingml/2006/main">
            <a:off x="400050" y="2019300"/>
            <a:ext cx="3352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C62146E-8DCD-4185-9119-5D1A9A5828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619250"/>
            <a:ext cx="33528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Object graph</a:t>
            </a:r>
          </a:p>
        </p:txBody>
      </p:sp>
      <p:cxnSp>
        <p:nvCxnSpPr>
          <p:cNvPr id="110" name=""/>
          <p:cNvCxnSpPr/>
          <p:nvPr/>
        </p:nvCxnSpPr>
        <p:spPr>
          <a:xfrm xmlns:a="http://schemas.openxmlformats.org/drawingml/2006/main">
            <a:off x="4248150" y="2019300"/>
            <a:ext cx="33528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B8BCC4"/>
            </a:solidFill>
            <a:prstDash val="solid"/>
          </a:ln>
        </p:spPr>
      </p:cxn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FB4F8A0-D26F-42D8-9AD9-B101CF5E43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1619250"/>
            <a:ext cx="36957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Model-facing views</a:t>
            </a:r>
          </a:p>
        </p:txBody>
      </p:sp>
      <p:cxnSp>
        <p:nvCxnSpPr>
          <p:cNvPr id="112" name=""/>
          <p:cNvCxnSpPr/>
          <p:nvPr/>
        </p:nvCxnSpPr>
        <p:spPr>
          <a:xfrm xmlns:a="http://schemas.openxmlformats.org/drawingml/2006/main">
            <a:off x="8096250" y="2019300"/>
            <a:ext cx="369570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3D8DFF"/>
            </a:solidFill>
            <a:prstDash val="solid"/>
          </a:ln>
        </p:spPr>
      </p:cxn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FB66656-2C21-42A3-B07A-A9BF1EDC46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09800"/>
            <a:ext cx="335280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90F4972-63CA-459C-8E75-76A7B1CDAC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324100"/>
            <a:ext cx="30099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%PDF header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ABB72CD-F73D-4BFD-878F-DD6AA66AA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0"/>
            <a:ext cx="3352800" cy="1476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E07E827-8B5E-43EE-9F5E-CF871966F8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2971800"/>
            <a:ext cx="3009900" cy="1285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Body objects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1BDFD1-A0CF-4780-AEDF-B735393E2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57700"/>
            <a:ext cx="33528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5AC2B39-B913-4B7D-B486-C456E23773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4572000"/>
            <a:ext cx="3009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xref / xref stream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B55DA56-22A5-4773-8D03-14B4E3E3C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105400"/>
            <a:ext cx="3352800" cy="5238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3E94018-7211-4180-9A24-08701A19F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5219700"/>
            <a:ext cx="30099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Trailer + startxref</a:t>
            </a:r>
          </a:p>
        </p:txBody>
      </p:sp>
      <p:cxnSp>
        <p:nvCxnSpPr>
          <p:cNvPr id="121" name=""/>
          <p:cNvCxnSpPr/>
          <p:nvPr/>
        </p:nvCxnSpPr>
        <p:spPr>
          <a:xfrm xmlns:a="http://schemas.openxmlformats.org/drawingml/2006/main">
            <a:off x="5905500" y="2571750"/>
            <a:ext cx="0" cy="523875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cxnSp>
        <p:nvCxnSpPr>
          <p:cNvPr id="122" name=""/>
          <p:cNvCxnSpPr/>
          <p:nvPr/>
        </p:nvCxnSpPr>
        <p:spPr>
          <a:xfrm xmlns:a="http://schemas.openxmlformats.org/drawingml/2006/main">
            <a:off x="5905500" y="3324225"/>
            <a:ext cx="0" cy="45720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cxnSp>
        <p:nvCxnSpPr>
          <p:cNvPr id="123" name=""/>
          <p:cNvCxnSpPr/>
          <p:nvPr/>
        </p:nvCxnSpPr>
        <p:spPr>
          <a:xfrm xmlns:a="http://schemas.openxmlformats.org/drawingml/2006/main">
            <a:off x="4695825" y="3781425"/>
            <a:ext cx="2428875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cxnSp>
        <p:nvCxnSpPr>
          <p:cNvPr id="124" name=""/>
          <p:cNvCxnSpPr/>
          <p:nvPr/>
        </p:nvCxnSpPr>
        <p:spPr>
          <a:xfrm xmlns:a="http://schemas.openxmlformats.org/drawingml/2006/main">
            <a:off x="4695825" y="3781425"/>
            <a:ext cx="0" cy="5905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cxnSp>
        <p:nvCxnSpPr>
          <p:cNvPr id="125" name=""/>
          <p:cNvCxnSpPr/>
          <p:nvPr/>
        </p:nvCxnSpPr>
        <p:spPr>
          <a:xfrm xmlns:a="http://schemas.openxmlformats.org/drawingml/2006/main">
            <a:off x="5905500" y="3781425"/>
            <a:ext cx="0" cy="5905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cxnSp>
        <p:nvCxnSpPr>
          <p:cNvPr id="126" name=""/>
          <p:cNvCxnSpPr/>
          <p:nvPr/>
        </p:nvCxnSpPr>
        <p:spPr>
          <a:xfrm xmlns:a="http://schemas.openxmlformats.org/drawingml/2006/main">
            <a:off x="7124700" y="3781425"/>
            <a:ext cx="0" cy="5905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cxnSp>
        <p:nvCxnSpPr>
          <p:cNvPr id="127" name=""/>
          <p:cNvCxnSpPr/>
          <p:nvPr/>
        </p:nvCxnSpPr>
        <p:spPr>
          <a:xfrm xmlns:a="http://schemas.openxmlformats.org/drawingml/2006/main">
            <a:off x="6858000" y="2438400"/>
            <a:ext cx="76200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cxnSp>
        <p:nvCxnSpPr>
          <p:cNvPr id="128" name=""/>
          <p:cNvCxnSpPr/>
          <p:nvPr/>
        </p:nvCxnSpPr>
        <p:spPr>
          <a:xfrm xmlns:a="http://schemas.openxmlformats.org/drawingml/2006/main">
            <a:off x="7620000" y="2438400"/>
            <a:ext cx="0" cy="314325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cxnSp>
        <p:nvCxnSpPr>
          <p:cNvPr id="129" name=""/>
          <p:cNvCxnSpPr/>
          <p:nvPr/>
        </p:nvCxnSpPr>
        <p:spPr>
          <a:xfrm xmlns:a="http://schemas.openxmlformats.org/drawingml/2006/main">
            <a:off x="6419850" y="5581650"/>
            <a:ext cx="1200150" cy="0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FA9DA1C-5784-4247-BDB2-858ADAF36D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09800"/>
            <a:ext cx="1905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9525">
            <a:solidFill>
              <a:srgbClr val="000000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FDB84C-E690-4361-96DA-3FA28909AA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2276475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Catalog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B9C70FA-2E05-416C-9A2C-C01113EF5A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48000"/>
            <a:ext cx="1905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2F3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ECBAD057-BFBF-472E-8DC7-B30B2FE99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114675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Pages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7BD756E-F557-43C2-A8F0-06A9AA3CDF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638550"/>
            <a:ext cx="1905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EDF7F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079BBF08-B6FE-4BCA-BFA5-C56F652C2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29200" y="3705225"/>
            <a:ext cx="17526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Page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6DDC34E3-7B9E-4377-B292-07E5AF4E97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371975"/>
            <a:ext cx="1047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C743283-9276-42EA-8A00-147F028F9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24350" y="4438650"/>
            <a:ext cx="895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/Contents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FC1EE84-E8E6-4F04-936A-E1D5C8F622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81625" y="4371975"/>
            <a:ext cx="1047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E2E29CC-82CC-4FA1-8FAA-FCB1EB362E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57825" y="4438650"/>
            <a:ext cx="895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/Resources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A84CC45-AA82-4959-888A-CDAF9B42C2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4371975"/>
            <a:ext cx="1047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D8EA4933-E1CB-48D8-A851-BB9355990A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91300" y="4438650"/>
            <a:ext cx="8953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/Annots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37736C34-9642-4357-9AB9-5DF3EE76EC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19700" y="5143500"/>
            <a:ext cx="120015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82003980-73DB-42EB-AB80-265A76CFA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5210175"/>
            <a:ext cx="104775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rmAutofit fontScale="84967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Catalog-level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/AcroForm</a:t>
            </a:r>
          </a:p>
          <a:p xmlns:a="http://schemas.openxmlformats.org/drawingml/2006/main">
            <a:pPr algn="ctr">
              <a:buNone/>
              <a:def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/Metadata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978FBA89-FE5B-44A1-A582-B1585D0FA3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209800"/>
            <a:ext cx="36957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81CE0EA-3259-4842-B2FE-3DE999CA9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324100"/>
            <a:ext cx="335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Rendered pixels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8C479CC-C774-4436-A6FA-FB3A97D594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600325"/>
            <a:ext cx="335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What a human sees</a:t>
            </a:r>
          </a:p>
        </p:txBody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44F0959B-885B-4304-B163-7CEF8A8DA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105150"/>
            <a:ext cx="36957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C5440AF7-2182-4ED5-A59D-BC3F447018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219450"/>
            <a:ext cx="335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Extracted text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6CAB3904-C5AC-4BB8-AA6D-1A526B5F49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495675"/>
            <a:ext cx="335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Contents, forms, annotations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8DD6110F-4C80-4B06-A839-AAB1520A0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000500"/>
            <a:ext cx="36957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48" name="">
            <a:extLst xmlns:a="http://schemas.openxmlformats.org/drawingml/2006/main">
              <a:ext uri="{FF2B5EF4-FFF2-40B4-BE49-F238E27FC236}">
                <a16:creationId xmlns:a16="http://schemas.microsoft.com/office/drawing/2014/main" id="{AB39BC9F-035D-4D15-9C2B-65631F9A1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114800"/>
            <a:ext cx="335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Document metadata</a:t>
            </a:r>
          </a:p>
        </p:txBody>
      </p:sp>
      <p:sp>
        <p:nvSpPr>
          <p:cNvPr id="49" name="">
            <a:extLst xmlns:a="http://schemas.openxmlformats.org/drawingml/2006/main">
              <a:ext uri="{FF2B5EF4-FFF2-40B4-BE49-F238E27FC236}">
                <a16:creationId xmlns:a16="http://schemas.microsoft.com/office/drawing/2014/main" id="{71BEC039-BC63-4FFB-A61A-0D7D226634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391025"/>
            <a:ext cx="335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XMP and Info dictionaries</a:t>
            </a:r>
          </a:p>
        </p:txBody>
      </p:sp>
      <p:sp>
        <p:nvSpPr>
          <p:cNvPr id="50" name="">
            <a:extLst xmlns:a="http://schemas.openxmlformats.org/drawingml/2006/main">
              <a:ext uri="{FF2B5EF4-FFF2-40B4-BE49-F238E27FC236}">
                <a16:creationId xmlns:a16="http://schemas.microsoft.com/office/drawing/2014/main" id="{C8E46B99-3F40-40F9-9419-4124ED008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895850"/>
            <a:ext cx="36957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D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51" name="">
            <a:extLst xmlns:a="http://schemas.openxmlformats.org/drawingml/2006/main">
              <a:ext uri="{FF2B5EF4-FFF2-40B4-BE49-F238E27FC236}">
                <a16:creationId xmlns:a16="http://schemas.microsoft.com/office/drawing/2014/main" id="{0EB16D11-6E7D-4B82-AC92-B91DFB800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010150"/>
            <a:ext cx="33528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Accessibility semantics</a:t>
            </a:r>
          </a:p>
        </p:txBody>
      </p:sp>
      <p:sp>
        <p:nvSpPr>
          <p:cNvPr id="52" name="">
            <a:extLst xmlns:a="http://schemas.openxmlformats.org/drawingml/2006/main">
              <a:ext uri="{FF2B5EF4-FFF2-40B4-BE49-F238E27FC236}">
                <a16:creationId xmlns:a16="http://schemas.microsoft.com/office/drawing/2014/main" id="{03757A4B-7BB8-43FB-BAD4-F537EDB52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5286375"/>
            <a:ext cx="33528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1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/ActualText and tags</a:t>
            </a:r>
          </a:p>
        </p:txBody>
      </p:sp>
    </p:spTree>
    <p:extLst>
      <p:ext uri="{BB962C8B-B14F-4D97-AF65-F5344CB8AC3E}">
        <p14:creationId xmlns:p14="http://schemas.microsoft.com/office/powerpoint/2010/main" val="44100381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10A3EE2-8AB6-4FA6-BDE0-E18EAEFE0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04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Where can a parseable instruction live inside a PDF?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A1CDF1E-D1DF-4F90-A4FB-9DC3377360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04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98B691-5190-4FA2-B02B-1D15ABCE5D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04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O = readable in at least one tested ingestion path. X = not exposed by a text-only parser.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400050" y="2095500"/>
          <a:ext xmlns:a="http://schemas.openxmlformats.org/drawingml/2006/main" cx="11391900" cy="3476625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14500"/>
                <a:gridCol w="2762250"/>
                <a:gridCol w="4095750"/>
                <a:gridCol w="2819400"/>
              </a:tblGrid>
              <a:tr h="579438">
                <a:tc>
                  <a:txBody>
                    <a:bodyPr/>
                    <a:lstStyle/>
                    <a:p>
                      <a:r>
                        <a:t>Surface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PDF location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Readable?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Why</a:t>
                      </a:r>
                    </a:p>
                  </a:txBody>
                  <a:tcPr marL="91440" marR="91440" marT="45720" marB="45720"/>
                </a:tc>
              </a:tr>
              <a:tr h="579438">
                <a:tc>
                  <a:txBody>
                    <a:bodyPr/>
                    <a:lstStyle/>
                    <a:p>
                      <a:r>
                        <a:t>Page text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/Page → /Contents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95FB8"/>
                          </a:solidFill>
                        </a:rPr>
                        <a:t>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Standard text extraction</a:t>
                      </a:r>
                    </a:p>
                  </a:txBody>
                  <a:tcPr marL="91440" marR="91440" marT="45720" marB="45720">
                    <a:solidFill>
                      <a:srgbClr val="D0EDFA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t>FreeText annotation</a:t>
                      </a:r>
                    </a:p>
                  </a:txBody>
                  <a:tcPr marL="91440" marR="91440" marT="45720" marB="45720"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/Page → /Annots → /AP</a:t>
                      </a:r>
                    </a:p>
                  </a:txBody>
                  <a:tcPr marL="91440" marR="91440" marT="45720" marB="45720"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95FB8"/>
                          </a:solidFill>
                        </a:rPr>
                        <a:t>O</a:t>
                      </a:r>
                    </a:p>
                  </a:txBody>
                  <a:tcPr marL="91440" marR="91440" marT="45720" marB="45720"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Annotation-aware parser</a:t>
                      </a:r>
                    </a:p>
                  </a:txBody>
                  <a:tcPr marL="91440" marR="91440" marT="45720" marB="45720"/>
                </a:tc>
              </a:tr>
              <a:tr h="579438">
                <a:tc>
                  <a:txBody>
                    <a:bodyPr/>
                    <a:lstStyle/>
                    <a:p>
                      <a:r>
                        <a:t>AcroForm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/AcroForm + Widget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195FB8"/>
                          </a:solidFill>
                        </a:rPr>
                        <a:t>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Form-aware ingestion</a:t>
                      </a:r>
                    </a:p>
                  </a:txBody>
                  <a:tcPr marL="91440" marR="91440" marT="45720" marB="45720">
                    <a:solidFill>
                      <a:srgbClr val="D0EDFA"/>
                    </a:solidFill>
                  </a:tcPr>
                </a:tc>
              </a:tr>
              <a:tr h="579438">
                <a:tc>
                  <a:txBody>
                    <a:bodyPr/>
                    <a:lstStyle/>
                    <a:p>
                      <a:r>
                        <a:t>Metadata</a:t>
                      </a:r>
                    </a:p>
                  </a:txBody>
                  <a:tcPr marL="91440" marR="91440" marT="45720" marB="45720"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/Metadata; trailer /Info</a:t>
                      </a:r>
                    </a:p>
                  </a:txBody>
                  <a:tcPr marL="91440" marR="91440" marT="45720" marB="45720"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5D626B"/>
                          </a:solidFill>
                        </a:rPr>
                        <a:t>X</a:t>
                      </a:r>
                    </a:p>
                  </a:txBody>
                  <a:tcPr marL="91440" marR="91440" marT="45720" marB="45720"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t>Outside normal page text</a:t>
                      </a:r>
                    </a:p>
                  </a:txBody>
                  <a:tcPr marL="91440" marR="91440" marT="45720" marB="45720"/>
                </a:tc>
              </a:tr>
              <a:tr h="579438">
                <a:tc>
                  <a:txBody>
                    <a:bodyPr/>
                    <a:lstStyle/>
                    <a:p>
                      <a:r>
                        <a:t>Raster image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Image XObject / pixels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1">
                          <a:solidFill>
                            <a:srgbClr val="5D626B"/>
                          </a:solidFill>
                        </a:rPr>
                        <a:t>X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t>Requires OCR or vision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0D19EBA-3F2F-4E98-8B1E-B17ADC4D84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753100"/>
            <a:ext cx="11391900" cy="457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D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210894B-BDB9-4590-83B4-B1EBCFA9A0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876925"/>
            <a:ext cx="109347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rPr>
              <a:t>Content streams are the default path; annotations and forms depend on the provider, while images require OCR.</a:t>
            </a:r>
          </a:p>
        </p:txBody>
      </p:sp>
    </p:spTree>
    <p:extLst>
      <p:ext uri="{BB962C8B-B14F-4D97-AF65-F5344CB8AC3E}">
        <p14:creationId xmlns:p14="http://schemas.microsoft.com/office/powerpoint/2010/main" val="807664228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6C574DE-B86A-40BE-92D3-1ADCA674C7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04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Four working mechanisms use different PDF semantics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E09C94-34D9-409C-BA13-A2BB0A339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05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973FBE4-9CF7-4A10-BA5A-6B09F31C3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04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All four were readable in the current ChatGPT run, but not for the same reason.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C240BB-5C9F-4948-9B13-D8C5011D2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23837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rPr>
              <a:t>WHITE 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9E71E0-222E-449A-AB23-2D98607451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657475"/>
            <a:ext cx="4953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Normal text painted white; invisible on a white page, but still extracted from /Contents.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555C3C5-577A-464E-83ED-F1E858E0E1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238375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rPr>
              <a:t>RENDER MODE 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E44BC1-3A91-4812-BD75-E8B7FE7C6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57475"/>
            <a:ext cx="4953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Text uses 3 Tr: glyphs are never painted, while the text remains in /Contents.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ED11855-FF0E-4195-963B-1EB1502DB8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0005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rPr>
              <a:t>ACROFORM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7407DF5-0AF3-4AB4-BB5D-7117FD6A1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4419600"/>
            <a:ext cx="4953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instruction sits in a field value or widget appearance; form-aware ingestion exposes it.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A4E0B494-481F-4BEF-B6A5-467FBB4DE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000500"/>
            <a:ext cx="4953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rPr>
              <a:t>FREETEXT ANNOTATION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91B06658-1486-432B-A1E1-7C99F46B65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419600"/>
            <a:ext cx="49530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instruction sits in an annotation appearance stream; annotation-aware ingestion exposes it.</a:t>
            </a:r>
          </a:p>
        </p:txBody>
      </p:sp>
    </p:spTree>
    <p:extLst>
      <p:ext uri="{BB962C8B-B14F-4D97-AF65-F5344CB8AC3E}">
        <p14:creationId xmlns:p14="http://schemas.microsoft.com/office/powerpoint/2010/main" val="31458873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CC0E3F7-40FE-42A3-8A16-F7AD56D280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04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92837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Content-stream methods transfer most consistently across models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3E45360-A24C-414C-A6B9-4DB3A9C7F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06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0B8242-BD53-4443-8CF1-55EFB54AA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Measured project results. O = read; X = not read.</a:t>
            </a:r>
          </a:p>
        </p:txBody>
      </p:sp>
      <p:graphicFrame>
        <p:nvGraphicFramePr>
          <p:cNvPr id="13" name=""/>
          <p:cNvGraphicFramePr/>
          <p:nvPr/>
        </p:nvGraphicFramePr>
        <p:xfrm>
          <a:off xmlns:a="http://schemas.openxmlformats.org/drawingml/2006/main" x="400050" y="2095500"/>
          <a:ext xmlns:a="http://schemas.openxmlformats.org/drawingml/2006/main" cx="11391900" cy="3143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4000500"/>
                <a:gridCol w="2457450"/>
                <a:gridCol w="2457450"/>
                <a:gridCol w="2476500"/>
              </a:tblGrid>
              <a:tr h="78581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Mechanism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ChatGPT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Claude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FFFFFF"/>
                          </a:solidFill>
                        </a:rPr>
                        <a:t>Gemini</a:t>
                      </a:r>
                    </a:p>
                  </a:txBody>
                  <a:tcPr marL="91440" marR="91440" marT="45720" marB="45720">
                    <a:solidFill>
                      <a:srgbClr val="000000"/>
                    </a:solidFill>
                  </a:tcPr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</a:rPr>
                        <a:t>Page content  ·  white / 3 Tr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95FB8"/>
                          </a:solidFill>
                        </a:rPr>
                        <a:t>O</a:t>
                      </a:r>
                    </a:p>
                  </a:txBody>
                  <a:tcPr marL="91440" marR="91440" marT="45720" marB="45720">
                    <a:solidFill>
                      <a:srgbClr val="D0ED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95FB8"/>
                          </a:solidFill>
                        </a:rPr>
                        <a:t>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95FB8"/>
                          </a:solidFill>
                        </a:rPr>
                        <a:t>O</a:t>
                      </a:r>
                    </a:p>
                  </a:txBody>
                  <a:tcPr marL="91440" marR="91440" marT="45720" marB="45720"/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</a:rPr>
                        <a:t>FreeText annotation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95FB8"/>
                          </a:solidFill>
                        </a:rPr>
                        <a:t>O</a:t>
                      </a:r>
                    </a:p>
                  </a:txBody>
                  <a:tcPr marL="91440" marR="91440" marT="45720" marB="45720">
                    <a:solidFill>
                      <a:srgbClr val="EDF7FD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5D626B"/>
                          </a:solidFill>
                        </a:rPr>
                        <a:t>X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5D626B"/>
                          </a:solidFill>
                        </a:rPr>
                        <a:t>X</a:t>
                      </a:r>
                    </a:p>
                  </a:txBody>
                  <a:tcPr marL="91440" marR="91440" marT="45720" marB="45720"/>
                </a:tc>
              </a:tr>
              <a:tr h="785813">
                <a:tc>
                  <a:txBody>
                    <a:bodyPr/>
                    <a:lstStyle/>
                    <a:p>
                      <a:r>
                        <a:rPr sz="1350" b="1">
                          <a:solidFill>
                            <a:srgbClr val="000000"/>
                          </a:solidFill>
                        </a:rPr>
                        <a:t>AcroForm field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95FB8"/>
                          </a:solidFill>
                        </a:rPr>
                        <a:t>O</a:t>
                      </a:r>
                    </a:p>
                  </a:txBody>
                  <a:tcPr marL="91440" marR="91440" marT="45720" marB="45720">
                    <a:solidFill>
                      <a:srgbClr val="F2F3F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195FB8"/>
                          </a:solidFill>
                        </a:rPr>
                        <a:t>O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650" b="1">
                          <a:solidFill>
                            <a:srgbClr val="5D626B"/>
                          </a:solidFill>
                        </a:rPr>
                        <a:t>X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8F8E7F-436E-404E-AF44-3F1B651D8E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00700"/>
            <a:ext cx="113919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55A3FF2-4847-443C-A52E-E4B1E438A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743575"/>
            <a:ext cx="10934700" cy="333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All three read page-content methods; annotation and form semantics are provider-dependent.</a:t>
            </a:r>
          </a:p>
        </p:txBody>
      </p:sp>
    </p:spTree>
    <p:extLst>
      <p:ext uri="{BB962C8B-B14F-4D97-AF65-F5344CB8AC3E}">
        <p14:creationId xmlns:p14="http://schemas.microsoft.com/office/powerpoint/2010/main" val="204680030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7C92491-6BBA-4B5B-B6C5-5F0C898DB6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04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The next target is OCR-triggered, image-borne watermarking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35DD88-D2D5-4D20-9E92-C8FB4B5D6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07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CFD1470-15AD-4FB3-8F64-36EE267A2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Most systems read content streams first; an image-only PDF moves the experiment onto the OCR / vision path.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2C23EA-1D2B-4AFC-B42F-BA6443A9EE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19300" y="3305175"/>
            <a:ext cx="76200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cxnSp>
        <p:nvCxnSpPr>
          <p:cNvPr id="55" name=""/>
          <p:cNvCxnSpPr/>
          <p:nvPr/>
        </p:nvCxnSpPr>
        <p:spPr>
          <a:xfrm xmlns:a="http://schemas.openxmlformats.org/drawingml/2006/main">
            <a:off x="4381500" y="2628900"/>
            <a:ext cx="0" cy="2333625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56" name=""/>
          <p:cNvCxnSpPr/>
          <p:nvPr/>
        </p:nvCxnSpPr>
        <p:spPr>
          <a:xfrm xmlns:a="http://schemas.openxmlformats.org/drawingml/2006/main">
            <a:off x="4381500" y="2628900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57" name=""/>
          <p:cNvCxnSpPr/>
          <p:nvPr/>
        </p:nvCxnSpPr>
        <p:spPr>
          <a:xfrm xmlns:a="http://schemas.openxmlformats.org/drawingml/2006/main">
            <a:off x="4381500" y="3371850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cxnSp>
        <p:nvCxnSpPr>
          <p:cNvPr id="58" name=""/>
          <p:cNvCxnSpPr/>
          <p:nvPr/>
        </p:nvCxnSpPr>
        <p:spPr>
          <a:xfrm xmlns:a="http://schemas.openxmlformats.org/drawingml/2006/main">
            <a:off x="4381500" y="4114800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28575">
            <a:solidFill>
              <a:srgbClr val="3D8DFF"/>
            </a:solidFill>
            <a:prstDash val="solid"/>
          </a:ln>
        </p:spPr>
      </p:cxnSp>
      <p:cxnSp>
        <p:nvCxnSpPr>
          <p:cNvPr id="59" name=""/>
          <p:cNvCxnSpPr/>
          <p:nvPr/>
        </p:nvCxnSpPr>
        <p:spPr>
          <a:xfrm xmlns:a="http://schemas.openxmlformats.org/drawingml/2006/main">
            <a:off x="4381500" y="4857750"/>
            <a:ext cx="8191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B8BCC4"/>
            </a:solidFill>
            <a:prstDash val="solid"/>
          </a:ln>
        </p:spPr>
      </p:cxn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BE13C98-32DB-441C-8785-660B87942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305175"/>
            <a:ext cx="7429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B8BCC4"/>
          </a:solidFill>
          <a:ln xmlns:a="http://schemas.openxmlformats.org/drawingml/2006/main" w="0">
            <a:solidFill>
              <a:srgbClr val="B8BCC4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19A8D69-686D-4C64-A439-0A99C19E7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3305175"/>
            <a:ext cx="666750" cy="3048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3D8DFF"/>
          </a:solidFill>
          <a:ln xmlns:a="http://schemas.openxmlformats.org/drawingml/2006/main" w="0">
            <a:solidFill>
              <a:srgbClr val="3D8DFF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4AF255D-47FC-4D43-9BEC-7CB712A8A0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2857500"/>
            <a:ext cx="1619250" cy="1200150"/>
          </a:xfrm>
          <a:prstGeom xmlns:a="http://schemas.openxmlformats.org/drawingml/2006/main" prst="roundRect">
            <a:avLst>
              <a:gd name="adj" fmla="val 6349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6B5084B-C3AE-4804-83A4-2D09B9C01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" y="3095625"/>
            <a:ext cx="127635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Image-only</a:t>
            </a:r>
          </a:p>
          <a:p xmlns:a="http://schemas.openxmlformats.org/drawingml/2006/main">
            <a:pPr algn="ctr">
              <a:buNone/>
              <a:def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65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PDF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5AA18D0-1B97-4EFC-969C-8188B6F8D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247900"/>
            <a:ext cx="16002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3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63D0EB8-337F-43BE-94C7-EDC54BA7C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3219450"/>
            <a:ext cx="1257300" cy="781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CV / OCR</a:t>
            </a:r>
          </a:p>
          <a:p xmlns:a="http://schemas.openxmlformats.org/drawingml/2006/main">
            <a:pPr algn="ctr">
              <a:buNone/>
              <a:def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strategy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43A91EA-3565-4983-B4BE-93016895F1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228850"/>
            <a:ext cx="25717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EA99845-37E5-4791-8BE7-9B2346C7EB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234315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Rasterized canary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2571528-4913-49A2-A70E-329E40EBD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2971800"/>
            <a:ext cx="25717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0121718-3598-4800-B04D-3B9AEFB67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08610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Per-copy visual key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EC5D67D-232C-45CA-93B9-B097BBD877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3714750"/>
            <a:ext cx="25717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11259F4C-B4B1-4D11-BCC6-61ED8868D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382905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Page-edge watermark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642DEB5-4314-4607-8640-6EC8A89FAF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00650" y="4457700"/>
            <a:ext cx="2571750" cy="533400"/>
          </a:xfrm>
          <a:prstGeom xmlns:a="http://schemas.openxmlformats.org/drawingml/2006/main" prst="roundRect">
            <a:avLst>
              <a:gd name="adj" fmla="val 14286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C51F5C2-B8EF-4CE4-BD47-DF33147007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53050" y="4572000"/>
            <a:ext cx="2266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Visible control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D9BC1B5-29EA-4833-9CDA-00190AA9A5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838450"/>
            <a:ext cx="1504950" cy="1219200"/>
          </a:xfrm>
          <a:prstGeom xmlns:a="http://schemas.openxmlformats.org/drawingml/2006/main" prst="roundRect">
            <a:avLst>
              <a:gd name="adj" fmla="val 6250"/>
            </a:avLst>
          </a:prstGeom>
          <a:solidFill xmlns:a="http://schemas.openxmlformats.org/drawingml/2006/main">
            <a:srgbClr val="F2F3F4"/>
          </a:solidFill>
          <a:ln xmlns:a="http://schemas.openxmlformats.org/drawingml/2006/main" w="9525">
            <a:solidFill>
              <a:srgbClr val="B8BCC4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B91CE35-1686-4531-A3F1-CE07036DB8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05850" y="3124200"/>
            <a:ext cx="112395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OCR-enabled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model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BF07D6CA-B508-4A25-A93B-FF5720909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87050" y="2838450"/>
            <a:ext cx="1104900" cy="12192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DF7FD"/>
          </a:solidFill>
          <a:ln xmlns:a="http://schemas.openxmlformats.org/drawingml/2006/main" w="19050">
            <a:solidFill>
              <a:srgbClr val="3D8DFF"/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4F4E4FA-0210-4C89-92F6-7DC8A441C3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29925" y="3152775"/>
            <a:ext cx="8191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350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rPr>
              <a:t>OCR</a:t>
            </a:r>
          </a:p>
          <a:p xmlns:a="http://schemas.openxmlformats.org/drawingml/2006/main">
            <a:pPr algn="ctr">
              <a:buNone/>
              <a:defRPr sz="1350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rPr>
              <a:t>text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AD4E2C8D-7EE9-46DA-A398-31292BE81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5467350"/>
            <a:ext cx="901065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7FD"/>
          </a:solidFill>
          <a:ln xmlns:a="http://schemas.openxmlformats.org/drawingml/2006/main" w="9525">
            <a:solidFill>
              <a:srgbClr val="3D8DFF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E2FACC0-91F8-45F6-A3D2-6E621877D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28950" y="5619750"/>
            <a:ext cx="85153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500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500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rPr>
              <a:t>Place CV at the ingestion boundary: rasterize / OCR before the provider adapter, then log confidence and extracted text.</a:t>
            </a:r>
          </a:p>
        </p:txBody>
      </p:sp>
    </p:spTree>
    <p:extLst>
      <p:ext uri="{BB962C8B-B14F-4D97-AF65-F5344CB8AC3E}">
        <p14:creationId xmlns:p14="http://schemas.microsoft.com/office/powerpoint/2010/main" val="164202165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EE9412-173B-49CF-A7E3-51502CFA6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666750"/>
            <a:ext cx="1104900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2925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A matched OCR experiment is the next milestone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691375-A2D1-4CE3-873F-1E7791FCB1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7600" y="6334125"/>
            <a:ext cx="5143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r">
              <a:buNone/>
              <a:defRPr sz="97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97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08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81041E5-003E-4122-8D6B-72B2A1D713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1428750"/>
            <a:ext cx="11049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42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Compare identical image-only PDFs across providers before expanding the watermark family.</a:t>
            </a:r>
          </a:p>
        </p:txBody>
      </p:sp>
      <p:cxnSp>
        <p:nvCxnSpPr>
          <p:cNvPr id="33" name=""/>
          <p:cNvCxnSpPr/>
          <p:nvPr/>
        </p:nvCxnSpPr>
        <p:spPr>
          <a:xfrm xmlns:a="http://schemas.openxmlformats.org/drawingml/2006/main">
            <a:off x="666750" y="3143250"/>
            <a:ext cx="10763250" cy="0"/>
          </a:xfrm>
          <a:prstGeom xmlns:a="http://schemas.openxmlformats.org/drawingml/2006/main" prst="straightConnector1">
            <a:avLst/>
          </a:prstGeom>
          <a:ln xmlns:a="http://schemas.openxmlformats.org/drawingml/2006/main" w="19050">
            <a:solidFill>
              <a:srgbClr val="000000"/>
            </a:solidFill>
            <a:prstDash val="solid"/>
          </a:ln>
        </p:spPr>
      </p:cxn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D21E168-5AC7-4601-B9F0-06F22AA735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" y="306705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B7D7DE4-27A3-4EC5-A3E0-5671AC6AE2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2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9823CA-65C8-440E-9766-22DF2F8B6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24250"/>
            <a:ext cx="3086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Build matched image-only controls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19E7D02-48E1-4A2B-84FA-83AC63B20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3086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Original, visible control, and raster canary versions of the same assignment.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B597006-2E04-41F5-A5FC-528FBF1F31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2425" y="306705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3D8DFF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B3AE26-BA12-4006-B281-EF7BE93E3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252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195FB8"/>
                </a:solidFill>
                <a:latin typeface="Helvetica Neue"/>
                <a:ea typeface="Helvetica Neue"/>
                <a:cs typeface="Helvetica Neue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688B879-520F-4920-B22B-8AA65A0D5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3524250"/>
            <a:ext cx="3086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Capture the ingestion trace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8094D8D-2631-427E-A424-55A0F6C181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29100" y="4229100"/>
            <a:ext cx="3086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Record whether OCR triggered, plus extracted text, hash, and confidence.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26237E3-2322-48CB-BEAF-4B36E8110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05725" y="3067050"/>
            <a:ext cx="152400" cy="1524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8A21000-0C2A-4364-A868-0908D9C87E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2524125"/>
            <a:ext cx="571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350" b="1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448F8E1-6745-463B-ABB8-3BCB2111C3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524250"/>
            <a:ext cx="30861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00" b="1">
                <a:solidFill>
                  <a:srgbClr val="000000"/>
                </a:solidFill>
                <a:latin typeface="Helvetica Neue"/>
                <a:ea typeface="Helvetica Neue"/>
                <a:cs typeface="Helvetica Neue"/>
              </a:rPr>
              <a:t>Compare providers and watermark types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AAB2097-4157-4AC6-B8F5-102901436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4229100"/>
            <a:ext cx="30861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defRPr>
            </a:pPr>
            <a:r>
              <a:rPr sz="1275" b="0">
                <a:solidFill>
                  <a:srgbClr val="5D626B"/>
                </a:solidFill>
                <a:latin typeface="Helvetica Neue"/>
                <a:ea typeface="Helvetica Neue"/>
                <a:cs typeface="Helvetica Neue"/>
              </a:rPr>
              <a:t>Run ChatGPT, Claude, and Gemini on text-parser and OCR-enabled paths.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E0EC3A3-C7CF-4ADB-97C7-882073A1F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" y="5619750"/>
            <a:ext cx="11391900" cy="628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2779A46-E98D-4E33-9FAB-E7863184D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781675"/>
            <a:ext cx="10858500" cy="3143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lIns="0" tIns="0" rIns="0" bIns="0" anchor="ctr">
            <a:noAutofit/>
          </a:bodyPr>
          <a:lstStyle xmlns:a="http://schemas.openxmlformats.org/drawingml/2006/main"/>
          <a:p xmlns:a="http://schemas.openxmlformats.org/drawingml/2006/main">
            <a:pPr algn="ctr">
              <a:buNone/>
              <a:def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defRPr>
            </a:pPr>
            <a:r>
              <a:rPr sz="1875" b="1">
                <a:solidFill>
                  <a:srgbClr val="FFFFFF"/>
                </a:solidFill>
                <a:latin typeface="Helvetica Neue"/>
                <a:ea typeface="Helvetica Neue"/>
                <a:cs typeface="Helvetica Neue"/>
              </a:rPr>
              <a:t>Research question: which visual watermarks survive OCR and enter model context?</a:t>
            </a:r>
          </a:p>
        </p:txBody>
      </p:sp>
    </p:spTree>
    <p:extLst>
      <p:ext uri="{BB962C8B-B14F-4D97-AF65-F5344CB8AC3E}">
        <p14:creationId xmlns:p14="http://schemas.microsoft.com/office/powerpoint/2010/main" val="1079280048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2026-09-01T12:39:23.2060000Z</dcterms:created>
  <dcterms:modified xsi:type="dcterms:W3CDTF">2026-09-01T12:39:23.2060000Z</dcterms:modified>
</coreProperties>
</file>